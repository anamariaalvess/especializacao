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64"/>
  </p:notesMasterIdLst>
  <p:sldIdLst>
    <p:sldId id="256" r:id="rId2"/>
    <p:sldId id="257" r:id="rId3"/>
    <p:sldId id="258" r:id="rId4"/>
    <p:sldId id="264" r:id="rId5"/>
    <p:sldId id="265" r:id="rId6"/>
    <p:sldId id="267" r:id="rId7"/>
    <p:sldId id="303" r:id="rId8"/>
    <p:sldId id="318" r:id="rId9"/>
    <p:sldId id="310" r:id="rId10"/>
    <p:sldId id="319" r:id="rId11"/>
    <p:sldId id="268" r:id="rId12"/>
    <p:sldId id="321" r:id="rId13"/>
    <p:sldId id="320" r:id="rId14"/>
    <p:sldId id="305" r:id="rId15"/>
    <p:sldId id="308" r:id="rId16"/>
    <p:sldId id="339" r:id="rId17"/>
    <p:sldId id="323" r:id="rId18"/>
    <p:sldId id="307" r:id="rId19"/>
    <p:sldId id="309" r:id="rId20"/>
    <p:sldId id="306" r:id="rId21"/>
    <p:sldId id="340" r:id="rId22"/>
    <p:sldId id="326" r:id="rId23"/>
    <p:sldId id="327" r:id="rId24"/>
    <p:sldId id="312" r:id="rId25"/>
    <p:sldId id="313" r:id="rId26"/>
    <p:sldId id="328" r:id="rId27"/>
    <p:sldId id="314" r:id="rId28"/>
    <p:sldId id="329" r:id="rId29"/>
    <p:sldId id="343" r:id="rId30"/>
    <p:sldId id="344" r:id="rId31"/>
    <p:sldId id="315" r:id="rId32"/>
    <p:sldId id="272" r:id="rId33"/>
    <p:sldId id="342" r:id="rId34"/>
    <p:sldId id="300" r:id="rId35"/>
    <p:sldId id="271" r:id="rId36"/>
    <p:sldId id="269" r:id="rId37"/>
    <p:sldId id="299" r:id="rId38"/>
    <p:sldId id="341" r:id="rId39"/>
    <p:sldId id="276" r:id="rId40"/>
    <p:sldId id="330" r:id="rId41"/>
    <p:sldId id="331" r:id="rId42"/>
    <p:sldId id="278" r:id="rId43"/>
    <p:sldId id="333" r:id="rId44"/>
    <p:sldId id="334" r:id="rId45"/>
    <p:sldId id="279" r:id="rId46"/>
    <p:sldId id="335" r:id="rId47"/>
    <p:sldId id="302" r:id="rId48"/>
    <p:sldId id="280" r:id="rId49"/>
    <p:sldId id="281" r:id="rId50"/>
    <p:sldId id="284" r:id="rId51"/>
    <p:sldId id="285" r:id="rId52"/>
    <p:sldId id="286" r:id="rId53"/>
    <p:sldId id="337" r:id="rId54"/>
    <p:sldId id="288" r:id="rId55"/>
    <p:sldId id="348" r:id="rId56"/>
    <p:sldId id="338" r:id="rId57"/>
    <p:sldId id="347" r:id="rId58"/>
    <p:sldId id="349" r:id="rId59"/>
    <p:sldId id="346" r:id="rId60"/>
    <p:sldId id="345" r:id="rId61"/>
    <p:sldId id="350" r:id="rId62"/>
    <p:sldId id="263" r:id="rId6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CD6A3925-B870-4191-B4AC-924E0040884F}">
  <a:tblStyle styleId="{CD6A3925-B870-4191-B4AC-924E004088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603" autoAdjust="0"/>
  </p:normalViewPr>
  <p:slideViewPr>
    <p:cSldViewPr snapToGrid="0">
      <p:cViewPr varScale="1">
        <p:scale>
          <a:sx n="92" d="100"/>
          <a:sy n="92" d="100"/>
        </p:scale>
        <p:origin x="-450" y="-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85664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5727a91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5727a913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f5727a913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f5727a913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6648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f5727a913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f5727a913f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b="1">
                <a:solidFill>
                  <a:schemeClr val="dk2"/>
                </a:solidFill>
              </a:defRPr>
            </a:lvl1pPr>
            <a:lvl2pPr lvl="1" algn="r" rtl="0">
              <a:buNone/>
              <a:defRPr b="1">
                <a:solidFill>
                  <a:schemeClr val="dk2"/>
                </a:solidFill>
              </a:defRPr>
            </a:lvl2pPr>
            <a:lvl3pPr lvl="2" algn="r" rtl="0">
              <a:buNone/>
              <a:defRPr b="1">
                <a:solidFill>
                  <a:schemeClr val="dk2"/>
                </a:solidFill>
              </a:defRPr>
            </a:lvl3pPr>
            <a:lvl4pPr lvl="3" algn="r" rtl="0">
              <a:buNone/>
              <a:defRPr b="1">
                <a:solidFill>
                  <a:schemeClr val="dk2"/>
                </a:solidFill>
              </a:defRPr>
            </a:lvl4pPr>
            <a:lvl5pPr lvl="4" algn="r" rtl="0">
              <a:buNone/>
              <a:defRPr b="1">
                <a:solidFill>
                  <a:schemeClr val="dk2"/>
                </a:solidFill>
              </a:defRPr>
            </a:lvl5pPr>
            <a:lvl6pPr lvl="5" algn="r" rtl="0">
              <a:buNone/>
              <a:defRPr b="1">
                <a:solidFill>
                  <a:schemeClr val="dk2"/>
                </a:solidFill>
              </a:defRPr>
            </a:lvl6pPr>
            <a:lvl7pPr lvl="6" algn="r" rtl="0">
              <a:buNone/>
              <a:defRPr b="1">
                <a:solidFill>
                  <a:schemeClr val="dk2"/>
                </a:solidFill>
              </a:defRPr>
            </a:lvl7pPr>
            <a:lvl8pPr lvl="7" algn="r" rtl="0">
              <a:buNone/>
              <a:defRPr b="1">
                <a:solidFill>
                  <a:schemeClr val="dk2"/>
                </a:solidFill>
              </a:defRPr>
            </a:lvl8pPr>
            <a:lvl9pPr lvl="8" algn="r" rtl="0">
              <a:buNone/>
              <a:defRPr b="1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r>
              <a:rPr lang="pt-BR"/>
              <a:t> / #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b="1">
                <a:solidFill>
                  <a:schemeClr val="dk2"/>
                </a:solidFill>
              </a:defRPr>
            </a:lvl1pPr>
            <a:lvl2pPr lvl="1" algn="r" rtl="0">
              <a:buNone/>
              <a:defRPr b="1">
                <a:solidFill>
                  <a:schemeClr val="dk2"/>
                </a:solidFill>
              </a:defRPr>
            </a:lvl2pPr>
            <a:lvl3pPr lvl="2" algn="r" rtl="0">
              <a:buNone/>
              <a:defRPr b="1">
                <a:solidFill>
                  <a:schemeClr val="dk2"/>
                </a:solidFill>
              </a:defRPr>
            </a:lvl3pPr>
            <a:lvl4pPr lvl="3" algn="r" rtl="0">
              <a:buNone/>
              <a:defRPr b="1">
                <a:solidFill>
                  <a:schemeClr val="dk2"/>
                </a:solidFill>
              </a:defRPr>
            </a:lvl4pPr>
            <a:lvl5pPr lvl="4" algn="r" rtl="0">
              <a:buNone/>
              <a:defRPr b="1">
                <a:solidFill>
                  <a:schemeClr val="dk2"/>
                </a:solidFill>
              </a:defRPr>
            </a:lvl5pPr>
            <a:lvl6pPr lvl="5" algn="r" rtl="0">
              <a:buNone/>
              <a:defRPr b="1">
                <a:solidFill>
                  <a:schemeClr val="dk2"/>
                </a:solidFill>
              </a:defRPr>
            </a:lvl6pPr>
            <a:lvl7pPr lvl="6" algn="r" rtl="0">
              <a:buNone/>
              <a:defRPr b="1">
                <a:solidFill>
                  <a:schemeClr val="dk2"/>
                </a:solidFill>
              </a:defRPr>
            </a:lvl7pPr>
            <a:lvl8pPr lvl="7" algn="r" rtl="0">
              <a:buNone/>
              <a:defRPr b="1">
                <a:solidFill>
                  <a:schemeClr val="dk2"/>
                </a:solidFill>
              </a:defRPr>
            </a:lvl8pPr>
            <a:lvl9pPr lvl="8" algn="r" rtl="0">
              <a:buNone/>
              <a:defRPr b="1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r>
              <a:rPr lang="pt-BR"/>
              <a:t> / #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b="1">
                <a:solidFill>
                  <a:schemeClr val="dk2"/>
                </a:solidFill>
              </a:defRPr>
            </a:lvl1pPr>
            <a:lvl2pPr lvl="1" algn="r" rtl="0">
              <a:buNone/>
              <a:defRPr b="1">
                <a:solidFill>
                  <a:schemeClr val="dk2"/>
                </a:solidFill>
              </a:defRPr>
            </a:lvl2pPr>
            <a:lvl3pPr lvl="2" algn="r" rtl="0">
              <a:buNone/>
              <a:defRPr b="1">
                <a:solidFill>
                  <a:schemeClr val="dk2"/>
                </a:solidFill>
              </a:defRPr>
            </a:lvl3pPr>
            <a:lvl4pPr lvl="3" algn="r" rtl="0">
              <a:buNone/>
              <a:defRPr b="1">
                <a:solidFill>
                  <a:schemeClr val="dk2"/>
                </a:solidFill>
              </a:defRPr>
            </a:lvl4pPr>
            <a:lvl5pPr lvl="4" algn="r" rtl="0">
              <a:buNone/>
              <a:defRPr b="1">
                <a:solidFill>
                  <a:schemeClr val="dk2"/>
                </a:solidFill>
              </a:defRPr>
            </a:lvl5pPr>
            <a:lvl6pPr lvl="5" algn="r" rtl="0">
              <a:buNone/>
              <a:defRPr b="1">
                <a:solidFill>
                  <a:schemeClr val="dk2"/>
                </a:solidFill>
              </a:defRPr>
            </a:lvl6pPr>
            <a:lvl7pPr lvl="6" algn="r" rtl="0">
              <a:buNone/>
              <a:defRPr b="1">
                <a:solidFill>
                  <a:schemeClr val="dk2"/>
                </a:solidFill>
              </a:defRPr>
            </a:lvl7pPr>
            <a:lvl8pPr lvl="7" algn="r" rtl="0">
              <a:buNone/>
              <a:defRPr b="1">
                <a:solidFill>
                  <a:schemeClr val="dk2"/>
                </a:solidFill>
              </a:defRPr>
            </a:lvl8pPr>
            <a:lvl9pPr lvl="8" algn="r" rtl="0">
              <a:buNone/>
              <a:defRPr b="1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r>
              <a:rPr lang="pt-BR"/>
              <a:t> / #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b="1">
                <a:solidFill>
                  <a:schemeClr val="dk2"/>
                </a:solidFill>
              </a:defRPr>
            </a:lvl1pPr>
            <a:lvl2pPr lvl="1" algn="r" rtl="0">
              <a:buNone/>
              <a:defRPr b="1">
                <a:solidFill>
                  <a:schemeClr val="dk2"/>
                </a:solidFill>
              </a:defRPr>
            </a:lvl2pPr>
            <a:lvl3pPr lvl="2" algn="r" rtl="0">
              <a:buNone/>
              <a:defRPr b="1">
                <a:solidFill>
                  <a:schemeClr val="dk2"/>
                </a:solidFill>
              </a:defRPr>
            </a:lvl3pPr>
            <a:lvl4pPr lvl="3" algn="r" rtl="0">
              <a:buNone/>
              <a:defRPr b="1">
                <a:solidFill>
                  <a:schemeClr val="dk2"/>
                </a:solidFill>
              </a:defRPr>
            </a:lvl4pPr>
            <a:lvl5pPr lvl="4" algn="r" rtl="0">
              <a:buNone/>
              <a:defRPr b="1">
                <a:solidFill>
                  <a:schemeClr val="dk2"/>
                </a:solidFill>
              </a:defRPr>
            </a:lvl5pPr>
            <a:lvl6pPr lvl="5" algn="r" rtl="0">
              <a:buNone/>
              <a:defRPr b="1">
                <a:solidFill>
                  <a:schemeClr val="dk2"/>
                </a:solidFill>
              </a:defRPr>
            </a:lvl6pPr>
            <a:lvl7pPr lvl="6" algn="r" rtl="0">
              <a:buNone/>
              <a:defRPr b="1">
                <a:solidFill>
                  <a:schemeClr val="dk2"/>
                </a:solidFill>
              </a:defRPr>
            </a:lvl7pPr>
            <a:lvl8pPr lvl="7" algn="r" rtl="0">
              <a:buNone/>
              <a:defRPr b="1">
                <a:solidFill>
                  <a:schemeClr val="dk2"/>
                </a:solidFill>
              </a:defRPr>
            </a:lvl8pPr>
            <a:lvl9pPr lvl="8" algn="r" rtl="0">
              <a:buNone/>
              <a:defRPr b="1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r>
              <a:rPr lang="pt-BR"/>
              <a:t> / #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b="1">
                <a:solidFill>
                  <a:schemeClr val="dk2"/>
                </a:solidFill>
              </a:defRPr>
            </a:lvl1pPr>
            <a:lvl2pPr lvl="1" algn="r" rtl="0">
              <a:buNone/>
              <a:defRPr b="1">
                <a:solidFill>
                  <a:schemeClr val="dk2"/>
                </a:solidFill>
              </a:defRPr>
            </a:lvl2pPr>
            <a:lvl3pPr lvl="2" algn="r" rtl="0">
              <a:buNone/>
              <a:defRPr b="1">
                <a:solidFill>
                  <a:schemeClr val="dk2"/>
                </a:solidFill>
              </a:defRPr>
            </a:lvl3pPr>
            <a:lvl4pPr lvl="3" algn="r" rtl="0">
              <a:buNone/>
              <a:defRPr b="1">
                <a:solidFill>
                  <a:schemeClr val="dk2"/>
                </a:solidFill>
              </a:defRPr>
            </a:lvl4pPr>
            <a:lvl5pPr lvl="4" algn="r" rtl="0">
              <a:buNone/>
              <a:defRPr b="1">
                <a:solidFill>
                  <a:schemeClr val="dk2"/>
                </a:solidFill>
              </a:defRPr>
            </a:lvl5pPr>
            <a:lvl6pPr lvl="5" algn="r" rtl="0">
              <a:buNone/>
              <a:defRPr b="1">
                <a:solidFill>
                  <a:schemeClr val="dk2"/>
                </a:solidFill>
              </a:defRPr>
            </a:lvl6pPr>
            <a:lvl7pPr lvl="6" algn="r" rtl="0">
              <a:buNone/>
              <a:defRPr b="1">
                <a:solidFill>
                  <a:schemeClr val="dk2"/>
                </a:solidFill>
              </a:defRPr>
            </a:lvl7pPr>
            <a:lvl8pPr lvl="7" algn="r" rtl="0">
              <a:buNone/>
              <a:defRPr b="1">
                <a:solidFill>
                  <a:schemeClr val="dk2"/>
                </a:solidFill>
              </a:defRPr>
            </a:lvl8pPr>
            <a:lvl9pPr lvl="8" algn="r" rtl="0">
              <a:buNone/>
              <a:defRPr b="1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r>
              <a:rPr lang="pt-BR"/>
              <a:t> / #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49" name="Google Shape;49;p12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2"/>
                </a:solidFill>
              </a:rPr>
              <a:t>Especialização em </a:t>
            </a:r>
            <a:r>
              <a:rPr lang="pt-BR" sz="900" i="1">
                <a:solidFill>
                  <a:schemeClr val="dk2"/>
                </a:solidFill>
              </a:rPr>
              <a:t>Data Science</a:t>
            </a:r>
            <a:r>
              <a:rPr lang="pt-BR" sz="900">
                <a:solidFill>
                  <a:schemeClr val="dk2"/>
                </a:solidFill>
              </a:rPr>
              <a:t> e Estatística Aplicada, UFG, 2024   -   Módulo I - Estatística descritiva para </a:t>
            </a:r>
            <a:r>
              <a:rPr lang="pt-BR" sz="900" i="1">
                <a:solidFill>
                  <a:schemeClr val="dk2"/>
                </a:solidFill>
              </a:rPr>
              <a:t>Data Science</a:t>
            </a:r>
            <a:r>
              <a:rPr lang="pt-BR" sz="900">
                <a:solidFill>
                  <a:schemeClr val="dk2"/>
                </a:solidFill>
              </a:rPr>
              <a:t>   -   Profa. Dra. Amanda Milani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b="1">
                <a:solidFill>
                  <a:schemeClr val="dk2"/>
                </a:solidFill>
              </a:defRPr>
            </a:lvl1pPr>
            <a:lvl2pPr lvl="1" algn="ctr">
              <a:buNone/>
              <a:defRPr b="1">
                <a:solidFill>
                  <a:schemeClr val="dk2"/>
                </a:solidFill>
              </a:defRPr>
            </a:lvl2pPr>
            <a:lvl3pPr lvl="2" algn="ctr">
              <a:buNone/>
              <a:defRPr b="1">
                <a:solidFill>
                  <a:schemeClr val="dk2"/>
                </a:solidFill>
              </a:defRPr>
            </a:lvl3pPr>
            <a:lvl4pPr lvl="3" algn="ctr">
              <a:buNone/>
              <a:defRPr b="1">
                <a:solidFill>
                  <a:schemeClr val="dk2"/>
                </a:solidFill>
              </a:defRPr>
            </a:lvl4pPr>
            <a:lvl5pPr lvl="4" algn="ctr">
              <a:buNone/>
              <a:defRPr b="1">
                <a:solidFill>
                  <a:schemeClr val="dk2"/>
                </a:solidFill>
              </a:defRPr>
            </a:lvl5pPr>
            <a:lvl6pPr lvl="5" algn="ctr">
              <a:buNone/>
              <a:defRPr b="1">
                <a:solidFill>
                  <a:schemeClr val="dk2"/>
                </a:solidFill>
              </a:defRPr>
            </a:lvl6pPr>
            <a:lvl7pPr lvl="6" algn="ctr">
              <a:buNone/>
              <a:defRPr b="1">
                <a:solidFill>
                  <a:schemeClr val="dk2"/>
                </a:solidFill>
              </a:defRPr>
            </a:lvl7pPr>
            <a:lvl8pPr lvl="7" algn="ctr">
              <a:buNone/>
              <a:defRPr b="1">
                <a:solidFill>
                  <a:schemeClr val="dk2"/>
                </a:solidFill>
              </a:defRPr>
            </a:lvl8pPr>
            <a:lvl9pPr lvl="8" algn="ctr">
              <a:buNone/>
              <a:defRPr b="1"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r>
              <a:rPr lang="pt-BR"/>
              <a:t> </a:t>
            </a:r>
            <a:r>
              <a:rPr lang="pt-BR" sz="1600"/>
              <a:t>/</a:t>
            </a:r>
            <a:r>
              <a:rPr lang="pt-BR"/>
              <a:t> #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3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4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900" y="4367050"/>
            <a:ext cx="2285675" cy="65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1220100" y="592175"/>
            <a:ext cx="6703800" cy="9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/>
              <a:t>Especialização em </a:t>
            </a:r>
            <a:r>
              <a:rPr lang="pt-BR" sz="2600" b="1" i="1"/>
              <a:t>Data Science</a:t>
            </a:r>
            <a:r>
              <a:rPr lang="pt-BR" sz="2600" b="1"/>
              <a:t> </a:t>
            </a:r>
            <a:endParaRPr sz="26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/>
              <a:t>e Estatística Aplicada</a:t>
            </a:r>
            <a:endParaRPr sz="2600" b="1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783825" y="3019400"/>
            <a:ext cx="5056800" cy="5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 smtClean="0">
                <a:solidFill>
                  <a:schemeClr val="dk1"/>
                </a:solidFill>
              </a:rPr>
              <a:t>Prof. Dr. Márcio </a:t>
            </a:r>
            <a:r>
              <a:rPr lang="pt-BR" sz="1800" b="1" dirty="0" err="1" smtClean="0">
                <a:solidFill>
                  <a:schemeClr val="dk1"/>
                </a:solidFill>
              </a:rPr>
              <a:t>Luis</a:t>
            </a:r>
            <a:r>
              <a:rPr lang="pt-BR" sz="1800" b="1" dirty="0" smtClean="0">
                <a:solidFill>
                  <a:schemeClr val="dk1"/>
                </a:solidFill>
              </a:rPr>
              <a:t> </a:t>
            </a:r>
            <a:r>
              <a:rPr lang="pt-BR" sz="1800" b="1" dirty="0" err="1" smtClean="0">
                <a:solidFill>
                  <a:schemeClr val="dk1"/>
                </a:solidFill>
              </a:rPr>
              <a:t>Lanfredi</a:t>
            </a:r>
            <a:r>
              <a:rPr lang="pt-BR" sz="1800" b="1" dirty="0" smtClean="0">
                <a:solidFill>
                  <a:schemeClr val="dk1"/>
                </a:solidFill>
              </a:rPr>
              <a:t> Viola</a:t>
            </a:r>
            <a:endParaRPr sz="1800" b="1" dirty="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814851" y="1802025"/>
            <a:ext cx="6703800" cy="89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/>
              <a:t>Módulo </a:t>
            </a:r>
            <a:r>
              <a:rPr lang="pt-BR" sz="2200" b="1" dirty="0" smtClean="0"/>
              <a:t>IV – Análise de Dados Longitudinais</a:t>
            </a:r>
            <a:endParaRPr sz="2200" b="1" i="1" dirty="0"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2043600" y="3655125"/>
            <a:ext cx="5056800" cy="5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chemeClr val="dk1"/>
                </a:solidFill>
              </a:rPr>
              <a:t>Goiânia, </a:t>
            </a:r>
            <a:r>
              <a:rPr lang="pt-BR" sz="1800" b="1" dirty="0" smtClean="0">
                <a:solidFill>
                  <a:schemeClr val="dk1"/>
                </a:solidFill>
              </a:rPr>
              <a:t>2025</a:t>
            </a:r>
            <a:endParaRPr sz="18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11700" y="184975"/>
            <a:ext cx="65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Conteúdo Programático</a:t>
            </a:r>
            <a:endParaRPr b="1" dirty="0"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526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pt-BR" dirty="0" smtClean="0">
                <a:solidFill>
                  <a:schemeClr val="dk1"/>
                </a:solidFill>
              </a:rPr>
              <a:t>Conceitos Básicos.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pt-BR" dirty="0" smtClean="0">
                <a:solidFill>
                  <a:schemeClr val="dk1"/>
                </a:solidFill>
              </a:rPr>
              <a:t>Principais delineamentos para dados longitudinais.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pt-BR" dirty="0" smtClean="0">
                <a:solidFill>
                  <a:schemeClr val="dk1"/>
                </a:solidFill>
              </a:rPr>
              <a:t>Modelos lineares gerais para dados longitudinais.</a:t>
            </a:r>
            <a:endParaRPr dirty="0">
              <a:solidFill>
                <a:schemeClr val="dk1"/>
              </a:solidFill>
            </a:endParaRPr>
          </a:p>
          <a:p>
            <a:pPr lvl="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pt-BR" dirty="0">
                <a:solidFill>
                  <a:schemeClr val="dk1"/>
                </a:solidFill>
              </a:rPr>
              <a:t>Modelos lineares </a:t>
            </a:r>
            <a:r>
              <a:rPr lang="pt-BR" dirty="0" smtClean="0">
                <a:solidFill>
                  <a:schemeClr val="dk1"/>
                </a:solidFill>
              </a:rPr>
              <a:t>generalizados </a:t>
            </a:r>
            <a:r>
              <a:rPr lang="pt-BR" dirty="0">
                <a:solidFill>
                  <a:schemeClr val="dk1"/>
                </a:solidFill>
              </a:rPr>
              <a:t>para dados longitudinais</a:t>
            </a:r>
            <a:r>
              <a:rPr lang="pt-BR" dirty="0" smtClean="0">
                <a:solidFill>
                  <a:schemeClr val="dk1"/>
                </a:solidFill>
              </a:rPr>
              <a:t>.</a:t>
            </a:r>
          </a:p>
          <a:p>
            <a:pPr lvl="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pt-BR" dirty="0">
                <a:solidFill>
                  <a:schemeClr val="dk1"/>
                </a:solidFill>
              </a:rPr>
              <a:t>Modelos </a:t>
            </a:r>
            <a:r>
              <a:rPr lang="pt-BR" dirty="0" smtClean="0">
                <a:solidFill>
                  <a:schemeClr val="dk1"/>
                </a:solidFill>
              </a:rPr>
              <a:t>com efeitos aleatórios.</a:t>
            </a:r>
          </a:p>
          <a:p>
            <a:pPr lvl="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pt-BR" dirty="0" smtClean="0">
                <a:solidFill>
                  <a:schemeClr val="dk1"/>
                </a:solidFill>
              </a:rPr>
              <a:t>Aplicações.</a:t>
            </a:r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r>
              <a:rPr lang="pt-BR" dirty="0"/>
              <a:t> / </a:t>
            </a:r>
            <a:r>
              <a:rPr lang="pt-BR" dirty="0" smtClean="0"/>
              <a:t>62</a:t>
            </a:r>
            <a:endParaRPr dirty="0"/>
          </a:p>
        </p:txBody>
      </p:sp>
      <p:sp>
        <p:nvSpPr>
          <p:cNvPr id="66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Conteúdo - Aula </a:t>
            </a:r>
            <a:r>
              <a:rPr lang="pt-BR" b="1" dirty="0" smtClean="0"/>
              <a:t>2</a:t>
            </a:r>
            <a:endParaRPr b="1" dirty="0"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838281"/>
            <a:ext cx="8520600" cy="30246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just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pt-BR" dirty="0" smtClean="0">
                <a:solidFill>
                  <a:schemeClr val="tx1"/>
                </a:solidFill>
              </a:rPr>
              <a:t>Análise de Perfis.</a:t>
            </a:r>
          </a:p>
          <a:p>
            <a:pPr lvl="0" algn="just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pt-BR" dirty="0" smtClean="0">
                <a:solidFill>
                  <a:schemeClr val="tx1"/>
                </a:solidFill>
              </a:rPr>
              <a:t>Exemplos.</a:t>
            </a:r>
          </a:p>
          <a:p>
            <a:pPr marL="0" lvl="0" indent="0" algn="l" rtl="0">
              <a:spcBef>
                <a:spcPts val="10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fld id="{00000000-1234-1234-1234-123412341234}" type="slidenum">
              <a:rPr lang="pt-BR"/>
              <a:pPr lvl="0"/>
              <a:t>3</a:t>
            </a:fld>
            <a:r>
              <a:rPr lang="pt-BR" dirty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7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Análise de Perfis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4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grpSp>
        <p:nvGrpSpPr>
          <p:cNvPr id="12" name="Google Shape;116;p19"/>
          <p:cNvGrpSpPr/>
          <p:nvPr/>
        </p:nvGrpSpPr>
        <p:grpSpPr>
          <a:xfrm>
            <a:off x="302538" y="1558637"/>
            <a:ext cx="8538900" cy="1589809"/>
            <a:chOff x="293075" y="1719211"/>
            <a:chExt cx="8538900" cy="1238400"/>
          </a:xfrm>
        </p:grpSpPr>
        <p:sp>
          <p:nvSpPr>
            <p:cNvPr id="13" name="Google Shape;117;p19"/>
            <p:cNvSpPr/>
            <p:nvPr/>
          </p:nvSpPr>
          <p:spPr>
            <a:xfrm>
              <a:off x="293075" y="1719211"/>
              <a:ext cx="101100" cy="12384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8;p19"/>
            <p:cNvSpPr/>
            <p:nvPr/>
          </p:nvSpPr>
          <p:spPr>
            <a:xfrm flipH="1">
              <a:off x="394175" y="1719661"/>
              <a:ext cx="8437800" cy="1237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just"/>
              <a:r>
                <a:rPr lang="pt-BR" sz="1800" dirty="0"/>
                <a:t>O termo análise de perfis se refere ao conjunto de técnicas utilizadas para comparar </a:t>
              </a:r>
              <a:r>
                <a:rPr lang="pt-BR" sz="1800" i="1" dirty="0"/>
                <a:t>p</a:t>
              </a:r>
              <a:r>
                <a:rPr lang="pt-BR" sz="1800" dirty="0"/>
                <a:t> diferentes tratamentos </a:t>
              </a:r>
              <a:r>
                <a:rPr lang="pt-BR" sz="1800" dirty="0" smtClean="0"/>
                <a:t>com </a:t>
              </a:r>
              <a:r>
                <a:rPr lang="pt-BR" sz="1800" dirty="0"/>
                <a:t>respeito à variação da resposta esperada ao </a:t>
              </a:r>
              <a:r>
                <a:rPr lang="pt-BR" sz="1800" dirty="0" smtClean="0"/>
                <a:t>longo de </a:t>
              </a:r>
              <a:r>
                <a:rPr lang="pt-BR" sz="1800" i="1" dirty="0"/>
                <a:t>m</a:t>
              </a:r>
              <a:r>
                <a:rPr lang="pt-BR" sz="1800" dirty="0"/>
                <a:t> diferentes condições de avaliação (tempo) em que as unidades amostrais são observadas.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8149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Observações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620980"/>
            <a:ext cx="8520600" cy="2698510"/>
          </a:xfrm>
        </p:spPr>
        <p:txBody>
          <a:bodyPr/>
          <a:lstStyle/>
          <a:p>
            <a:pPr marL="285750" indent="-285750" algn="just"/>
            <a:r>
              <a:rPr lang="pt-BR" sz="2000" dirty="0">
                <a:solidFill>
                  <a:schemeClr val="tx1"/>
                </a:solidFill>
              </a:rPr>
              <a:t>Em </a:t>
            </a:r>
            <a:r>
              <a:rPr lang="pt-BR" sz="2000" dirty="0" smtClean="0">
                <a:solidFill>
                  <a:schemeClr val="tx1"/>
                </a:solidFill>
              </a:rPr>
              <a:t>princípio</a:t>
            </a:r>
            <a:r>
              <a:rPr lang="pt-BR" sz="2000" dirty="0">
                <a:solidFill>
                  <a:schemeClr val="tx1"/>
                </a:solidFill>
              </a:rPr>
              <a:t>, todas as unidades amostrais são observadas nos mesmos instantes, não necessariamente igualmente </a:t>
            </a:r>
            <a:r>
              <a:rPr lang="pt-BR" sz="2000" dirty="0" smtClean="0">
                <a:solidFill>
                  <a:schemeClr val="tx1"/>
                </a:solidFill>
              </a:rPr>
              <a:t>espaçados;</a:t>
            </a:r>
          </a:p>
          <a:p>
            <a:pPr marL="285750" indent="-285750" algn="just"/>
            <a:endParaRPr lang="pt-BR" sz="2000" dirty="0">
              <a:solidFill>
                <a:schemeClr val="tx1"/>
              </a:solidFill>
            </a:endParaRPr>
          </a:p>
          <a:p>
            <a:pPr marL="285750" indent="-285750" algn="just"/>
            <a:r>
              <a:rPr lang="pt-BR" sz="2000" dirty="0">
                <a:solidFill>
                  <a:schemeClr val="tx1"/>
                </a:solidFill>
              </a:rPr>
              <a:t>Para efeito de inferência, supõe-se que os </a:t>
            </a:r>
            <a:r>
              <a:rPr lang="pt-BR" sz="2000" dirty="0" smtClean="0">
                <a:solidFill>
                  <a:schemeClr val="tx1"/>
                </a:solidFill>
              </a:rPr>
              <a:t>perfis possuem distribuição normal multivariada.</a:t>
            </a:r>
            <a:endParaRPr lang="pt-BR" sz="2000" dirty="0">
              <a:solidFill>
                <a:schemeClr val="tx1"/>
              </a:solidFill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5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134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1700" y="70949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Objetivos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696181"/>
            <a:ext cx="8520600" cy="1870365"/>
          </a:xfrm>
        </p:spPr>
        <p:txBody>
          <a:bodyPr>
            <a:noAutofit/>
          </a:bodyPr>
          <a:lstStyle/>
          <a:p>
            <a:pPr marL="482600" lvl="0" indent="-400050" algn="just">
              <a:buFont typeface="+mj-lt"/>
              <a:buAutoNum type="romanLcPeriod"/>
            </a:pPr>
            <a:r>
              <a:rPr lang="pt-BR" sz="1500" dirty="0" smtClean="0">
                <a:solidFill>
                  <a:schemeClr val="tx1"/>
                </a:solidFill>
              </a:rPr>
              <a:t>Comparação </a:t>
            </a:r>
            <a:r>
              <a:rPr lang="pt-BR" sz="1500" dirty="0">
                <a:solidFill>
                  <a:schemeClr val="tx1"/>
                </a:solidFill>
              </a:rPr>
              <a:t>dos diferentes tratamentos quanto à variação das respectivas distribuições de </a:t>
            </a:r>
            <a:r>
              <a:rPr lang="pt-BR" sz="1500" dirty="0" smtClean="0">
                <a:solidFill>
                  <a:schemeClr val="tx1"/>
                </a:solidFill>
              </a:rPr>
              <a:t>respostas ao </a:t>
            </a:r>
            <a:r>
              <a:rPr lang="pt-BR" sz="1500" dirty="0">
                <a:solidFill>
                  <a:schemeClr val="tx1"/>
                </a:solidFill>
              </a:rPr>
              <a:t>longo do tempo, </a:t>
            </a:r>
            <a:r>
              <a:rPr lang="pt-BR" sz="1500" dirty="0" smtClean="0">
                <a:solidFill>
                  <a:schemeClr val="tx1"/>
                </a:solidFill>
              </a:rPr>
              <a:t>isto é</a:t>
            </a:r>
            <a:r>
              <a:rPr lang="pt-BR" sz="1500" dirty="0">
                <a:solidFill>
                  <a:schemeClr val="tx1"/>
                </a:solidFill>
              </a:rPr>
              <a:t>, avaliação da existência de interação entre os fatores que definem os tratamentos e o fator tempo</a:t>
            </a:r>
            <a:r>
              <a:rPr lang="pt-BR" sz="1500" dirty="0" smtClean="0">
                <a:solidFill>
                  <a:schemeClr val="tx1"/>
                </a:solidFill>
              </a:rPr>
              <a:t>;</a:t>
            </a:r>
          </a:p>
          <a:p>
            <a:pPr marL="514350" lvl="0" indent="-400050" algn="just">
              <a:buFont typeface="+mj-lt"/>
              <a:buAutoNum type="romanLcPeriod"/>
            </a:pPr>
            <a:endParaRPr lang="pt-BR" sz="1500" dirty="0">
              <a:solidFill>
                <a:schemeClr val="tx1"/>
              </a:solidFill>
            </a:endParaRPr>
          </a:p>
          <a:p>
            <a:pPr marL="482600" lvl="0" indent="-400050" algn="just">
              <a:buFont typeface="+mj-lt"/>
              <a:buAutoNum type="romanLcPeriod"/>
            </a:pPr>
            <a:r>
              <a:rPr lang="pt-BR" sz="1500" dirty="0" smtClean="0">
                <a:solidFill>
                  <a:schemeClr val="tx1"/>
                </a:solidFill>
              </a:rPr>
              <a:t>Comparação </a:t>
            </a:r>
            <a:r>
              <a:rPr lang="pt-BR" sz="1500" dirty="0">
                <a:solidFill>
                  <a:schemeClr val="tx1"/>
                </a:solidFill>
              </a:rPr>
              <a:t>dos diferentes tratamentos quanto às respectivas distribuições marginais (em relação ao tempo) de respostas, isto é, avaliação da existência de efeitos principais dos fatores que definem os tratamentos;</a:t>
            </a:r>
          </a:p>
          <a:p>
            <a:pPr marL="514350" lvl="0" indent="-400050" algn="just">
              <a:buFont typeface="+mj-lt"/>
              <a:buAutoNum type="romanLcPeriod"/>
            </a:pPr>
            <a:endParaRPr lang="pt-BR" sz="1500" dirty="0">
              <a:solidFill>
                <a:schemeClr val="tx1"/>
              </a:solidFill>
            </a:endParaRPr>
          </a:p>
          <a:p>
            <a:pPr marL="482600" lvl="0" indent="-400050" algn="just">
              <a:buFont typeface="+mj-lt"/>
              <a:buAutoNum type="romanLcPeriod"/>
            </a:pPr>
            <a:r>
              <a:rPr lang="pt-BR" sz="1500" dirty="0" smtClean="0">
                <a:solidFill>
                  <a:schemeClr val="tx1"/>
                </a:solidFill>
              </a:rPr>
              <a:t>Comparação </a:t>
            </a:r>
            <a:r>
              <a:rPr lang="pt-BR" sz="1500" dirty="0">
                <a:solidFill>
                  <a:schemeClr val="tx1"/>
                </a:solidFill>
              </a:rPr>
              <a:t>dos diferentes instantes de avaliação quanto às respectivas distribuições marginais (em relação aos diferentes tratamentos) de respostas, isto é, avaliação da existência de efeito principal do fator tempo</a:t>
            </a:r>
            <a:r>
              <a:rPr lang="pt-BR" sz="1500" dirty="0" smtClean="0">
                <a:solidFill>
                  <a:schemeClr val="tx1"/>
                </a:solidFill>
              </a:rPr>
              <a:t>;</a:t>
            </a:r>
          </a:p>
          <a:p>
            <a:pPr marL="514350" lvl="0" indent="-400050" algn="just">
              <a:buFont typeface="+mj-lt"/>
              <a:buAutoNum type="romanLcPeriod"/>
            </a:pPr>
            <a:endParaRPr lang="pt-BR" sz="1500" dirty="0">
              <a:solidFill>
                <a:schemeClr val="tx1"/>
              </a:solidFill>
            </a:endParaRPr>
          </a:p>
          <a:p>
            <a:pPr marL="482600" lvl="0" indent="-400050" algn="just">
              <a:buFont typeface="+mj-lt"/>
              <a:buAutoNum type="romanLcPeriod"/>
            </a:pPr>
            <a:r>
              <a:rPr lang="pt-BR" sz="1500" dirty="0" smtClean="0">
                <a:solidFill>
                  <a:schemeClr val="tx1"/>
                </a:solidFill>
              </a:rPr>
              <a:t>Identificação </a:t>
            </a:r>
            <a:r>
              <a:rPr lang="pt-BR" sz="1500" dirty="0">
                <a:solidFill>
                  <a:schemeClr val="tx1"/>
                </a:solidFill>
              </a:rPr>
              <a:t>de modelos polinomiais que expliquem a variação das respostas médias (ou de outras características das distribuições das respostas) como função dos níveis do fator tempo.</a:t>
            </a:r>
          </a:p>
          <a:p>
            <a:pPr algn="just"/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6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41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1700" y="174859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Objetivos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966355"/>
            <a:ext cx="8520600" cy="3616036"/>
          </a:xfrm>
        </p:spPr>
        <p:txBody>
          <a:bodyPr>
            <a:normAutofit fontScale="32500" lnSpcReduction="20000"/>
          </a:bodyPr>
          <a:lstStyle/>
          <a:p>
            <a:pPr marL="114300" indent="0" algn="just">
              <a:buNone/>
            </a:pPr>
            <a:r>
              <a:rPr lang="pt-BR" sz="4900" dirty="0">
                <a:solidFill>
                  <a:schemeClr val="tx1"/>
                </a:solidFill>
              </a:rPr>
              <a:t>Basicamente</a:t>
            </a:r>
            <a:r>
              <a:rPr lang="pt-BR" sz="4900" dirty="0" smtClean="0">
                <a:solidFill>
                  <a:schemeClr val="tx1"/>
                </a:solidFill>
              </a:rPr>
              <a:t>, análise de perfis </a:t>
            </a:r>
            <a:r>
              <a:rPr lang="pt-BR" sz="4900" dirty="0">
                <a:solidFill>
                  <a:schemeClr val="tx1"/>
                </a:solidFill>
              </a:rPr>
              <a:t>visa responder às perguntas</a:t>
            </a:r>
            <a:r>
              <a:rPr lang="pt-BR" sz="4900" dirty="0" smtClean="0">
                <a:solidFill>
                  <a:schemeClr val="tx1"/>
                </a:solidFill>
              </a:rPr>
              <a:t>:</a:t>
            </a:r>
          </a:p>
          <a:p>
            <a:pPr marL="114300" indent="0" algn="just">
              <a:buNone/>
            </a:pPr>
            <a:endParaRPr lang="pt-BR" sz="4900" dirty="0">
              <a:solidFill>
                <a:schemeClr val="tx1"/>
              </a:solidFill>
            </a:endParaRPr>
          </a:p>
          <a:p>
            <a:pPr algn="just"/>
            <a:r>
              <a:rPr lang="pt-BR" sz="4900" dirty="0" smtClean="0">
                <a:solidFill>
                  <a:schemeClr val="tx1"/>
                </a:solidFill>
              </a:rPr>
              <a:t>Os </a:t>
            </a:r>
            <a:r>
              <a:rPr lang="pt-BR" sz="4900" dirty="0">
                <a:solidFill>
                  <a:schemeClr val="tx1"/>
                </a:solidFill>
              </a:rPr>
              <a:t>perfis médios de resposta dos diferentes tratamentos são </a:t>
            </a:r>
            <a:r>
              <a:rPr lang="pt-BR" sz="4900" i="1" dirty="0">
                <a:solidFill>
                  <a:schemeClr val="tx1"/>
                </a:solidFill>
              </a:rPr>
              <a:t>paralelos</a:t>
            </a:r>
            <a:r>
              <a:rPr lang="pt-BR" sz="4900" dirty="0">
                <a:solidFill>
                  <a:schemeClr val="tx1"/>
                </a:solidFill>
              </a:rPr>
              <a:t>? (i.e., a interação entre tratamento e tempo é nula</a:t>
            </a:r>
            <a:r>
              <a:rPr lang="pt-BR" sz="4900" dirty="0" smtClean="0">
                <a:solidFill>
                  <a:schemeClr val="tx1"/>
                </a:solidFill>
              </a:rPr>
              <a:t>?)</a:t>
            </a:r>
          </a:p>
          <a:p>
            <a:pPr algn="just"/>
            <a:endParaRPr lang="pt-BR" sz="4900" dirty="0">
              <a:solidFill>
                <a:schemeClr val="tx1"/>
              </a:solidFill>
            </a:endParaRPr>
          </a:p>
          <a:p>
            <a:pPr algn="just"/>
            <a:r>
              <a:rPr lang="pt-BR" sz="4900" dirty="0" smtClean="0">
                <a:solidFill>
                  <a:schemeClr val="tx1"/>
                </a:solidFill>
              </a:rPr>
              <a:t>Se </a:t>
            </a:r>
            <a:r>
              <a:rPr lang="pt-BR" sz="4900" dirty="0">
                <a:solidFill>
                  <a:schemeClr val="tx1"/>
                </a:solidFill>
              </a:rPr>
              <a:t>os perfis são paralelos, eles são </a:t>
            </a:r>
            <a:r>
              <a:rPr lang="pt-BR" sz="4900" i="1" dirty="0">
                <a:solidFill>
                  <a:schemeClr val="tx1"/>
                </a:solidFill>
              </a:rPr>
              <a:t>coincidentes</a:t>
            </a:r>
            <a:r>
              <a:rPr lang="pt-BR" sz="4900" dirty="0">
                <a:solidFill>
                  <a:schemeClr val="tx1"/>
                </a:solidFill>
              </a:rPr>
              <a:t>? (i.e., o efeito de tratamento é nulo</a:t>
            </a:r>
            <a:r>
              <a:rPr lang="pt-BR" sz="4900" dirty="0" smtClean="0">
                <a:solidFill>
                  <a:schemeClr val="tx1"/>
                </a:solidFill>
              </a:rPr>
              <a:t>?)</a:t>
            </a:r>
          </a:p>
          <a:p>
            <a:pPr algn="just"/>
            <a:endParaRPr lang="pt-BR" sz="4900" dirty="0">
              <a:solidFill>
                <a:schemeClr val="tx1"/>
              </a:solidFill>
            </a:endParaRPr>
          </a:p>
          <a:p>
            <a:pPr algn="just"/>
            <a:r>
              <a:rPr lang="pt-BR" sz="4900" dirty="0" smtClean="0">
                <a:solidFill>
                  <a:schemeClr val="tx1"/>
                </a:solidFill>
              </a:rPr>
              <a:t>Se </a:t>
            </a:r>
            <a:r>
              <a:rPr lang="pt-BR" sz="4900" dirty="0">
                <a:solidFill>
                  <a:schemeClr val="tx1"/>
                </a:solidFill>
              </a:rPr>
              <a:t>os perfis são paralelos, ele são </a:t>
            </a:r>
            <a:r>
              <a:rPr lang="pt-BR" sz="4900" i="1" dirty="0">
                <a:solidFill>
                  <a:schemeClr val="tx1"/>
                </a:solidFill>
              </a:rPr>
              <a:t>horizontais</a:t>
            </a:r>
            <a:r>
              <a:rPr lang="pt-BR" sz="4900" dirty="0">
                <a:solidFill>
                  <a:schemeClr val="tx1"/>
                </a:solidFill>
              </a:rPr>
              <a:t>? (i.e., o efeito do tempo é nulo</a:t>
            </a:r>
            <a:r>
              <a:rPr lang="pt-BR" sz="4900" dirty="0" smtClean="0">
                <a:solidFill>
                  <a:schemeClr val="tx1"/>
                </a:solidFill>
              </a:rPr>
              <a:t>?)</a:t>
            </a:r>
          </a:p>
          <a:p>
            <a:pPr algn="just"/>
            <a:endParaRPr lang="pt-BR" sz="4900" dirty="0">
              <a:solidFill>
                <a:schemeClr val="tx1"/>
              </a:solidFill>
            </a:endParaRPr>
          </a:p>
          <a:p>
            <a:pPr algn="just"/>
            <a:r>
              <a:rPr lang="pt-BR" sz="4900" dirty="0" smtClean="0">
                <a:solidFill>
                  <a:schemeClr val="tx1"/>
                </a:solidFill>
              </a:rPr>
              <a:t>Se </a:t>
            </a:r>
            <a:r>
              <a:rPr lang="pt-BR" sz="4900" dirty="0">
                <a:solidFill>
                  <a:schemeClr val="tx1"/>
                </a:solidFill>
              </a:rPr>
              <a:t>os perfis não são paralelos, o efeito do tempo é nulo dentro de algum dos tratamentos</a:t>
            </a:r>
            <a:r>
              <a:rPr lang="pt-BR" sz="4900" dirty="0" smtClean="0">
                <a:solidFill>
                  <a:schemeClr val="tx1"/>
                </a:solidFill>
              </a:rPr>
              <a:t>?</a:t>
            </a:r>
          </a:p>
          <a:p>
            <a:pPr algn="just"/>
            <a:endParaRPr lang="pt-BR" sz="4900" dirty="0">
              <a:solidFill>
                <a:schemeClr val="tx1"/>
              </a:solidFill>
            </a:endParaRPr>
          </a:p>
          <a:p>
            <a:pPr algn="just"/>
            <a:r>
              <a:rPr lang="pt-BR" sz="4900" dirty="0" smtClean="0">
                <a:solidFill>
                  <a:schemeClr val="tx1"/>
                </a:solidFill>
              </a:rPr>
              <a:t>Se </a:t>
            </a:r>
            <a:r>
              <a:rPr lang="pt-BR" sz="4900" dirty="0">
                <a:solidFill>
                  <a:schemeClr val="tx1"/>
                </a:solidFill>
              </a:rPr>
              <a:t>os perfis não são paralelos, o efeito de tratamento é nulo dentro de algum dos tempos?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7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00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8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257642" y="512914"/>
            <a:ext cx="4186200" cy="381642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93;p17"/>
          <p:cNvSpPr txBox="1">
            <a:spLocks noGrp="1"/>
          </p:cNvSpPr>
          <p:nvPr>
            <p:ph type="body" idx="1"/>
          </p:nvPr>
        </p:nvSpPr>
        <p:spPr>
          <a:xfrm>
            <a:off x="2906759" y="102666"/>
            <a:ext cx="8520600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chemeClr val="accent1"/>
                </a:solidFill>
              </a:rPr>
              <a:t>Figura </a:t>
            </a:r>
            <a:r>
              <a:rPr lang="pt-BR" sz="1600" b="1" dirty="0">
                <a:solidFill>
                  <a:schemeClr val="accent1"/>
                </a:solidFill>
              </a:rPr>
              <a:t>1</a:t>
            </a:r>
            <a:r>
              <a:rPr lang="pt-BR" sz="1600" b="1" dirty="0" smtClean="0">
                <a:solidFill>
                  <a:schemeClr val="accent1"/>
                </a:solidFill>
              </a:rPr>
              <a:t>: </a:t>
            </a:r>
            <a:r>
              <a:rPr lang="pt-BR" sz="1600" dirty="0" smtClean="0">
                <a:solidFill>
                  <a:schemeClr val="tx1"/>
                </a:solidFill>
              </a:rPr>
              <a:t>Gráfico de perfis </a:t>
            </a:r>
            <a:r>
              <a:rPr lang="pt-BR" sz="1600" dirty="0">
                <a:solidFill>
                  <a:schemeClr val="tx1"/>
                </a:solidFill>
              </a:rPr>
              <a:t>m</a:t>
            </a:r>
            <a:r>
              <a:rPr lang="pt-BR" sz="1600" dirty="0" smtClean="0">
                <a:solidFill>
                  <a:schemeClr val="tx1"/>
                </a:solidFill>
              </a:rPr>
              <a:t>édios.</a:t>
            </a:r>
            <a:endParaRPr sz="1600" dirty="0">
              <a:solidFill>
                <a:schemeClr val="tx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11" name="Google Shape;96;p17"/>
          <p:cNvSpPr txBox="1">
            <a:spLocks/>
          </p:cNvSpPr>
          <p:nvPr/>
        </p:nvSpPr>
        <p:spPr>
          <a:xfrm>
            <a:off x="142227" y="4295580"/>
            <a:ext cx="85206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pt-BR" sz="1200" b="1" dirty="0" smtClean="0">
                <a:solidFill>
                  <a:schemeClr val="dk1"/>
                </a:solidFill>
              </a:rPr>
              <a:t>Fonte: </a:t>
            </a:r>
            <a:r>
              <a:rPr lang="pt-BR" sz="1200" dirty="0" smtClean="0">
                <a:solidFill>
                  <a:schemeClr val="dk1"/>
                </a:solidFill>
              </a:rPr>
              <a:t>https://www.ime.usp.br/~jmsinger/MAE0610/Singer&amp;Nobre&amp;Rocha2018jun.pdf</a:t>
            </a:r>
            <a:endParaRPr lang="pt-BR" sz="1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21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350820"/>
            <a:ext cx="8520600" cy="2951016"/>
          </a:xfrm>
        </p:spPr>
        <p:txBody>
          <a:bodyPr>
            <a:normAutofit fontScale="92500" lnSpcReduction="20000"/>
          </a:bodyPr>
          <a:lstStyle/>
          <a:p>
            <a:pPr marL="93663" lvl="0" indent="-11113" algn="just">
              <a:buNone/>
            </a:pPr>
            <a:r>
              <a:rPr lang="pt-BR" dirty="0">
                <a:solidFill>
                  <a:schemeClr val="tx1"/>
                </a:solidFill>
              </a:rPr>
              <a:t>Os objetivos </a:t>
            </a:r>
            <a:r>
              <a:rPr lang="pt-BR" dirty="0" smtClean="0">
                <a:solidFill>
                  <a:schemeClr val="tx1"/>
                </a:solidFill>
              </a:rPr>
              <a:t>i. a </a:t>
            </a:r>
            <a:r>
              <a:rPr lang="pt-BR" dirty="0" err="1" smtClean="0">
                <a:solidFill>
                  <a:schemeClr val="tx1"/>
                </a:solidFill>
              </a:rPr>
              <a:t>iii</a:t>
            </a:r>
            <a:r>
              <a:rPr lang="pt-BR" dirty="0" smtClean="0">
                <a:solidFill>
                  <a:schemeClr val="tx1"/>
                </a:solidFill>
              </a:rPr>
              <a:t>., citados anteriormente, </a:t>
            </a:r>
            <a:r>
              <a:rPr lang="pt-BR" dirty="0">
                <a:solidFill>
                  <a:schemeClr val="tx1"/>
                </a:solidFill>
              </a:rPr>
              <a:t>podem ser operacionalizados por </a:t>
            </a:r>
            <a:r>
              <a:rPr lang="pt-BR" dirty="0" smtClean="0">
                <a:solidFill>
                  <a:schemeClr val="tx1"/>
                </a:solidFill>
              </a:rPr>
              <a:t>meio das </a:t>
            </a:r>
            <a:r>
              <a:rPr lang="pt-BR" dirty="0">
                <a:solidFill>
                  <a:schemeClr val="tx1"/>
                </a:solidFill>
              </a:rPr>
              <a:t>hipóteses</a:t>
            </a:r>
            <a:r>
              <a:rPr lang="pt-BR" dirty="0" smtClean="0">
                <a:solidFill>
                  <a:schemeClr val="tx1"/>
                </a:solidFill>
              </a:rPr>
              <a:t>:</a:t>
            </a:r>
          </a:p>
          <a:p>
            <a:pPr lvl="0" algn="just">
              <a:buNone/>
            </a:pPr>
            <a:endParaRPr lang="pt-BR" dirty="0">
              <a:solidFill>
                <a:schemeClr val="tx1"/>
              </a:solidFill>
            </a:endParaRPr>
          </a:p>
          <a:p>
            <a:pPr lvl="0" algn="just"/>
            <a:r>
              <a:rPr lang="pt-BR" dirty="0">
                <a:solidFill>
                  <a:schemeClr val="tx1"/>
                </a:solidFill>
              </a:rPr>
              <a:t>H</a:t>
            </a:r>
            <a:r>
              <a:rPr lang="pt-BR" baseline="-8000" dirty="0">
                <a:solidFill>
                  <a:schemeClr val="tx1"/>
                </a:solidFill>
              </a:rPr>
              <a:t>I</a:t>
            </a:r>
            <a:r>
              <a:rPr lang="pt-BR" dirty="0">
                <a:solidFill>
                  <a:schemeClr val="tx1"/>
                </a:solidFill>
              </a:rPr>
              <a:t>: Os perfis médios de resposta correspondentes aos diferentes tratamentos são paralelos</a:t>
            </a:r>
            <a:r>
              <a:rPr lang="pt-BR" dirty="0" smtClean="0">
                <a:solidFill>
                  <a:schemeClr val="tx1"/>
                </a:solidFill>
              </a:rPr>
              <a:t>;</a:t>
            </a:r>
          </a:p>
          <a:p>
            <a:pPr lvl="0" algn="just"/>
            <a:endParaRPr lang="pt-BR" dirty="0">
              <a:solidFill>
                <a:schemeClr val="tx1"/>
              </a:solidFill>
            </a:endParaRPr>
          </a:p>
          <a:p>
            <a:pPr lvl="0" algn="just"/>
            <a:r>
              <a:rPr lang="pt-BR" dirty="0">
                <a:solidFill>
                  <a:schemeClr val="tx1"/>
                </a:solidFill>
              </a:rPr>
              <a:t> H</a:t>
            </a:r>
            <a:r>
              <a:rPr lang="pt-BR" baseline="-8000" dirty="0">
                <a:solidFill>
                  <a:schemeClr val="tx1"/>
                </a:solidFill>
              </a:rPr>
              <a:t>T</a:t>
            </a:r>
            <a:r>
              <a:rPr lang="pt-BR" dirty="0">
                <a:solidFill>
                  <a:schemeClr val="tx1"/>
                </a:solidFill>
              </a:rPr>
              <a:t>: Os perfis médios de resposta correspondentes aos diferentes tratamentos são coincidentes</a:t>
            </a:r>
            <a:r>
              <a:rPr lang="pt-BR" dirty="0" smtClean="0">
                <a:solidFill>
                  <a:schemeClr val="tx1"/>
                </a:solidFill>
              </a:rPr>
              <a:t>;</a:t>
            </a:r>
          </a:p>
          <a:p>
            <a:pPr lvl="0" algn="just"/>
            <a:endParaRPr lang="pt-BR" dirty="0">
              <a:solidFill>
                <a:schemeClr val="tx1"/>
              </a:solidFill>
            </a:endParaRP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H</a:t>
            </a:r>
            <a:r>
              <a:rPr lang="pt-BR" baseline="-8000" dirty="0" smtClean="0">
                <a:solidFill>
                  <a:schemeClr val="tx1"/>
                </a:solidFill>
              </a:rPr>
              <a:t>P</a:t>
            </a:r>
            <a:r>
              <a:rPr lang="pt-BR" dirty="0" smtClean="0">
                <a:solidFill>
                  <a:schemeClr val="tx1"/>
                </a:solidFill>
              </a:rPr>
              <a:t>: Os </a:t>
            </a:r>
            <a:r>
              <a:rPr lang="pt-BR" dirty="0">
                <a:solidFill>
                  <a:schemeClr val="tx1"/>
                </a:solidFill>
              </a:rPr>
              <a:t>perfis </a:t>
            </a:r>
            <a:r>
              <a:rPr lang="pt-BR" dirty="0" smtClean="0">
                <a:solidFill>
                  <a:schemeClr val="tx1"/>
                </a:solidFill>
              </a:rPr>
              <a:t>médios </a:t>
            </a:r>
            <a:r>
              <a:rPr lang="pt-BR" dirty="0">
                <a:solidFill>
                  <a:schemeClr val="tx1"/>
                </a:solidFill>
              </a:rPr>
              <a:t>de resposta correspondentes aos diferentes </a:t>
            </a:r>
            <a:r>
              <a:rPr lang="pt-BR" dirty="0" smtClean="0">
                <a:solidFill>
                  <a:schemeClr val="tx1"/>
                </a:solidFill>
              </a:rPr>
              <a:t>tratamentos s</a:t>
            </a:r>
            <a:r>
              <a:rPr lang="pt-BR" dirty="0">
                <a:solidFill>
                  <a:schemeClr val="tx1"/>
                </a:solidFill>
              </a:rPr>
              <a:t>ã</a:t>
            </a:r>
            <a:r>
              <a:rPr lang="pt-BR" dirty="0" smtClean="0">
                <a:solidFill>
                  <a:schemeClr val="tx1"/>
                </a:solidFill>
              </a:rPr>
              <a:t>o </a:t>
            </a:r>
            <a:r>
              <a:rPr lang="pt-BR" dirty="0">
                <a:solidFill>
                  <a:schemeClr val="tx1"/>
                </a:solidFill>
              </a:rPr>
              <a:t>paralelos ao eixo das </a:t>
            </a:r>
            <a:r>
              <a:rPr lang="pt-BR" dirty="0" smtClean="0">
                <a:solidFill>
                  <a:schemeClr val="tx1"/>
                </a:solidFill>
              </a:rPr>
              <a:t>abscissas.</a:t>
            </a:r>
            <a:endParaRPr lang="pt-BR" dirty="0">
              <a:solidFill>
                <a:schemeClr val="tx1"/>
              </a:solidFill>
            </a:endParaRPr>
          </a:p>
          <a:p>
            <a:pPr algn="just"/>
            <a:endParaRPr lang="pt-BR" dirty="0"/>
          </a:p>
          <a:p>
            <a:pPr algn="just"/>
            <a:endParaRPr lang="pt-BR" dirty="0" smtClean="0"/>
          </a:p>
          <a:p>
            <a:pPr algn="just"/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9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Observações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0042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10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0980733"/>
              </p:ext>
            </p:extLst>
          </p:nvPr>
        </p:nvGraphicFramePr>
        <p:xfrm>
          <a:off x="1279525" y="717550"/>
          <a:ext cx="6172200" cy="320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Imagem de Bitmap" r:id="rId3" imgW="4505954" imgH="2352381" progId="Paint.Picture">
                  <p:embed/>
                </p:oleObj>
              </mc:Choice>
              <mc:Fallback>
                <p:oleObj name="Imagem de Bitmap" r:id="rId3" imgW="4505954" imgH="235238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717550"/>
                        <a:ext cx="6172200" cy="320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263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381987"/>
            <a:ext cx="8520600" cy="2698510"/>
          </a:xfrm>
        </p:spPr>
        <p:txBody>
          <a:bodyPr>
            <a:noAutofit/>
          </a:bodyPr>
          <a:lstStyle/>
          <a:p>
            <a:pPr marL="114300" indent="0" algn="just">
              <a:buNone/>
            </a:pPr>
            <a:r>
              <a:rPr lang="pt-BR" sz="1600" dirty="0" smtClean="0">
                <a:solidFill>
                  <a:schemeClr val="tx1"/>
                </a:solidFill>
              </a:rPr>
              <a:t>O </a:t>
            </a:r>
            <a:r>
              <a:rPr lang="pt-BR" sz="1600" dirty="0">
                <a:solidFill>
                  <a:schemeClr val="tx1"/>
                </a:solidFill>
              </a:rPr>
              <a:t>perfil individual de resposta com as m </a:t>
            </a:r>
            <a:r>
              <a:rPr lang="pt-BR" sz="1600" dirty="0" smtClean="0">
                <a:solidFill>
                  <a:schemeClr val="tx1"/>
                </a:solidFill>
              </a:rPr>
              <a:t>observações referentes à </a:t>
            </a:r>
            <a:r>
              <a:rPr lang="pt-BR" sz="1600" i="1" dirty="0" smtClean="0">
                <a:solidFill>
                  <a:schemeClr val="tx1"/>
                </a:solidFill>
              </a:rPr>
              <a:t>i</a:t>
            </a:r>
            <a:r>
              <a:rPr lang="pt-BR" sz="1600" dirty="0" smtClean="0">
                <a:solidFill>
                  <a:schemeClr val="tx1"/>
                </a:solidFill>
              </a:rPr>
              <a:t>-</a:t>
            </a:r>
            <a:r>
              <a:rPr lang="pt-BR" sz="1600" dirty="0" err="1">
                <a:solidFill>
                  <a:schemeClr val="tx1"/>
                </a:solidFill>
              </a:rPr>
              <a:t>é</a:t>
            </a:r>
            <a:r>
              <a:rPr lang="pt-BR" sz="1600" dirty="0" err="1" smtClean="0">
                <a:solidFill>
                  <a:schemeClr val="tx1"/>
                </a:solidFill>
              </a:rPr>
              <a:t>sima</a:t>
            </a:r>
            <a:r>
              <a:rPr lang="pt-BR" sz="1600" dirty="0" smtClean="0">
                <a:solidFill>
                  <a:schemeClr val="tx1"/>
                </a:solidFill>
              </a:rPr>
              <a:t> </a:t>
            </a:r>
            <a:r>
              <a:rPr lang="pt-BR" sz="1600" dirty="0">
                <a:solidFill>
                  <a:schemeClr val="tx1"/>
                </a:solidFill>
              </a:rPr>
              <a:t>unidade </a:t>
            </a:r>
            <a:r>
              <a:rPr lang="pt-BR" sz="1600" dirty="0" smtClean="0">
                <a:solidFill>
                  <a:schemeClr val="tx1"/>
                </a:solidFill>
              </a:rPr>
              <a:t>amostral, </a:t>
            </a:r>
            <a:r>
              <a:rPr lang="pt-BR" sz="1600" b="1" dirty="0" smtClean="0">
                <a:solidFill>
                  <a:schemeClr val="tx1"/>
                </a:solidFill>
              </a:rPr>
              <a:t>i</a:t>
            </a:r>
            <a:r>
              <a:rPr lang="pt-BR" sz="1600" dirty="0" smtClean="0">
                <a:solidFill>
                  <a:schemeClr val="tx1"/>
                </a:solidFill>
              </a:rPr>
              <a:t> </a:t>
            </a:r>
            <a:r>
              <a:rPr lang="pt-BR" sz="1600" dirty="0">
                <a:solidFill>
                  <a:schemeClr val="tx1"/>
                </a:solidFill>
              </a:rPr>
              <a:t>= 1, </a:t>
            </a:r>
            <a:r>
              <a:rPr lang="pt-BR" sz="1600" dirty="0" smtClean="0">
                <a:solidFill>
                  <a:schemeClr val="tx1"/>
                </a:solidFill>
              </a:rPr>
              <a:t>..., </a:t>
            </a:r>
            <a:r>
              <a:rPr lang="pt-BR" sz="1600" i="1" dirty="0" err="1" smtClean="0">
                <a:solidFill>
                  <a:schemeClr val="tx1"/>
                </a:solidFill>
              </a:rPr>
              <a:t>n</a:t>
            </a:r>
            <a:r>
              <a:rPr lang="pt-BR" sz="1600" i="1" baseline="-25000" dirty="0" err="1" smtClean="0">
                <a:solidFill>
                  <a:schemeClr val="tx1"/>
                </a:solidFill>
              </a:rPr>
              <a:t>j</a:t>
            </a:r>
            <a:r>
              <a:rPr lang="pt-BR" sz="1600" dirty="0" smtClean="0">
                <a:solidFill>
                  <a:schemeClr val="tx1"/>
                </a:solidFill>
              </a:rPr>
              <a:t>, submetida ao </a:t>
            </a:r>
            <a:r>
              <a:rPr lang="pt-BR" sz="1600" i="1" dirty="0" smtClean="0">
                <a:solidFill>
                  <a:schemeClr val="tx1"/>
                </a:solidFill>
              </a:rPr>
              <a:t>j</a:t>
            </a:r>
            <a:r>
              <a:rPr lang="pt-BR" sz="1600" dirty="0" smtClean="0">
                <a:solidFill>
                  <a:schemeClr val="tx1"/>
                </a:solidFill>
              </a:rPr>
              <a:t>-</a:t>
            </a:r>
            <a:r>
              <a:rPr lang="pt-BR" sz="1600" dirty="0" err="1" smtClean="0">
                <a:solidFill>
                  <a:schemeClr val="tx1"/>
                </a:solidFill>
              </a:rPr>
              <a:t>ésimo</a:t>
            </a:r>
            <a:r>
              <a:rPr lang="pt-BR" sz="1600" dirty="0" smtClean="0">
                <a:solidFill>
                  <a:schemeClr val="tx1"/>
                </a:solidFill>
              </a:rPr>
              <a:t> tratamento,</a:t>
            </a:r>
            <a:r>
              <a:rPr lang="pt-BR" sz="1600" i="1" dirty="0" smtClean="0">
                <a:solidFill>
                  <a:schemeClr val="tx1"/>
                </a:solidFill>
              </a:rPr>
              <a:t> j </a:t>
            </a:r>
            <a:r>
              <a:rPr lang="pt-BR" sz="1600" dirty="0">
                <a:solidFill>
                  <a:schemeClr val="tx1"/>
                </a:solidFill>
              </a:rPr>
              <a:t>= 1, </a:t>
            </a:r>
            <a:r>
              <a:rPr lang="pt-BR" sz="1600" dirty="0" smtClean="0">
                <a:solidFill>
                  <a:schemeClr val="tx1"/>
                </a:solidFill>
              </a:rPr>
              <a:t>..., </a:t>
            </a:r>
            <a:r>
              <a:rPr lang="pt-BR" sz="1600" i="1" dirty="0" smtClean="0">
                <a:solidFill>
                  <a:schemeClr val="tx1"/>
                </a:solidFill>
              </a:rPr>
              <a:t>p</a:t>
            </a:r>
            <a:r>
              <a:rPr lang="pt-BR" sz="1600" dirty="0" smtClean="0">
                <a:solidFill>
                  <a:schemeClr val="tx1"/>
                </a:solidFill>
              </a:rPr>
              <a:t>, é </a:t>
            </a:r>
            <a:r>
              <a:rPr lang="pt-BR" sz="1600" dirty="0">
                <a:solidFill>
                  <a:schemeClr val="tx1"/>
                </a:solidFill>
              </a:rPr>
              <a:t>dado por</a:t>
            </a:r>
            <a:endParaRPr lang="pt-BR" sz="1600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pt-BR" sz="1600" b="1" dirty="0">
              <a:solidFill>
                <a:schemeClr val="tx1"/>
              </a:solidFill>
            </a:endParaRPr>
          </a:p>
          <a:p>
            <a:pPr marL="114300" indent="0" algn="ctr">
              <a:buNone/>
            </a:pPr>
            <a:r>
              <a:rPr lang="pt-BR" sz="1600" b="1" i="1" dirty="0" err="1">
                <a:solidFill>
                  <a:schemeClr val="tx1"/>
                </a:solidFill>
              </a:rPr>
              <a:t>Y</a:t>
            </a:r>
            <a:r>
              <a:rPr lang="pt-BR" sz="1600" i="1" baseline="-25000" dirty="0" err="1" smtClean="0">
                <a:solidFill>
                  <a:schemeClr val="tx1"/>
                </a:solidFill>
              </a:rPr>
              <a:t>ij</a:t>
            </a:r>
            <a:r>
              <a:rPr lang="pt-BR" sz="1600" i="1" dirty="0" smtClean="0">
                <a:solidFill>
                  <a:schemeClr val="tx1"/>
                </a:solidFill>
              </a:rPr>
              <a:t> </a:t>
            </a:r>
            <a:r>
              <a:rPr lang="pt-BR" sz="1600" dirty="0">
                <a:solidFill>
                  <a:schemeClr val="tx1"/>
                </a:solidFill>
              </a:rPr>
              <a:t>= </a:t>
            </a:r>
            <a:r>
              <a:rPr lang="pt-BR" sz="1600" b="1" dirty="0" smtClean="0">
                <a:solidFill>
                  <a:schemeClr val="tx1"/>
                </a:solidFill>
              </a:rPr>
              <a:t>(</a:t>
            </a:r>
            <a:r>
              <a:rPr lang="pt-BR" sz="1600" i="1" dirty="0" smtClean="0">
                <a:solidFill>
                  <a:schemeClr val="tx1"/>
                </a:solidFill>
              </a:rPr>
              <a:t>Y</a:t>
            </a:r>
            <a:r>
              <a:rPr lang="pt-BR" sz="1600" i="1" baseline="-25000" dirty="0" smtClean="0">
                <a:solidFill>
                  <a:schemeClr val="tx1"/>
                </a:solidFill>
              </a:rPr>
              <a:t>ij1</a:t>
            </a:r>
            <a:r>
              <a:rPr lang="pt-BR" sz="1600" dirty="0">
                <a:solidFill>
                  <a:schemeClr val="tx1"/>
                </a:solidFill>
              </a:rPr>
              <a:t>, </a:t>
            </a:r>
            <a:r>
              <a:rPr lang="pt-BR" sz="1600" i="1" dirty="0" smtClean="0">
                <a:solidFill>
                  <a:schemeClr val="tx1"/>
                </a:solidFill>
              </a:rPr>
              <a:t>Y</a:t>
            </a:r>
            <a:r>
              <a:rPr lang="pt-BR" sz="1600" i="1" baseline="-25000" dirty="0" smtClean="0">
                <a:solidFill>
                  <a:schemeClr val="tx1"/>
                </a:solidFill>
              </a:rPr>
              <a:t>ij2</a:t>
            </a:r>
            <a:r>
              <a:rPr lang="pt-BR" sz="1600" dirty="0">
                <a:solidFill>
                  <a:schemeClr val="tx1"/>
                </a:solidFill>
              </a:rPr>
              <a:t>, ..., </a:t>
            </a:r>
            <a:r>
              <a:rPr lang="pt-BR" sz="1600" i="1" dirty="0" err="1" smtClean="0">
                <a:solidFill>
                  <a:schemeClr val="tx1"/>
                </a:solidFill>
              </a:rPr>
              <a:t>Y</a:t>
            </a:r>
            <a:r>
              <a:rPr lang="pt-BR" sz="1600" i="1" baseline="-25000" dirty="0" err="1" smtClean="0">
                <a:solidFill>
                  <a:schemeClr val="tx1"/>
                </a:solidFill>
              </a:rPr>
              <a:t>ijm</a:t>
            </a:r>
            <a:r>
              <a:rPr lang="pt-BR" sz="1600" b="1" dirty="0" smtClean="0">
                <a:solidFill>
                  <a:schemeClr val="tx1"/>
                </a:solidFill>
              </a:rPr>
              <a:t>)</a:t>
            </a:r>
            <a:r>
              <a:rPr lang="pt-BR" sz="1600" baseline="30000" dirty="0" smtClean="0">
                <a:solidFill>
                  <a:schemeClr val="tx1"/>
                </a:solidFill>
              </a:rPr>
              <a:t>T</a:t>
            </a:r>
            <a:r>
              <a:rPr lang="pt-BR" sz="1600" dirty="0" smtClean="0">
                <a:solidFill>
                  <a:schemeClr val="tx1"/>
                </a:solidFill>
              </a:rPr>
              <a:t> </a:t>
            </a:r>
          </a:p>
          <a:p>
            <a:pPr marL="114300" indent="0">
              <a:buNone/>
            </a:pPr>
            <a:endParaRPr lang="pt-BR" sz="1600" dirty="0">
              <a:solidFill>
                <a:schemeClr val="tx1"/>
              </a:solidFill>
            </a:endParaRPr>
          </a:p>
          <a:p>
            <a:pPr marL="114300" indent="0" algn="just">
              <a:buNone/>
            </a:pPr>
            <a:r>
              <a:rPr lang="pt-BR" sz="1600" dirty="0">
                <a:solidFill>
                  <a:schemeClr val="tx1"/>
                </a:solidFill>
              </a:rPr>
              <a:t>em que </a:t>
            </a:r>
            <a:r>
              <a:rPr lang="pt-BR" sz="1600" i="1" dirty="0" err="1" smtClean="0">
                <a:solidFill>
                  <a:schemeClr val="tx1"/>
                </a:solidFill>
              </a:rPr>
              <a:t>Y</a:t>
            </a:r>
            <a:r>
              <a:rPr lang="pt-BR" sz="1600" i="1" baseline="-25000" dirty="0" err="1" smtClean="0">
                <a:solidFill>
                  <a:schemeClr val="tx1"/>
                </a:solidFill>
              </a:rPr>
              <a:t>ijk</a:t>
            </a:r>
            <a:r>
              <a:rPr lang="pt-BR" sz="1600" dirty="0" smtClean="0">
                <a:solidFill>
                  <a:schemeClr val="tx1"/>
                </a:solidFill>
              </a:rPr>
              <a:t> </a:t>
            </a:r>
            <a:r>
              <a:rPr lang="pt-BR" sz="1600" dirty="0">
                <a:solidFill>
                  <a:schemeClr val="tx1"/>
                </a:solidFill>
              </a:rPr>
              <a:t>denota o valor da </a:t>
            </a:r>
            <a:r>
              <a:rPr lang="pt-BR" sz="1600" dirty="0" smtClean="0">
                <a:solidFill>
                  <a:schemeClr val="tx1"/>
                </a:solidFill>
              </a:rPr>
              <a:t>variável </a:t>
            </a:r>
            <a:r>
              <a:rPr lang="pt-BR" sz="1600" dirty="0">
                <a:solidFill>
                  <a:schemeClr val="tx1"/>
                </a:solidFill>
              </a:rPr>
              <a:t>resposta para a </a:t>
            </a:r>
            <a:r>
              <a:rPr lang="pt-BR" sz="1600" i="1" dirty="0" smtClean="0">
                <a:solidFill>
                  <a:schemeClr val="tx1"/>
                </a:solidFill>
              </a:rPr>
              <a:t>i</a:t>
            </a:r>
            <a:r>
              <a:rPr lang="pt-BR" sz="1600" dirty="0" smtClean="0">
                <a:solidFill>
                  <a:schemeClr val="tx1"/>
                </a:solidFill>
              </a:rPr>
              <a:t>-</a:t>
            </a:r>
            <a:r>
              <a:rPr lang="pt-BR" sz="1600" dirty="0" err="1">
                <a:solidFill>
                  <a:schemeClr val="tx1"/>
                </a:solidFill>
              </a:rPr>
              <a:t>é</a:t>
            </a:r>
            <a:r>
              <a:rPr lang="pt-BR" sz="1600" dirty="0" err="1" smtClean="0">
                <a:solidFill>
                  <a:schemeClr val="tx1"/>
                </a:solidFill>
              </a:rPr>
              <a:t>sima</a:t>
            </a:r>
            <a:r>
              <a:rPr lang="pt-BR" sz="1600" dirty="0" smtClean="0">
                <a:solidFill>
                  <a:schemeClr val="tx1"/>
                </a:solidFill>
              </a:rPr>
              <a:t> </a:t>
            </a:r>
            <a:r>
              <a:rPr lang="pt-BR" sz="1600" dirty="0">
                <a:solidFill>
                  <a:schemeClr val="tx1"/>
                </a:solidFill>
              </a:rPr>
              <a:t>unidade </a:t>
            </a:r>
            <a:r>
              <a:rPr lang="pt-BR" sz="1600" dirty="0" smtClean="0">
                <a:solidFill>
                  <a:schemeClr val="tx1"/>
                </a:solidFill>
              </a:rPr>
              <a:t>amostral submetida </a:t>
            </a:r>
            <a:r>
              <a:rPr lang="pt-BR" sz="1600" dirty="0">
                <a:solidFill>
                  <a:schemeClr val="tx1"/>
                </a:solidFill>
              </a:rPr>
              <a:t>ao </a:t>
            </a:r>
            <a:r>
              <a:rPr lang="pt-BR" sz="1600" i="1" dirty="0" smtClean="0">
                <a:solidFill>
                  <a:schemeClr val="tx1"/>
                </a:solidFill>
              </a:rPr>
              <a:t>j</a:t>
            </a:r>
            <a:r>
              <a:rPr lang="pt-BR" sz="1600" dirty="0" smtClean="0">
                <a:solidFill>
                  <a:schemeClr val="tx1"/>
                </a:solidFill>
              </a:rPr>
              <a:t>-</a:t>
            </a:r>
            <a:r>
              <a:rPr lang="pt-BR" sz="1600" dirty="0" err="1" smtClean="0">
                <a:solidFill>
                  <a:schemeClr val="tx1"/>
                </a:solidFill>
              </a:rPr>
              <a:t>ésimo</a:t>
            </a:r>
            <a:r>
              <a:rPr lang="pt-BR" sz="1600" dirty="0" smtClean="0">
                <a:solidFill>
                  <a:schemeClr val="tx1"/>
                </a:solidFill>
              </a:rPr>
              <a:t> </a:t>
            </a:r>
            <a:r>
              <a:rPr lang="pt-BR" sz="1600" dirty="0">
                <a:solidFill>
                  <a:schemeClr val="tx1"/>
                </a:solidFill>
              </a:rPr>
              <a:t>tratamento no </a:t>
            </a:r>
            <a:r>
              <a:rPr lang="pt-BR" sz="1600" i="1" dirty="0" smtClean="0">
                <a:solidFill>
                  <a:schemeClr val="tx1"/>
                </a:solidFill>
              </a:rPr>
              <a:t>k</a:t>
            </a:r>
            <a:r>
              <a:rPr lang="pt-BR" sz="1600" dirty="0" smtClean="0">
                <a:solidFill>
                  <a:schemeClr val="tx1"/>
                </a:solidFill>
              </a:rPr>
              <a:t>-</a:t>
            </a:r>
            <a:r>
              <a:rPr lang="pt-BR" sz="1600" dirty="0" err="1">
                <a:solidFill>
                  <a:schemeClr val="tx1"/>
                </a:solidFill>
              </a:rPr>
              <a:t>é</a:t>
            </a:r>
            <a:r>
              <a:rPr lang="pt-BR" sz="1600" dirty="0" err="1" smtClean="0">
                <a:solidFill>
                  <a:schemeClr val="tx1"/>
                </a:solidFill>
              </a:rPr>
              <a:t>simo</a:t>
            </a:r>
            <a:r>
              <a:rPr lang="pt-BR" sz="1600" dirty="0" smtClean="0">
                <a:solidFill>
                  <a:schemeClr val="tx1"/>
                </a:solidFill>
              </a:rPr>
              <a:t> instante, </a:t>
            </a:r>
            <a:r>
              <a:rPr lang="pt-BR" sz="1600" i="1" dirty="0" smtClean="0">
                <a:solidFill>
                  <a:schemeClr val="tx1"/>
                </a:solidFill>
              </a:rPr>
              <a:t>k</a:t>
            </a:r>
            <a:r>
              <a:rPr lang="pt-BR" sz="1600" dirty="0" smtClean="0">
                <a:solidFill>
                  <a:schemeClr val="tx1"/>
                </a:solidFill>
              </a:rPr>
              <a:t> </a:t>
            </a:r>
            <a:r>
              <a:rPr lang="pt-BR" sz="1600" dirty="0">
                <a:solidFill>
                  <a:schemeClr val="tx1"/>
                </a:solidFill>
              </a:rPr>
              <a:t>= 1, </a:t>
            </a:r>
            <a:r>
              <a:rPr lang="pt-BR" sz="1600" dirty="0" smtClean="0">
                <a:solidFill>
                  <a:schemeClr val="tx1"/>
                </a:solidFill>
              </a:rPr>
              <a:t>..., </a:t>
            </a:r>
            <a:r>
              <a:rPr lang="pt-BR" sz="1600" i="1" dirty="0" smtClean="0">
                <a:solidFill>
                  <a:schemeClr val="tx1"/>
                </a:solidFill>
              </a:rPr>
              <a:t>m</a:t>
            </a:r>
            <a:r>
              <a:rPr lang="pt-BR" sz="1600" dirty="0" smtClean="0">
                <a:solidFill>
                  <a:schemeClr val="tx1"/>
                </a:solidFill>
              </a:rPr>
              <a:t>.</a:t>
            </a:r>
          </a:p>
          <a:p>
            <a:pPr marL="114300" indent="0">
              <a:buNone/>
            </a:pPr>
            <a:endParaRPr lang="pt-BR" sz="1600" dirty="0">
              <a:solidFill>
                <a:schemeClr val="tx1"/>
              </a:solidFill>
            </a:endParaRPr>
          </a:p>
          <a:p>
            <a:pPr marL="114300" lvl="0" indent="0">
              <a:buNone/>
            </a:pPr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11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311700" y="330724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b="1" cap="small" dirty="0" smtClean="0"/>
              <a:t>Perfil Individual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855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517070"/>
            <a:ext cx="8520600" cy="2698510"/>
          </a:xfrm>
        </p:spPr>
        <p:txBody>
          <a:bodyPr>
            <a:noAutofit/>
          </a:bodyPr>
          <a:lstStyle/>
          <a:p>
            <a:pPr marL="114300" lvl="0" indent="0" algn="just">
              <a:buNone/>
            </a:pPr>
            <a:r>
              <a:rPr lang="pt-BR" dirty="0" smtClean="0">
                <a:solidFill>
                  <a:schemeClr val="tx1"/>
                </a:solidFill>
              </a:rPr>
              <a:t>Os perfis médios de respostas nos </a:t>
            </a:r>
            <a:r>
              <a:rPr lang="pt-BR" i="1" dirty="0" smtClean="0">
                <a:solidFill>
                  <a:schemeClr val="tx1"/>
                </a:solidFill>
              </a:rPr>
              <a:t>m</a:t>
            </a:r>
            <a:r>
              <a:rPr lang="pt-BR" dirty="0" smtClean="0">
                <a:solidFill>
                  <a:schemeClr val="tx1"/>
                </a:solidFill>
              </a:rPr>
              <a:t> níveis da condição de avaliação são dados por</a:t>
            </a:r>
          </a:p>
          <a:p>
            <a:pPr marL="114300" lvl="0" indent="0">
              <a:buNone/>
            </a:pPr>
            <a:endParaRPr lang="pt-BR" dirty="0" smtClean="0">
              <a:solidFill>
                <a:schemeClr val="tx1"/>
              </a:solidFill>
            </a:endParaRPr>
          </a:p>
          <a:p>
            <a:pPr marL="114300" lvl="0" indent="0" algn="ctr">
              <a:buNone/>
            </a:pPr>
            <a:r>
              <a:rPr lang="pt-BR" dirty="0" smtClean="0">
                <a:solidFill>
                  <a:schemeClr val="tx1"/>
                </a:solidFill>
              </a:rPr>
              <a:t>E(</a:t>
            </a:r>
            <a:r>
              <a:rPr lang="pt-BR" b="1" i="1" dirty="0" err="1" smtClean="0">
                <a:solidFill>
                  <a:schemeClr val="tx1"/>
                </a:solidFill>
              </a:rPr>
              <a:t>Y</a:t>
            </a:r>
            <a:r>
              <a:rPr lang="pt-BR" i="1" baseline="-8000" dirty="0" err="1" smtClean="0">
                <a:solidFill>
                  <a:schemeClr val="tx1"/>
                </a:solidFill>
              </a:rPr>
              <a:t>ij</a:t>
            </a:r>
            <a:r>
              <a:rPr lang="pt-BR" i="1" baseline="-8000" dirty="0" smtClean="0">
                <a:solidFill>
                  <a:schemeClr val="tx1"/>
                </a:solidFill>
              </a:rPr>
              <a:t> </a:t>
            </a:r>
            <a:r>
              <a:rPr lang="pt-BR" dirty="0" smtClean="0">
                <a:solidFill>
                  <a:schemeClr val="tx1"/>
                </a:solidFill>
              </a:rPr>
              <a:t>) = </a:t>
            </a:r>
            <a:r>
              <a:rPr lang="pt-BR" b="1" i="1" dirty="0" err="1" smtClean="0">
                <a:solidFill>
                  <a:schemeClr val="tx1"/>
                </a:solidFill>
              </a:rPr>
              <a:t>μ</a:t>
            </a:r>
            <a:r>
              <a:rPr lang="pt-BR" i="1" baseline="-8000" dirty="0" err="1" smtClean="0">
                <a:solidFill>
                  <a:schemeClr val="tx1"/>
                </a:solidFill>
              </a:rPr>
              <a:t>j</a:t>
            </a:r>
            <a:r>
              <a:rPr lang="pt-BR" dirty="0" smtClean="0">
                <a:solidFill>
                  <a:schemeClr val="tx1"/>
                </a:solidFill>
              </a:rPr>
              <a:t> = (</a:t>
            </a:r>
            <a:r>
              <a:rPr lang="pt-BR" i="1" dirty="0" smtClean="0">
                <a:solidFill>
                  <a:schemeClr val="tx1"/>
                </a:solidFill>
              </a:rPr>
              <a:t>μ</a:t>
            </a:r>
            <a:r>
              <a:rPr lang="pt-BR" i="1" baseline="-8000" dirty="0" smtClean="0">
                <a:solidFill>
                  <a:schemeClr val="tx1"/>
                </a:solidFill>
              </a:rPr>
              <a:t>j1</a:t>
            </a:r>
            <a:r>
              <a:rPr lang="pt-BR" dirty="0" smtClean="0">
                <a:solidFill>
                  <a:schemeClr val="tx1"/>
                </a:solidFill>
              </a:rPr>
              <a:t>, ..., </a:t>
            </a:r>
            <a:r>
              <a:rPr lang="pt-BR" i="1" dirty="0" err="1" smtClean="0">
                <a:solidFill>
                  <a:schemeClr val="tx1"/>
                </a:solidFill>
              </a:rPr>
              <a:t>μ</a:t>
            </a:r>
            <a:r>
              <a:rPr lang="pt-BR" i="1" baseline="-8000" dirty="0" err="1" smtClean="0">
                <a:solidFill>
                  <a:schemeClr val="tx1"/>
                </a:solidFill>
              </a:rPr>
              <a:t>jm</a:t>
            </a:r>
            <a:r>
              <a:rPr lang="pt-BR" dirty="0" smtClean="0">
                <a:solidFill>
                  <a:schemeClr val="tx1"/>
                </a:solidFill>
              </a:rPr>
              <a:t>)</a:t>
            </a:r>
            <a:r>
              <a:rPr lang="pt-BR" baseline="30000" dirty="0" smtClean="0">
                <a:solidFill>
                  <a:schemeClr val="tx1"/>
                </a:solidFill>
              </a:rPr>
              <a:t>T</a:t>
            </a:r>
            <a:r>
              <a:rPr lang="pt-BR" dirty="0">
                <a:solidFill>
                  <a:schemeClr val="tx1"/>
                </a:solidFill>
              </a:rPr>
              <a:t>,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i="1" dirty="0" smtClean="0">
                <a:solidFill>
                  <a:schemeClr val="tx1"/>
                </a:solidFill>
              </a:rPr>
              <a:t>j</a:t>
            </a:r>
            <a:r>
              <a:rPr lang="pt-BR" dirty="0" smtClean="0">
                <a:solidFill>
                  <a:schemeClr val="tx1"/>
                </a:solidFill>
              </a:rPr>
              <a:t> = 1, ..., </a:t>
            </a:r>
            <a:r>
              <a:rPr lang="pt-BR" i="1" dirty="0" smtClean="0">
                <a:solidFill>
                  <a:schemeClr val="tx1"/>
                </a:solidFill>
              </a:rPr>
              <a:t>p</a:t>
            </a:r>
            <a:r>
              <a:rPr lang="pt-BR" dirty="0" smtClean="0">
                <a:solidFill>
                  <a:schemeClr val="tx1"/>
                </a:solidFill>
              </a:rPr>
              <a:t>.</a:t>
            </a:r>
          </a:p>
          <a:p>
            <a:pPr marL="114300" lvl="0" indent="0" algn="ctr">
              <a:buNone/>
            </a:pPr>
            <a:endParaRPr lang="pt-BR" dirty="0">
              <a:solidFill>
                <a:schemeClr val="tx1"/>
              </a:solidFill>
            </a:endParaRPr>
          </a:p>
          <a:p>
            <a:pPr marL="114300" lvl="0" indent="0" algn="ctr">
              <a:buNone/>
            </a:pPr>
            <a:endParaRPr lang="pt-BR" dirty="0" smtClean="0">
              <a:solidFill>
                <a:schemeClr val="tx1"/>
              </a:solidFill>
            </a:endParaRPr>
          </a:p>
          <a:p>
            <a:pPr algn="just"/>
            <a:endParaRPr lang="pt-BR" sz="16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12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311700" y="330724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b="1" cap="small" dirty="0" smtClean="0"/>
              <a:t>Perfis Médios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8815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402769"/>
            <a:ext cx="8520600" cy="2698510"/>
          </a:xfrm>
        </p:spPr>
        <p:txBody>
          <a:bodyPr>
            <a:noAutofit/>
          </a:bodyPr>
          <a:lstStyle/>
          <a:p>
            <a:pPr marL="114300" lvl="0" indent="0">
              <a:buNone/>
            </a:pPr>
            <a:r>
              <a:rPr lang="pt-BR" sz="1600" dirty="0" smtClean="0">
                <a:solidFill>
                  <a:schemeClr val="tx1"/>
                </a:solidFill>
              </a:rPr>
              <a:t>Neste caso, </a:t>
            </a:r>
            <a:r>
              <a:rPr lang="pt-BR" sz="1600" i="1" dirty="0" smtClean="0">
                <a:solidFill>
                  <a:schemeClr val="tx1"/>
                </a:solidFill>
              </a:rPr>
              <a:t>p</a:t>
            </a:r>
            <a:r>
              <a:rPr lang="pt-BR" sz="1600" dirty="0" smtClean="0">
                <a:solidFill>
                  <a:schemeClr val="tx1"/>
                </a:solidFill>
              </a:rPr>
              <a:t>=2 e, assim, o perfil médio do tratamento </a:t>
            </a:r>
            <a:r>
              <a:rPr lang="pt-BR" sz="1600" i="1" dirty="0" smtClean="0">
                <a:solidFill>
                  <a:schemeClr val="tx1"/>
                </a:solidFill>
              </a:rPr>
              <a:t>j</a:t>
            </a:r>
            <a:r>
              <a:rPr lang="pt-BR" sz="1600" dirty="0" smtClean="0">
                <a:solidFill>
                  <a:schemeClr val="tx1"/>
                </a:solidFill>
              </a:rPr>
              <a:t>=1 é </a:t>
            </a:r>
          </a:p>
          <a:p>
            <a:pPr marL="114300" lvl="0" indent="0">
              <a:buNone/>
            </a:pPr>
            <a:endParaRPr lang="pt-BR" sz="1600" dirty="0">
              <a:solidFill>
                <a:schemeClr val="tx1"/>
              </a:solidFill>
            </a:endParaRPr>
          </a:p>
          <a:p>
            <a:pPr marL="114300" lvl="0" indent="0" algn="ctr">
              <a:buNone/>
            </a:pPr>
            <a:r>
              <a:rPr lang="pt-BR" sz="1600" dirty="0" smtClean="0">
                <a:solidFill>
                  <a:schemeClr val="tx1"/>
                </a:solidFill>
              </a:rPr>
              <a:t> </a:t>
            </a:r>
            <a:r>
              <a:rPr lang="pt-BR" sz="1600" b="1" i="1" dirty="0" smtClean="0">
                <a:solidFill>
                  <a:schemeClr val="tx1"/>
                </a:solidFill>
              </a:rPr>
              <a:t>μ</a:t>
            </a:r>
            <a:r>
              <a:rPr lang="pt-BR" sz="1600" b="1" i="1" baseline="-25000" dirty="0" smtClean="0">
                <a:solidFill>
                  <a:schemeClr val="tx1"/>
                </a:solidFill>
              </a:rPr>
              <a:t>1</a:t>
            </a:r>
            <a:r>
              <a:rPr lang="pt-BR" sz="1600" dirty="0" smtClean="0">
                <a:solidFill>
                  <a:schemeClr val="tx1"/>
                </a:solidFill>
              </a:rPr>
              <a:t> </a:t>
            </a:r>
            <a:r>
              <a:rPr lang="pt-BR" sz="1600" dirty="0">
                <a:solidFill>
                  <a:schemeClr val="tx1"/>
                </a:solidFill>
              </a:rPr>
              <a:t>= (</a:t>
            </a:r>
            <a:r>
              <a:rPr lang="pt-BR" sz="1600" i="1" dirty="0" smtClean="0">
                <a:solidFill>
                  <a:schemeClr val="tx1"/>
                </a:solidFill>
              </a:rPr>
              <a:t>μ</a:t>
            </a:r>
            <a:r>
              <a:rPr lang="pt-BR" sz="1600" i="1" baseline="-8000" dirty="0" smtClean="0">
                <a:solidFill>
                  <a:schemeClr val="tx1"/>
                </a:solidFill>
              </a:rPr>
              <a:t>11</a:t>
            </a:r>
            <a:r>
              <a:rPr lang="pt-BR" sz="1600" dirty="0" smtClean="0">
                <a:solidFill>
                  <a:schemeClr val="tx1"/>
                </a:solidFill>
              </a:rPr>
              <a:t>, </a:t>
            </a:r>
            <a:r>
              <a:rPr lang="pt-BR" sz="1600" i="1" dirty="0" smtClean="0">
                <a:solidFill>
                  <a:schemeClr val="tx1"/>
                </a:solidFill>
              </a:rPr>
              <a:t>μ</a:t>
            </a:r>
            <a:r>
              <a:rPr lang="pt-BR" sz="1600" i="1" baseline="-8000" dirty="0" smtClean="0">
                <a:solidFill>
                  <a:schemeClr val="tx1"/>
                </a:solidFill>
              </a:rPr>
              <a:t>12</a:t>
            </a:r>
            <a:r>
              <a:rPr lang="pt-BR" sz="1600" dirty="0" smtClean="0">
                <a:solidFill>
                  <a:schemeClr val="tx1"/>
                </a:solidFill>
              </a:rPr>
              <a:t>, ..., </a:t>
            </a:r>
            <a:r>
              <a:rPr lang="pt-BR" sz="1600" i="1" dirty="0" smtClean="0">
                <a:solidFill>
                  <a:schemeClr val="tx1"/>
                </a:solidFill>
              </a:rPr>
              <a:t>μ</a:t>
            </a:r>
            <a:r>
              <a:rPr lang="pt-BR" sz="1600" i="1" baseline="-8000" dirty="0" smtClean="0">
                <a:solidFill>
                  <a:schemeClr val="tx1"/>
                </a:solidFill>
              </a:rPr>
              <a:t>1m</a:t>
            </a:r>
            <a:r>
              <a:rPr lang="pt-BR" sz="1600" dirty="0" smtClean="0">
                <a:solidFill>
                  <a:schemeClr val="tx1"/>
                </a:solidFill>
              </a:rPr>
              <a:t>)</a:t>
            </a:r>
            <a:r>
              <a:rPr lang="pt-BR" sz="1600" baseline="30000" dirty="0" smtClean="0">
                <a:solidFill>
                  <a:schemeClr val="tx1"/>
                </a:solidFill>
              </a:rPr>
              <a:t>T</a:t>
            </a:r>
          </a:p>
          <a:p>
            <a:pPr marL="114300" lvl="0" indent="0" algn="ctr">
              <a:buNone/>
            </a:pPr>
            <a:endParaRPr lang="pt-BR" sz="1600" baseline="30000" dirty="0" smtClean="0">
              <a:solidFill>
                <a:schemeClr val="tx1"/>
              </a:solidFill>
            </a:endParaRPr>
          </a:p>
          <a:p>
            <a:pPr marL="114300" lvl="0" indent="0">
              <a:buNone/>
            </a:pPr>
            <a:endParaRPr lang="pt-BR" sz="1600" baseline="30000" dirty="0">
              <a:solidFill>
                <a:schemeClr val="tx1"/>
              </a:solidFill>
            </a:endParaRPr>
          </a:p>
          <a:p>
            <a:pPr marL="114300" lvl="0" indent="0">
              <a:buNone/>
            </a:pPr>
            <a:r>
              <a:rPr lang="pt-BR" sz="1600" dirty="0" smtClean="0">
                <a:solidFill>
                  <a:schemeClr val="tx1"/>
                </a:solidFill>
              </a:rPr>
              <a:t>e </a:t>
            </a:r>
            <a:r>
              <a:rPr lang="pt-BR" sz="1600" dirty="0">
                <a:solidFill>
                  <a:schemeClr val="tx1"/>
                </a:solidFill>
              </a:rPr>
              <a:t>o perfil médio do tratamento </a:t>
            </a:r>
            <a:r>
              <a:rPr lang="pt-BR" sz="1600" i="1" dirty="0" smtClean="0">
                <a:solidFill>
                  <a:schemeClr val="tx1"/>
                </a:solidFill>
              </a:rPr>
              <a:t>j</a:t>
            </a:r>
            <a:r>
              <a:rPr lang="pt-BR" sz="1600" dirty="0" smtClean="0">
                <a:solidFill>
                  <a:schemeClr val="tx1"/>
                </a:solidFill>
              </a:rPr>
              <a:t>=2 é</a:t>
            </a:r>
          </a:p>
          <a:p>
            <a:pPr marL="114300" lvl="0" indent="0">
              <a:buNone/>
            </a:pPr>
            <a:endParaRPr lang="pt-BR" sz="1600" dirty="0" smtClean="0">
              <a:solidFill>
                <a:schemeClr val="tx1"/>
              </a:solidFill>
            </a:endParaRPr>
          </a:p>
          <a:p>
            <a:pPr marL="114300" lvl="0" indent="0">
              <a:buNone/>
            </a:pPr>
            <a:endParaRPr lang="pt-BR" sz="1600" dirty="0">
              <a:solidFill>
                <a:schemeClr val="tx1"/>
              </a:solidFill>
            </a:endParaRPr>
          </a:p>
          <a:p>
            <a:pPr marL="114300" lvl="0" indent="0" algn="ctr">
              <a:buNone/>
            </a:pPr>
            <a:r>
              <a:rPr lang="pt-BR" sz="1600" dirty="0" smtClean="0">
                <a:solidFill>
                  <a:schemeClr val="tx1"/>
                </a:solidFill>
              </a:rPr>
              <a:t> </a:t>
            </a:r>
            <a:r>
              <a:rPr lang="pt-BR" sz="1600" b="1" i="1" dirty="0" smtClean="0">
                <a:solidFill>
                  <a:schemeClr val="tx1"/>
                </a:solidFill>
              </a:rPr>
              <a:t>μ</a:t>
            </a:r>
            <a:r>
              <a:rPr lang="pt-BR" sz="1600" b="1" i="1" baseline="-25000" dirty="0" smtClean="0">
                <a:solidFill>
                  <a:schemeClr val="tx1"/>
                </a:solidFill>
              </a:rPr>
              <a:t>2</a:t>
            </a:r>
            <a:r>
              <a:rPr lang="pt-BR" sz="1600" dirty="0" smtClean="0">
                <a:solidFill>
                  <a:schemeClr val="tx1"/>
                </a:solidFill>
              </a:rPr>
              <a:t> </a:t>
            </a:r>
            <a:r>
              <a:rPr lang="pt-BR" sz="1600" dirty="0">
                <a:solidFill>
                  <a:schemeClr val="tx1"/>
                </a:solidFill>
              </a:rPr>
              <a:t>= (</a:t>
            </a:r>
            <a:r>
              <a:rPr lang="pt-BR" sz="1600" i="1" dirty="0" smtClean="0">
                <a:solidFill>
                  <a:schemeClr val="tx1"/>
                </a:solidFill>
              </a:rPr>
              <a:t>μ</a:t>
            </a:r>
            <a:r>
              <a:rPr lang="pt-BR" sz="1600" i="1" baseline="-8000" dirty="0" smtClean="0">
                <a:solidFill>
                  <a:schemeClr val="tx1"/>
                </a:solidFill>
              </a:rPr>
              <a:t>21</a:t>
            </a:r>
            <a:r>
              <a:rPr lang="pt-BR" sz="1600" dirty="0">
                <a:solidFill>
                  <a:schemeClr val="tx1"/>
                </a:solidFill>
              </a:rPr>
              <a:t>, </a:t>
            </a:r>
            <a:r>
              <a:rPr lang="pt-BR" sz="1600" i="1" dirty="0" smtClean="0">
                <a:solidFill>
                  <a:schemeClr val="tx1"/>
                </a:solidFill>
              </a:rPr>
              <a:t>μ</a:t>
            </a:r>
            <a:r>
              <a:rPr lang="pt-BR" sz="1600" i="1" baseline="-8000" dirty="0" smtClean="0">
                <a:solidFill>
                  <a:schemeClr val="tx1"/>
                </a:solidFill>
              </a:rPr>
              <a:t>22</a:t>
            </a:r>
            <a:r>
              <a:rPr lang="pt-BR" sz="1600" dirty="0">
                <a:solidFill>
                  <a:schemeClr val="tx1"/>
                </a:solidFill>
              </a:rPr>
              <a:t>, ..., </a:t>
            </a:r>
            <a:r>
              <a:rPr lang="pt-BR" sz="1600" i="1" dirty="0" smtClean="0">
                <a:solidFill>
                  <a:schemeClr val="tx1"/>
                </a:solidFill>
              </a:rPr>
              <a:t>μ</a:t>
            </a:r>
            <a:r>
              <a:rPr lang="pt-BR" sz="1600" i="1" baseline="-8000" dirty="0" smtClean="0">
                <a:solidFill>
                  <a:schemeClr val="tx1"/>
                </a:solidFill>
              </a:rPr>
              <a:t>2m</a:t>
            </a:r>
            <a:r>
              <a:rPr lang="pt-BR" sz="1600" dirty="0" smtClean="0">
                <a:solidFill>
                  <a:schemeClr val="tx1"/>
                </a:solidFill>
              </a:rPr>
              <a:t>)</a:t>
            </a:r>
            <a:r>
              <a:rPr lang="pt-BR" sz="1600" baseline="30000" dirty="0" smtClean="0">
                <a:solidFill>
                  <a:schemeClr val="tx1"/>
                </a:solidFill>
              </a:rPr>
              <a:t>T</a:t>
            </a:r>
            <a:r>
              <a:rPr lang="pt-BR" sz="1600" dirty="0" smtClean="0">
                <a:solidFill>
                  <a:schemeClr val="tx1"/>
                </a:solidFill>
              </a:rPr>
              <a:t>.</a:t>
            </a:r>
            <a:endParaRPr lang="pt-BR" sz="16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13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311700" y="35150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b="1" cap="small" dirty="0" smtClean="0"/>
              <a:t>Comparação de </a:t>
            </a:r>
            <a:r>
              <a:rPr lang="pt-BR" b="1" cap="small" dirty="0"/>
              <a:t>Dois </a:t>
            </a:r>
            <a:r>
              <a:rPr lang="pt-BR" b="1" cap="small" dirty="0" smtClean="0"/>
              <a:t>Tratamentos </a:t>
            </a:r>
            <a:r>
              <a:rPr lang="pt-BR" b="1" cap="small" dirty="0"/>
              <a:t>(Populações)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3595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589819"/>
            <a:ext cx="8520600" cy="1870365"/>
          </a:xfrm>
        </p:spPr>
        <p:txBody>
          <a:bodyPr>
            <a:normAutofit/>
          </a:bodyPr>
          <a:lstStyle/>
          <a:p>
            <a:pPr marL="93663" lvl="0" indent="-11113" algn="just">
              <a:buNone/>
            </a:pPr>
            <a:r>
              <a:rPr lang="pt-BR" dirty="0" smtClean="0"/>
              <a:t>A hipótese correspondente aos </a:t>
            </a:r>
            <a:r>
              <a:rPr lang="pt-BR" dirty="0"/>
              <a:t>tratamentos </a:t>
            </a:r>
            <a:r>
              <a:rPr lang="pt-BR" dirty="0" smtClean="0"/>
              <a:t>ter </a:t>
            </a:r>
            <a:r>
              <a:rPr lang="pt-BR" dirty="0"/>
              <a:t>o mesmo efeito médio nas </a:t>
            </a:r>
            <a:r>
              <a:rPr lang="pt-BR" dirty="0" smtClean="0"/>
              <a:t>duas populações é dada por </a:t>
            </a:r>
            <a:endParaRPr lang="pt-BR" dirty="0"/>
          </a:p>
          <a:p>
            <a:pPr algn="just"/>
            <a:endParaRPr lang="pt-BR" dirty="0" smtClean="0"/>
          </a:p>
          <a:p>
            <a:pPr algn="just"/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14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463562"/>
              </p:ext>
            </p:extLst>
          </p:nvPr>
        </p:nvGraphicFramePr>
        <p:xfrm>
          <a:off x="3491355" y="2867905"/>
          <a:ext cx="14954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Equação" r:id="rId3" imgW="749300" imgH="228600" progId="Equation.3">
                  <p:embed/>
                </p:oleObj>
              </mc:Choice>
              <mc:Fallback>
                <p:oleObj name="Equação" r:id="rId3" imgW="7493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355" y="2867905"/>
                        <a:ext cx="1495425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311700" y="35150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b="1" cap="small" dirty="0" smtClean="0"/>
              <a:t>Comparação de </a:t>
            </a:r>
            <a:r>
              <a:rPr lang="pt-BR" b="1" cap="small" dirty="0"/>
              <a:t>Dois </a:t>
            </a:r>
            <a:r>
              <a:rPr lang="pt-BR" b="1" cap="small" dirty="0" smtClean="0"/>
              <a:t>Tratamentos </a:t>
            </a:r>
            <a:r>
              <a:rPr lang="pt-BR" b="1" cap="small" dirty="0"/>
              <a:t>(Populações)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040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15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40326" y="1187921"/>
            <a:ext cx="7645473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dirty="0"/>
              <a:t>As </a:t>
            </a:r>
            <a:r>
              <a:rPr lang="pt-BR" sz="1800" dirty="0" smtClean="0"/>
              <a:t>questões anteriores podem escritas da </a:t>
            </a:r>
            <a:r>
              <a:rPr lang="pt-BR" sz="1800" dirty="0"/>
              <a:t>seguinte forma</a:t>
            </a:r>
            <a:r>
              <a:rPr lang="pt-BR" sz="1800" dirty="0" smtClean="0"/>
              <a:t>:</a:t>
            </a:r>
          </a:p>
          <a:p>
            <a:endParaRPr lang="pt-BR" sz="1800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800" b="1" dirty="0"/>
              <a:t>Os perfis são paralelos</a:t>
            </a:r>
            <a:r>
              <a:rPr lang="pt-BR" sz="1800" b="1" dirty="0" smtClean="0"/>
              <a:t>?</a:t>
            </a:r>
          </a:p>
          <a:p>
            <a:pPr marL="400050" lvl="0" indent="-400050">
              <a:buFont typeface="+mj-lt"/>
              <a:buAutoNum type="romanUcPeriod"/>
            </a:pPr>
            <a:endParaRPr lang="pt-BR" sz="1800" b="1" dirty="0"/>
          </a:p>
          <a:p>
            <a:pPr marL="400050" lvl="0" indent="-400050">
              <a:buFont typeface="+mj-lt"/>
              <a:buAutoNum type="romanUcPeriod"/>
            </a:pPr>
            <a:endParaRPr lang="pt-BR" sz="1800" b="1" dirty="0" smtClean="0"/>
          </a:p>
          <a:p>
            <a:pPr lvl="0" algn="ctr"/>
            <a:r>
              <a:rPr lang="pt-BR" sz="1800" dirty="0" smtClean="0"/>
              <a:t>H</a:t>
            </a:r>
            <a:r>
              <a:rPr lang="pt-BR" sz="1800" baseline="-25000" dirty="0" smtClean="0"/>
              <a:t>01</a:t>
            </a:r>
            <a:r>
              <a:rPr lang="pt-BR" sz="1800" dirty="0" smtClean="0"/>
              <a:t>: μ</a:t>
            </a:r>
            <a:r>
              <a:rPr lang="pt-BR" sz="1800" baseline="-25000" dirty="0" smtClean="0"/>
              <a:t>1k</a:t>
            </a:r>
            <a:r>
              <a:rPr lang="pt-BR" sz="1800" dirty="0" smtClean="0"/>
              <a:t> - μ</a:t>
            </a:r>
            <a:r>
              <a:rPr lang="pt-BR" sz="1800" baseline="-25000" dirty="0" smtClean="0"/>
              <a:t>1k-1 </a:t>
            </a:r>
            <a:r>
              <a:rPr lang="pt-BR" sz="1800" dirty="0" smtClean="0"/>
              <a:t>=</a:t>
            </a:r>
            <a:r>
              <a:rPr lang="pt-BR" sz="1800" baseline="-25000" dirty="0" smtClean="0"/>
              <a:t> </a:t>
            </a:r>
            <a:r>
              <a:rPr lang="pt-BR" sz="1800" dirty="0" smtClean="0"/>
              <a:t>μ</a:t>
            </a:r>
            <a:r>
              <a:rPr lang="pt-BR" sz="1800" baseline="-25000" dirty="0" smtClean="0"/>
              <a:t>2k</a:t>
            </a:r>
            <a:r>
              <a:rPr lang="pt-BR" sz="1800" dirty="0" smtClean="0"/>
              <a:t> - μ</a:t>
            </a:r>
            <a:r>
              <a:rPr lang="pt-BR" sz="1800" baseline="-25000" dirty="0" smtClean="0"/>
              <a:t>2k-1</a:t>
            </a:r>
            <a:r>
              <a:rPr lang="pt-BR" sz="1800" dirty="0" smtClean="0"/>
              <a:t>,</a:t>
            </a:r>
          </a:p>
          <a:p>
            <a:pPr lvl="0" algn="ctr"/>
            <a:endParaRPr lang="pt-BR" sz="1800" dirty="0" smtClean="0"/>
          </a:p>
          <a:p>
            <a:pPr lvl="0" algn="ctr"/>
            <a:endParaRPr lang="pt-BR" sz="1800" dirty="0" smtClean="0"/>
          </a:p>
          <a:p>
            <a:pPr lvl="0">
              <a:buNone/>
            </a:pPr>
            <a:r>
              <a:rPr lang="pt-BR" sz="1800" dirty="0" smtClean="0">
                <a:solidFill>
                  <a:schemeClr val="tx1"/>
                </a:solidFill>
              </a:rPr>
              <a:t>para </a:t>
            </a:r>
            <a:r>
              <a:rPr lang="pt-BR" sz="1800" i="1" dirty="0">
                <a:solidFill>
                  <a:schemeClr val="tx1"/>
                </a:solidFill>
              </a:rPr>
              <a:t>k </a:t>
            </a:r>
            <a:r>
              <a:rPr lang="pt-BR" sz="1800" dirty="0">
                <a:solidFill>
                  <a:schemeClr val="tx1"/>
                </a:solidFill>
              </a:rPr>
              <a:t>= 1, 2, ..., </a:t>
            </a:r>
            <a:r>
              <a:rPr lang="pt-BR" sz="1800" i="1" dirty="0">
                <a:solidFill>
                  <a:schemeClr val="tx1"/>
                </a:solidFill>
              </a:rPr>
              <a:t>m</a:t>
            </a:r>
            <a:r>
              <a:rPr lang="pt-BR" sz="1800" dirty="0"/>
              <a:t>.</a:t>
            </a:r>
          </a:p>
          <a:p>
            <a:pPr lvl="0">
              <a:buNone/>
            </a:pPr>
            <a:endParaRPr lang="pt-BR" sz="1800" dirty="0"/>
          </a:p>
          <a:p>
            <a:pPr lvl="0" algn="ctr"/>
            <a:endParaRPr lang="pt-BR" sz="1800" dirty="0"/>
          </a:p>
          <a:p>
            <a:endParaRPr lang="pt-BR" dirty="0"/>
          </a:p>
        </p:txBody>
      </p:sp>
      <p:sp>
        <p:nvSpPr>
          <p:cNvPr id="13" name="Título 1"/>
          <p:cNvSpPr>
            <a:spLocks noGrp="1"/>
          </p:cNvSpPr>
          <p:nvPr>
            <p:ph type="title"/>
          </p:nvPr>
        </p:nvSpPr>
        <p:spPr>
          <a:xfrm>
            <a:off x="311700" y="35150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b="1" cap="small" dirty="0" smtClean="0"/>
              <a:t>Comparação de </a:t>
            </a:r>
            <a:r>
              <a:rPr lang="pt-BR" b="1" cap="small" dirty="0"/>
              <a:t>Dois </a:t>
            </a:r>
            <a:r>
              <a:rPr lang="pt-BR" b="1" cap="small" dirty="0" smtClean="0"/>
              <a:t>Tratamentos </a:t>
            </a:r>
            <a:r>
              <a:rPr lang="pt-BR" b="1" cap="small" dirty="0"/>
              <a:t>(Populações)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899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16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257642" y="512914"/>
            <a:ext cx="4186200" cy="381642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93;p17"/>
          <p:cNvSpPr txBox="1">
            <a:spLocks noGrp="1"/>
          </p:cNvSpPr>
          <p:nvPr>
            <p:ph type="body" idx="1"/>
          </p:nvPr>
        </p:nvSpPr>
        <p:spPr>
          <a:xfrm>
            <a:off x="2906759" y="102666"/>
            <a:ext cx="8520600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chemeClr val="accent1"/>
                </a:solidFill>
              </a:rPr>
              <a:t>Figura </a:t>
            </a:r>
            <a:r>
              <a:rPr lang="pt-BR" sz="1600" b="1" dirty="0">
                <a:solidFill>
                  <a:schemeClr val="accent1"/>
                </a:solidFill>
              </a:rPr>
              <a:t>2</a:t>
            </a:r>
            <a:r>
              <a:rPr lang="pt-BR" sz="1600" b="1" dirty="0" smtClean="0">
                <a:solidFill>
                  <a:schemeClr val="accent1"/>
                </a:solidFill>
              </a:rPr>
              <a:t>: </a:t>
            </a:r>
            <a:r>
              <a:rPr lang="pt-BR" sz="1600" dirty="0" smtClean="0">
                <a:solidFill>
                  <a:schemeClr val="tx1"/>
                </a:solidFill>
              </a:rPr>
              <a:t>Gráfico de perfis </a:t>
            </a:r>
            <a:r>
              <a:rPr lang="pt-BR" sz="1600" dirty="0">
                <a:solidFill>
                  <a:schemeClr val="tx1"/>
                </a:solidFill>
              </a:rPr>
              <a:t>m</a:t>
            </a:r>
            <a:r>
              <a:rPr lang="pt-BR" sz="1600" dirty="0" smtClean="0">
                <a:solidFill>
                  <a:schemeClr val="tx1"/>
                </a:solidFill>
              </a:rPr>
              <a:t>édios.</a:t>
            </a:r>
            <a:endParaRPr sz="1600" dirty="0">
              <a:solidFill>
                <a:schemeClr val="tx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11" name="Google Shape;96;p17"/>
          <p:cNvSpPr txBox="1">
            <a:spLocks/>
          </p:cNvSpPr>
          <p:nvPr/>
        </p:nvSpPr>
        <p:spPr>
          <a:xfrm>
            <a:off x="260565" y="4295580"/>
            <a:ext cx="85206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pt-BR" sz="1200" b="1" dirty="0" smtClean="0">
                <a:solidFill>
                  <a:schemeClr val="dk1"/>
                </a:solidFill>
              </a:rPr>
              <a:t>Fonte: </a:t>
            </a:r>
            <a:r>
              <a:rPr lang="pt-BR" sz="1200" dirty="0" smtClean="0">
                <a:solidFill>
                  <a:schemeClr val="dk1"/>
                </a:solidFill>
              </a:rPr>
              <a:t>https://www.ime.usp.br/~jmsinger/MAE0610/Singer&amp;Nobre&amp;Rocha2018jun.pdf</a:t>
            </a:r>
            <a:endParaRPr lang="pt-BR" sz="1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927027"/>
            <a:ext cx="8520600" cy="1870365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pt-BR" dirty="0" smtClean="0"/>
              <a:t> Matricialmente:</a:t>
            </a:r>
          </a:p>
          <a:p>
            <a:pPr lvl="0">
              <a:buNone/>
            </a:pPr>
            <a:endParaRPr lang="pt-BR" b="1" dirty="0"/>
          </a:p>
          <a:p>
            <a:pPr lvl="0">
              <a:buNone/>
            </a:pPr>
            <a:endParaRPr lang="pt-BR" b="1" dirty="0" smtClean="0"/>
          </a:p>
          <a:p>
            <a:pPr lvl="0">
              <a:buNone/>
            </a:pPr>
            <a:endParaRPr lang="pt-BR" b="1" dirty="0"/>
          </a:p>
          <a:p>
            <a:pPr lvl="0">
              <a:buNone/>
            </a:pPr>
            <a:endParaRPr lang="pt-BR" dirty="0"/>
          </a:p>
          <a:p>
            <a:pPr lvl="0">
              <a:buNone/>
            </a:pPr>
            <a:endParaRPr lang="pt-BR" dirty="0" smtClean="0"/>
          </a:p>
          <a:p>
            <a:pPr algn="just"/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17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678103"/>
              </p:ext>
            </p:extLst>
          </p:nvPr>
        </p:nvGraphicFramePr>
        <p:xfrm>
          <a:off x="1080655" y="3117277"/>
          <a:ext cx="1959290" cy="444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7" name="Equação" r:id="rId3" imgW="1002865" imgH="228501" progId="Equation.3">
                  <p:embed/>
                </p:oleObj>
              </mc:Choice>
              <mc:Fallback>
                <p:oleObj name="Equação" r:id="rId3" imgW="1002865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655" y="3117277"/>
                        <a:ext cx="1959290" cy="4442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10" name="Objeto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596175"/>
              </p:ext>
            </p:extLst>
          </p:nvPr>
        </p:nvGraphicFramePr>
        <p:xfrm>
          <a:off x="4446190" y="2691237"/>
          <a:ext cx="3231297" cy="1361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8" name="Equação" r:id="rId5" imgW="2171700" imgH="914400" progId="Equation.3">
                  <p:embed/>
                </p:oleObj>
              </mc:Choice>
              <mc:Fallback>
                <p:oleObj name="Equação" r:id="rId5" imgW="21717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190" y="2691237"/>
                        <a:ext cx="3231297" cy="13617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tângulo 10"/>
          <p:cNvSpPr/>
          <p:nvPr/>
        </p:nvSpPr>
        <p:spPr>
          <a:xfrm>
            <a:off x="540326" y="1187921"/>
            <a:ext cx="76454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pt-BR" sz="1800" b="1" dirty="0" smtClean="0"/>
              <a:t>Os </a:t>
            </a:r>
            <a:r>
              <a:rPr lang="pt-BR" sz="1800" b="1" dirty="0"/>
              <a:t>perfis são paralelos?</a:t>
            </a:r>
            <a:endParaRPr lang="pt-BR" sz="1800" dirty="0"/>
          </a:p>
          <a:p>
            <a:endParaRPr lang="pt-BR" dirty="0"/>
          </a:p>
        </p:txBody>
      </p:sp>
      <p:sp>
        <p:nvSpPr>
          <p:cNvPr id="13" name="Título 1"/>
          <p:cNvSpPr>
            <a:spLocks noGrp="1"/>
          </p:cNvSpPr>
          <p:nvPr>
            <p:ph type="title"/>
          </p:nvPr>
        </p:nvSpPr>
        <p:spPr>
          <a:xfrm>
            <a:off x="311700" y="35150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b="1" cap="small" dirty="0" smtClean="0"/>
              <a:t>Comparação de </a:t>
            </a:r>
            <a:r>
              <a:rPr lang="pt-BR" b="1" cap="small" dirty="0"/>
              <a:t>Dois </a:t>
            </a:r>
            <a:r>
              <a:rPr lang="pt-BR" b="1" cap="small" dirty="0" smtClean="0"/>
              <a:t>Tratamentos </a:t>
            </a:r>
            <a:r>
              <a:rPr lang="pt-BR" b="1" cap="small" dirty="0"/>
              <a:t>(Populações)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753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392378"/>
            <a:ext cx="8520600" cy="187036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pt-BR" dirty="0">
                <a:solidFill>
                  <a:schemeClr val="tx1"/>
                </a:solidFill>
              </a:rPr>
              <a:t>Considerando que as duas populações são normais rejeitaremos H</a:t>
            </a:r>
            <a:r>
              <a:rPr lang="pt-BR" baseline="-25000" dirty="0">
                <a:solidFill>
                  <a:schemeClr val="tx1"/>
                </a:solidFill>
              </a:rPr>
              <a:t>01</a:t>
            </a:r>
            <a:r>
              <a:rPr lang="pt-BR" dirty="0">
                <a:solidFill>
                  <a:schemeClr val="tx1"/>
                </a:solidFill>
              </a:rPr>
              <a:t> ao nível de significância </a:t>
            </a:r>
            <a:r>
              <a:rPr lang="pt-BR" dirty="0">
                <a:solidFill>
                  <a:schemeClr val="tx1"/>
                </a:solidFill>
                <a:sym typeface="Symbol"/>
              </a:rPr>
              <a:t></a:t>
            </a:r>
            <a:r>
              <a:rPr lang="pt-BR" dirty="0">
                <a:solidFill>
                  <a:schemeClr val="tx1"/>
                </a:solidFill>
              </a:rPr>
              <a:t> se </a:t>
            </a:r>
          </a:p>
          <a:p>
            <a:pPr algn="just"/>
            <a:endParaRPr lang="pt-BR" dirty="0">
              <a:solidFill>
                <a:schemeClr val="tx1"/>
              </a:solidFill>
            </a:endParaRPr>
          </a:p>
          <a:p>
            <a:pPr algn="just"/>
            <a:endParaRPr lang="pt-BR" dirty="0" smtClean="0"/>
          </a:p>
          <a:p>
            <a:pPr algn="just"/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18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2024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663" y="2520231"/>
            <a:ext cx="61626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887480"/>
              </p:ext>
            </p:extLst>
          </p:nvPr>
        </p:nvGraphicFramePr>
        <p:xfrm>
          <a:off x="2327579" y="3616037"/>
          <a:ext cx="42862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" name="Equação" r:id="rId4" imgW="1879600" imgH="279400" progId="Equation.3">
                  <p:embed/>
                </p:oleObj>
              </mc:Choice>
              <mc:Fallback>
                <p:oleObj name="Equação" r:id="rId4" imgW="1879600" imgH="279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579" y="3616037"/>
                        <a:ext cx="4286250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311700" y="35150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b="1" cap="small" dirty="0" smtClean="0"/>
              <a:t>Comparação de </a:t>
            </a:r>
            <a:r>
              <a:rPr lang="pt-BR" b="1" cap="small" dirty="0"/>
              <a:t>Dois </a:t>
            </a:r>
            <a:r>
              <a:rPr lang="pt-BR" b="1" cap="small" dirty="0" smtClean="0"/>
              <a:t>Tratamentos </a:t>
            </a:r>
            <a:r>
              <a:rPr lang="pt-BR" b="1" cap="small" dirty="0"/>
              <a:t>(Populações)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173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537852"/>
            <a:ext cx="8520600" cy="187036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pt-BR" dirty="0"/>
          </a:p>
          <a:p>
            <a:pPr marL="114300" indent="0">
              <a:buNone/>
            </a:pPr>
            <a:r>
              <a:rPr lang="pt-BR" sz="2000" b="1" dirty="0">
                <a:solidFill>
                  <a:schemeClr val="tx1"/>
                </a:solidFill>
              </a:rPr>
              <a:t>Caso H</a:t>
            </a:r>
            <a:r>
              <a:rPr lang="pt-BR" sz="2000" b="1" baseline="-25000" dirty="0">
                <a:solidFill>
                  <a:schemeClr val="tx1"/>
                </a:solidFill>
              </a:rPr>
              <a:t>01</a:t>
            </a:r>
            <a:r>
              <a:rPr lang="pt-BR" sz="2000" b="1" dirty="0">
                <a:solidFill>
                  <a:schemeClr val="tx1"/>
                </a:solidFill>
              </a:rPr>
              <a:t> seja rejeitado</a:t>
            </a:r>
            <a:r>
              <a:rPr lang="pt-BR" sz="2000" dirty="0" smtClean="0">
                <a:solidFill>
                  <a:schemeClr val="tx1"/>
                </a:solidFill>
              </a:rPr>
              <a:t>:</a:t>
            </a:r>
          </a:p>
          <a:p>
            <a:pPr marL="114300" indent="0">
              <a:buNone/>
            </a:pPr>
            <a:endParaRPr lang="pt-BR" dirty="0">
              <a:solidFill>
                <a:schemeClr val="tx1"/>
              </a:solidFill>
            </a:endParaRPr>
          </a:p>
          <a:p>
            <a:pPr marL="114300" indent="0" algn="ctr">
              <a:buNone/>
            </a:pPr>
            <a:r>
              <a:rPr lang="pt-BR" sz="2800" cap="small" dirty="0" smtClean="0">
                <a:solidFill>
                  <a:schemeClr val="tx1"/>
                </a:solidFill>
              </a:rPr>
              <a:t>Estudar </a:t>
            </a:r>
            <a:r>
              <a:rPr lang="pt-BR" sz="2800" cap="small" dirty="0">
                <a:solidFill>
                  <a:schemeClr val="tx1"/>
                </a:solidFill>
              </a:rPr>
              <a:t>os grupos dentro de cada período</a:t>
            </a:r>
            <a:endParaRPr lang="pt-BR" sz="2800" b="1" cap="small" dirty="0">
              <a:solidFill>
                <a:schemeClr val="tx1"/>
              </a:solidFill>
            </a:endParaRPr>
          </a:p>
          <a:p>
            <a:pPr algn="just"/>
            <a:endParaRPr lang="pt-BR" sz="2800" dirty="0"/>
          </a:p>
          <a:p>
            <a:pPr algn="just"/>
            <a:endParaRPr lang="pt-BR" dirty="0" smtClean="0"/>
          </a:p>
          <a:p>
            <a:pPr algn="just"/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19</a:t>
            </a:fld>
            <a:r>
              <a:rPr lang="pt-BR" dirty="0" smtClean="0"/>
              <a:t> / 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311700" y="35150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b="1" cap="small" dirty="0" smtClean="0"/>
              <a:t>Comparação de </a:t>
            </a:r>
            <a:r>
              <a:rPr lang="pt-BR" b="1" cap="small" dirty="0"/>
              <a:t>Dois </a:t>
            </a:r>
            <a:r>
              <a:rPr lang="pt-BR" b="1" cap="small" dirty="0" smtClean="0"/>
              <a:t>Tratamentos </a:t>
            </a:r>
            <a:r>
              <a:rPr lang="pt-BR" b="1" cap="small" dirty="0"/>
              <a:t>(Populações)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3687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783087"/>
            <a:ext cx="8520600" cy="3027905"/>
          </a:xfrm>
        </p:spPr>
        <p:txBody>
          <a:bodyPr>
            <a:normAutofit fontScale="70000" lnSpcReduction="20000"/>
          </a:bodyPr>
          <a:lstStyle/>
          <a:p>
            <a:pPr marL="114300" lvl="0" indent="0" algn="ctr">
              <a:buNone/>
            </a:pPr>
            <a:r>
              <a:rPr lang="pt-BR" sz="2900" dirty="0" smtClean="0">
                <a:solidFill>
                  <a:schemeClr val="tx1"/>
                </a:solidFill>
              </a:rPr>
              <a:t>H</a:t>
            </a:r>
            <a:r>
              <a:rPr lang="pt-BR" sz="2900" baseline="-25000" dirty="0" smtClean="0">
                <a:solidFill>
                  <a:schemeClr val="tx1"/>
                </a:solidFill>
              </a:rPr>
              <a:t>02</a:t>
            </a:r>
            <a:r>
              <a:rPr lang="pt-BR" sz="2900" dirty="0" smtClean="0">
                <a:solidFill>
                  <a:schemeClr val="tx1"/>
                </a:solidFill>
              </a:rPr>
              <a:t>: </a:t>
            </a:r>
            <a:r>
              <a:rPr lang="pt-BR" sz="2900" dirty="0">
                <a:solidFill>
                  <a:schemeClr val="tx1"/>
                </a:solidFill>
              </a:rPr>
              <a:t>μ</a:t>
            </a:r>
            <a:r>
              <a:rPr lang="pt-BR" sz="2900" baseline="-25000" dirty="0">
                <a:solidFill>
                  <a:schemeClr val="tx1"/>
                </a:solidFill>
              </a:rPr>
              <a:t>1k</a:t>
            </a:r>
            <a:r>
              <a:rPr lang="pt-BR" sz="2900" dirty="0">
                <a:solidFill>
                  <a:schemeClr val="tx1"/>
                </a:solidFill>
              </a:rPr>
              <a:t> </a:t>
            </a:r>
            <a:r>
              <a:rPr lang="pt-BR" sz="2900" dirty="0" smtClean="0">
                <a:solidFill>
                  <a:schemeClr val="tx1"/>
                </a:solidFill>
              </a:rPr>
              <a:t>=</a:t>
            </a:r>
            <a:r>
              <a:rPr lang="pt-BR" sz="2900" baseline="-25000" dirty="0" smtClean="0">
                <a:solidFill>
                  <a:schemeClr val="tx1"/>
                </a:solidFill>
              </a:rPr>
              <a:t> </a:t>
            </a:r>
            <a:r>
              <a:rPr lang="pt-BR" sz="2900" dirty="0" smtClean="0">
                <a:solidFill>
                  <a:schemeClr val="tx1"/>
                </a:solidFill>
              </a:rPr>
              <a:t>μ</a:t>
            </a:r>
            <a:r>
              <a:rPr lang="pt-BR" sz="2900" baseline="-25000" dirty="0" smtClean="0">
                <a:solidFill>
                  <a:schemeClr val="tx1"/>
                </a:solidFill>
              </a:rPr>
              <a:t>2k</a:t>
            </a:r>
            <a:r>
              <a:rPr lang="pt-BR" sz="2900" dirty="0" smtClean="0">
                <a:solidFill>
                  <a:schemeClr val="tx1"/>
                </a:solidFill>
              </a:rPr>
              <a:t>, </a:t>
            </a:r>
          </a:p>
          <a:p>
            <a:pPr marL="114300" lvl="0" indent="0" algn="ctr">
              <a:buNone/>
            </a:pPr>
            <a:endParaRPr lang="pt-BR" sz="2900" dirty="0" smtClean="0">
              <a:solidFill>
                <a:schemeClr val="tx1"/>
              </a:solidFill>
            </a:endParaRPr>
          </a:p>
          <a:p>
            <a:pPr marL="114300" lvl="0" indent="0" algn="ctr">
              <a:buNone/>
            </a:pPr>
            <a:endParaRPr lang="pt-BR" sz="2900" dirty="0" smtClean="0">
              <a:solidFill>
                <a:schemeClr val="tx1"/>
              </a:solidFill>
            </a:endParaRPr>
          </a:p>
          <a:p>
            <a:pPr marL="114300" lvl="0" indent="0">
              <a:buNone/>
            </a:pPr>
            <a:r>
              <a:rPr lang="pt-BR" sz="2900" dirty="0" smtClean="0">
                <a:solidFill>
                  <a:schemeClr val="tx1"/>
                </a:solidFill>
              </a:rPr>
              <a:t>para </a:t>
            </a:r>
            <a:r>
              <a:rPr lang="pt-BR" sz="2900" i="1" dirty="0">
                <a:solidFill>
                  <a:schemeClr val="tx1"/>
                </a:solidFill>
              </a:rPr>
              <a:t>k </a:t>
            </a:r>
            <a:r>
              <a:rPr lang="pt-BR" sz="2900" dirty="0">
                <a:solidFill>
                  <a:schemeClr val="tx1"/>
                </a:solidFill>
              </a:rPr>
              <a:t>= 1, 2, ..., </a:t>
            </a:r>
            <a:r>
              <a:rPr lang="pt-BR" sz="2900" i="1" dirty="0" smtClean="0">
                <a:solidFill>
                  <a:schemeClr val="tx1"/>
                </a:solidFill>
              </a:rPr>
              <a:t>m</a:t>
            </a:r>
            <a:r>
              <a:rPr lang="pt-BR" sz="2900" dirty="0" smtClean="0">
                <a:solidFill>
                  <a:schemeClr val="tx1"/>
                </a:solidFill>
              </a:rPr>
              <a:t>, ou seja, os perfis são coincidentes se</a:t>
            </a:r>
          </a:p>
          <a:p>
            <a:pPr marL="114300" lvl="0" indent="0">
              <a:buNone/>
            </a:pPr>
            <a:endParaRPr lang="pt-BR" sz="2900" dirty="0" smtClean="0">
              <a:solidFill>
                <a:schemeClr val="tx1"/>
              </a:solidFill>
            </a:endParaRPr>
          </a:p>
          <a:p>
            <a:pPr marL="114300" lvl="0" indent="0" algn="ctr">
              <a:buNone/>
            </a:pPr>
            <a:endParaRPr lang="pt-BR" sz="2900" dirty="0">
              <a:solidFill>
                <a:schemeClr val="tx1"/>
              </a:solidFill>
            </a:endParaRPr>
          </a:p>
          <a:p>
            <a:pPr marL="114300" lvl="0" indent="0" algn="ctr">
              <a:buNone/>
            </a:pPr>
            <a:r>
              <a:rPr lang="pt-BR" sz="2900" dirty="0">
                <a:solidFill>
                  <a:schemeClr val="tx1"/>
                </a:solidFill>
              </a:rPr>
              <a:t>H</a:t>
            </a:r>
            <a:r>
              <a:rPr lang="pt-BR" sz="2900" baseline="-25000" dirty="0">
                <a:solidFill>
                  <a:schemeClr val="tx1"/>
                </a:solidFill>
              </a:rPr>
              <a:t>02</a:t>
            </a:r>
            <a:r>
              <a:rPr lang="pt-BR" sz="2900" dirty="0">
                <a:solidFill>
                  <a:schemeClr val="tx1"/>
                </a:solidFill>
              </a:rPr>
              <a:t>: </a:t>
            </a:r>
            <a:r>
              <a:rPr lang="pt-BR" sz="2900" dirty="0" smtClean="0">
                <a:solidFill>
                  <a:schemeClr val="tx1"/>
                </a:solidFill>
              </a:rPr>
              <a:t>μ</a:t>
            </a:r>
            <a:r>
              <a:rPr lang="pt-BR" sz="2900" baseline="-25000" dirty="0" smtClean="0">
                <a:solidFill>
                  <a:schemeClr val="tx1"/>
                </a:solidFill>
              </a:rPr>
              <a:t>11 </a:t>
            </a:r>
            <a:r>
              <a:rPr lang="pt-BR" sz="2900" dirty="0" smtClean="0">
                <a:solidFill>
                  <a:schemeClr val="tx1"/>
                </a:solidFill>
              </a:rPr>
              <a:t>+</a:t>
            </a:r>
            <a:r>
              <a:rPr lang="pt-BR" sz="2900" baseline="-25000" dirty="0" smtClean="0">
                <a:solidFill>
                  <a:schemeClr val="tx1"/>
                </a:solidFill>
              </a:rPr>
              <a:t> </a:t>
            </a:r>
            <a:r>
              <a:rPr lang="pt-BR" sz="2900" dirty="0" smtClean="0">
                <a:solidFill>
                  <a:schemeClr val="tx1"/>
                </a:solidFill>
              </a:rPr>
              <a:t>μ</a:t>
            </a:r>
            <a:r>
              <a:rPr lang="pt-BR" sz="2900" baseline="-25000" dirty="0" smtClean="0">
                <a:solidFill>
                  <a:schemeClr val="tx1"/>
                </a:solidFill>
              </a:rPr>
              <a:t>12 </a:t>
            </a:r>
            <a:r>
              <a:rPr lang="pt-BR" sz="2900" dirty="0" smtClean="0">
                <a:solidFill>
                  <a:schemeClr val="tx1"/>
                </a:solidFill>
              </a:rPr>
              <a:t>+ μ</a:t>
            </a:r>
            <a:r>
              <a:rPr lang="pt-BR" sz="2900" baseline="-25000" dirty="0" smtClean="0">
                <a:solidFill>
                  <a:schemeClr val="tx1"/>
                </a:solidFill>
              </a:rPr>
              <a:t>1m</a:t>
            </a:r>
            <a:r>
              <a:rPr lang="pt-BR" sz="2900" dirty="0" smtClean="0">
                <a:solidFill>
                  <a:schemeClr val="tx1"/>
                </a:solidFill>
              </a:rPr>
              <a:t> </a:t>
            </a:r>
            <a:r>
              <a:rPr lang="pt-BR" sz="2900" dirty="0">
                <a:solidFill>
                  <a:schemeClr val="tx1"/>
                </a:solidFill>
              </a:rPr>
              <a:t>=</a:t>
            </a:r>
            <a:r>
              <a:rPr lang="pt-BR" sz="2900" baseline="-25000" dirty="0">
                <a:solidFill>
                  <a:schemeClr val="tx1"/>
                </a:solidFill>
              </a:rPr>
              <a:t> </a:t>
            </a:r>
            <a:r>
              <a:rPr lang="pt-BR" sz="2900" dirty="0" smtClean="0">
                <a:solidFill>
                  <a:schemeClr val="tx1"/>
                </a:solidFill>
              </a:rPr>
              <a:t>μ</a:t>
            </a:r>
            <a:r>
              <a:rPr lang="pt-BR" sz="2900" baseline="-25000" dirty="0" smtClean="0">
                <a:solidFill>
                  <a:schemeClr val="tx1"/>
                </a:solidFill>
              </a:rPr>
              <a:t>21 </a:t>
            </a:r>
            <a:r>
              <a:rPr lang="pt-BR" sz="2900" dirty="0">
                <a:solidFill>
                  <a:schemeClr val="tx1"/>
                </a:solidFill>
              </a:rPr>
              <a:t>+</a:t>
            </a:r>
            <a:r>
              <a:rPr lang="pt-BR" sz="2900" baseline="-25000" dirty="0">
                <a:solidFill>
                  <a:schemeClr val="tx1"/>
                </a:solidFill>
              </a:rPr>
              <a:t> </a:t>
            </a:r>
            <a:r>
              <a:rPr lang="pt-BR" sz="2900" dirty="0" smtClean="0">
                <a:solidFill>
                  <a:schemeClr val="tx1"/>
                </a:solidFill>
              </a:rPr>
              <a:t>μ</a:t>
            </a:r>
            <a:r>
              <a:rPr lang="pt-BR" sz="2900" baseline="-25000" dirty="0" smtClean="0">
                <a:solidFill>
                  <a:schemeClr val="tx1"/>
                </a:solidFill>
              </a:rPr>
              <a:t>22 </a:t>
            </a:r>
            <a:r>
              <a:rPr lang="pt-BR" sz="2900" dirty="0">
                <a:solidFill>
                  <a:schemeClr val="tx1"/>
                </a:solidFill>
              </a:rPr>
              <a:t>+ </a:t>
            </a:r>
            <a:r>
              <a:rPr lang="pt-BR" sz="2900" dirty="0" smtClean="0">
                <a:solidFill>
                  <a:schemeClr val="tx1"/>
                </a:solidFill>
              </a:rPr>
              <a:t>μ</a:t>
            </a:r>
            <a:r>
              <a:rPr lang="pt-BR" sz="2900" baseline="-25000" dirty="0" smtClean="0">
                <a:solidFill>
                  <a:schemeClr val="tx1"/>
                </a:solidFill>
              </a:rPr>
              <a:t>2m</a:t>
            </a:r>
            <a:r>
              <a:rPr lang="pt-BR" sz="2900" dirty="0" smtClean="0">
                <a:solidFill>
                  <a:schemeClr val="tx1"/>
                </a:solidFill>
              </a:rPr>
              <a:t>. </a:t>
            </a:r>
            <a:endParaRPr lang="pt-BR" sz="2900" dirty="0">
              <a:solidFill>
                <a:schemeClr val="tx1"/>
              </a:solidFill>
            </a:endParaRP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pPr marL="11430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20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7" name="Retângulo 16"/>
          <p:cNvSpPr/>
          <p:nvPr/>
        </p:nvSpPr>
        <p:spPr>
          <a:xfrm>
            <a:off x="540326" y="1000883"/>
            <a:ext cx="76454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pt-BR" sz="1800" b="1" dirty="0" smtClean="0"/>
              <a:t>Se forem paralelos, são coincidentes?</a:t>
            </a:r>
            <a:endParaRPr lang="pt-BR" sz="1800" dirty="0"/>
          </a:p>
          <a:p>
            <a:endParaRPr lang="pt-BR" dirty="0"/>
          </a:p>
        </p:txBody>
      </p:sp>
      <p:sp>
        <p:nvSpPr>
          <p:cNvPr id="19" name="Título 1"/>
          <p:cNvSpPr>
            <a:spLocks noGrp="1"/>
          </p:cNvSpPr>
          <p:nvPr>
            <p:ph type="title"/>
          </p:nvPr>
        </p:nvSpPr>
        <p:spPr>
          <a:xfrm>
            <a:off x="311700" y="164468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b="1" cap="small" dirty="0" smtClean="0"/>
              <a:t>Comparação de </a:t>
            </a:r>
            <a:r>
              <a:rPr lang="pt-BR" b="1" cap="small" dirty="0"/>
              <a:t>Dois </a:t>
            </a:r>
            <a:r>
              <a:rPr lang="pt-BR" b="1" cap="small" dirty="0" smtClean="0"/>
              <a:t>Tratamentos </a:t>
            </a:r>
            <a:r>
              <a:rPr lang="pt-BR" b="1" cap="small" dirty="0"/>
              <a:t>(Populações)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305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21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257642" y="512914"/>
            <a:ext cx="4186200" cy="381642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93;p17"/>
          <p:cNvSpPr txBox="1">
            <a:spLocks noGrp="1"/>
          </p:cNvSpPr>
          <p:nvPr>
            <p:ph type="body" idx="1"/>
          </p:nvPr>
        </p:nvSpPr>
        <p:spPr>
          <a:xfrm>
            <a:off x="2906759" y="102666"/>
            <a:ext cx="8520600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chemeClr val="accent1"/>
                </a:solidFill>
              </a:rPr>
              <a:t>Figura 3: </a:t>
            </a:r>
            <a:r>
              <a:rPr lang="pt-BR" sz="1600" dirty="0" smtClean="0">
                <a:solidFill>
                  <a:schemeClr val="tx1"/>
                </a:solidFill>
              </a:rPr>
              <a:t>Gráfico de perfis </a:t>
            </a:r>
            <a:r>
              <a:rPr lang="pt-BR" sz="1600" dirty="0">
                <a:solidFill>
                  <a:schemeClr val="tx1"/>
                </a:solidFill>
              </a:rPr>
              <a:t>m</a:t>
            </a:r>
            <a:r>
              <a:rPr lang="pt-BR" sz="1600" dirty="0" smtClean="0">
                <a:solidFill>
                  <a:schemeClr val="tx1"/>
                </a:solidFill>
              </a:rPr>
              <a:t>édios.</a:t>
            </a:r>
            <a:endParaRPr sz="1600" dirty="0">
              <a:solidFill>
                <a:schemeClr val="tx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11" name="Google Shape;96;p17"/>
          <p:cNvSpPr txBox="1">
            <a:spLocks/>
          </p:cNvSpPr>
          <p:nvPr/>
        </p:nvSpPr>
        <p:spPr>
          <a:xfrm>
            <a:off x="185259" y="4295580"/>
            <a:ext cx="85206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pt-BR" sz="1200" b="1" dirty="0" smtClean="0">
                <a:solidFill>
                  <a:schemeClr val="dk1"/>
                </a:solidFill>
              </a:rPr>
              <a:t>Fonte: </a:t>
            </a:r>
            <a:r>
              <a:rPr lang="pt-BR" sz="1200" dirty="0" smtClean="0">
                <a:solidFill>
                  <a:schemeClr val="dk1"/>
                </a:solidFill>
              </a:rPr>
              <a:t>https://www.ime.usp.br/~jmsinger/MAE0610/Singer&amp;Nobre&amp;Rocha2018jun.pdf</a:t>
            </a:r>
            <a:endParaRPr lang="pt-BR" sz="1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034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886998"/>
            <a:ext cx="8520600" cy="3225334"/>
          </a:xfrm>
        </p:spPr>
        <p:txBody>
          <a:bodyPr>
            <a:normAutofit fontScale="77500" lnSpcReduction="20000"/>
          </a:bodyPr>
          <a:lstStyle/>
          <a:p>
            <a:pPr marL="114300" lvl="0" indent="0">
              <a:buNone/>
            </a:pPr>
            <a:r>
              <a:rPr lang="pt-BR" sz="2600" dirty="0" smtClean="0">
                <a:solidFill>
                  <a:schemeClr val="tx1"/>
                </a:solidFill>
              </a:rPr>
              <a:t>Matricialmente:</a:t>
            </a:r>
          </a:p>
          <a:p>
            <a:pPr marL="114300" lvl="0" indent="0" algn="ctr">
              <a:buNone/>
            </a:pPr>
            <a:endParaRPr lang="pt-BR" sz="2600" dirty="0">
              <a:solidFill>
                <a:schemeClr val="tx1"/>
              </a:solidFill>
            </a:endParaRPr>
          </a:p>
          <a:p>
            <a:pPr marL="114300" lvl="0" indent="0" algn="ctr">
              <a:buNone/>
            </a:pPr>
            <a:r>
              <a:rPr lang="pt-BR" sz="2600" dirty="0">
                <a:solidFill>
                  <a:schemeClr val="tx1"/>
                </a:solidFill>
              </a:rPr>
              <a:t>H</a:t>
            </a:r>
            <a:r>
              <a:rPr lang="pt-BR" sz="2600" baseline="-25000" dirty="0">
                <a:solidFill>
                  <a:schemeClr val="tx1"/>
                </a:solidFill>
              </a:rPr>
              <a:t>02</a:t>
            </a:r>
            <a:r>
              <a:rPr lang="pt-BR" sz="2600" dirty="0">
                <a:solidFill>
                  <a:schemeClr val="tx1"/>
                </a:solidFill>
              </a:rPr>
              <a:t>: </a:t>
            </a:r>
            <a:r>
              <a:rPr lang="pt-BR" sz="2600" b="1" dirty="0" smtClean="0">
                <a:solidFill>
                  <a:schemeClr val="tx1"/>
                </a:solidFill>
              </a:rPr>
              <a:t>1</a:t>
            </a:r>
            <a:r>
              <a:rPr lang="pt-BR" sz="2600" baseline="30000" dirty="0" smtClean="0">
                <a:solidFill>
                  <a:schemeClr val="tx1"/>
                </a:solidFill>
              </a:rPr>
              <a:t>T</a:t>
            </a:r>
            <a:r>
              <a:rPr lang="pt-BR" sz="2600" b="1" dirty="0" smtClean="0">
                <a:solidFill>
                  <a:schemeClr val="tx1"/>
                </a:solidFill>
              </a:rPr>
              <a:t>μ</a:t>
            </a:r>
            <a:r>
              <a:rPr lang="pt-BR" sz="2600" baseline="-25000" dirty="0" smtClean="0">
                <a:solidFill>
                  <a:schemeClr val="tx1"/>
                </a:solidFill>
              </a:rPr>
              <a:t>1 </a:t>
            </a:r>
            <a:r>
              <a:rPr lang="pt-BR" sz="2600" dirty="0" smtClean="0">
                <a:solidFill>
                  <a:schemeClr val="tx1"/>
                </a:solidFill>
              </a:rPr>
              <a:t>= </a:t>
            </a:r>
            <a:r>
              <a:rPr lang="pt-BR" sz="2600" b="1" dirty="0" smtClean="0">
                <a:solidFill>
                  <a:schemeClr val="tx1"/>
                </a:solidFill>
              </a:rPr>
              <a:t>1</a:t>
            </a:r>
            <a:r>
              <a:rPr lang="pt-BR" sz="2600" baseline="30000" dirty="0" smtClean="0">
                <a:solidFill>
                  <a:schemeClr val="tx1"/>
                </a:solidFill>
              </a:rPr>
              <a:t>T</a:t>
            </a:r>
            <a:r>
              <a:rPr lang="pt-BR" sz="2600" b="1" dirty="0" smtClean="0">
                <a:solidFill>
                  <a:schemeClr val="tx1"/>
                </a:solidFill>
              </a:rPr>
              <a:t>μ</a:t>
            </a:r>
            <a:r>
              <a:rPr lang="pt-BR" sz="2600" baseline="-25000" dirty="0" smtClean="0">
                <a:solidFill>
                  <a:schemeClr val="tx1"/>
                </a:solidFill>
              </a:rPr>
              <a:t>2</a:t>
            </a:r>
            <a:r>
              <a:rPr lang="pt-BR" sz="2600" dirty="0" smtClean="0">
                <a:solidFill>
                  <a:schemeClr val="tx1"/>
                </a:solidFill>
              </a:rPr>
              <a:t>, </a:t>
            </a:r>
            <a:endParaRPr lang="pt-BR" sz="2600" dirty="0">
              <a:solidFill>
                <a:schemeClr val="tx1"/>
              </a:solidFill>
            </a:endParaRPr>
          </a:p>
          <a:p>
            <a:endParaRPr lang="pt-BR" sz="2600" dirty="0"/>
          </a:p>
          <a:p>
            <a:endParaRPr lang="pt-BR" sz="2600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pt-BR" sz="2600" dirty="0">
                <a:solidFill>
                  <a:schemeClr val="tx1"/>
                </a:solidFill>
              </a:rPr>
              <a:t>e</a:t>
            </a:r>
            <a:r>
              <a:rPr lang="pt-BR" sz="2600" dirty="0" smtClean="0">
                <a:solidFill>
                  <a:schemeClr val="tx1"/>
                </a:solidFill>
              </a:rPr>
              <a:t>m que μ</a:t>
            </a:r>
            <a:r>
              <a:rPr lang="pt-BR" sz="2600" baseline="-25000" dirty="0" smtClean="0">
                <a:solidFill>
                  <a:schemeClr val="tx1"/>
                </a:solidFill>
              </a:rPr>
              <a:t>11 </a:t>
            </a:r>
            <a:r>
              <a:rPr lang="pt-BR" sz="2600" dirty="0">
                <a:solidFill>
                  <a:schemeClr val="tx1"/>
                </a:solidFill>
              </a:rPr>
              <a:t>+</a:t>
            </a:r>
            <a:r>
              <a:rPr lang="pt-BR" sz="2600" baseline="-25000" dirty="0">
                <a:solidFill>
                  <a:schemeClr val="tx1"/>
                </a:solidFill>
              </a:rPr>
              <a:t> </a:t>
            </a:r>
            <a:r>
              <a:rPr lang="pt-BR" sz="2600" dirty="0">
                <a:solidFill>
                  <a:schemeClr val="tx1"/>
                </a:solidFill>
              </a:rPr>
              <a:t>μ</a:t>
            </a:r>
            <a:r>
              <a:rPr lang="pt-BR" sz="2600" baseline="-25000" dirty="0">
                <a:solidFill>
                  <a:schemeClr val="tx1"/>
                </a:solidFill>
              </a:rPr>
              <a:t>12 </a:t>
            </a:r>
            <a:r>
              <a:rPr lang="pt-BR" sz="2600" dirty="0">
                <a:solidFill>
                  <a:schemeClr val="tx1"/>
                </a:solidFill>
              </a:rPr>
              <a:t>+ μ</a:t>
            </a:r>
            <a:r>
              <a:rPr lang="pt-BR" sz="2600" baseline="-25000" dirty="0">
                <a:solidFill>
                  <a:schemeClr val="tx1"/>
                </a:solidFill>
              </a:rPr>
              <a:t>1m</a:t>
            </a:r>
            <a:r>
              <a:rPr lang="pt-BR" sz="2600" dirty="0">
                <a:solidFill>
                  <a:schemeClr val="tx1"/>
                </a:solidFill>
              </a:rPr>
              <a:t> =</a:t>
            </a:r>
            <a:r>
              <a:rPr lang="pt-BR" sz="2600" baseline="-25000" dirty="0">
                <a:solidFill>
                  <a:schemeClr val="tx1"/>
                </a:solidFill>
              </a:rPr>
              <a:t> </a:t>
            </a:r>
            <a:r>
              <a:rPr lang="pt-BR" sz="2600" b="1" dirty="0" smtClean="0">
                <a:solidFill>
                  <a:schemeClr val="tx1"/>
                </a:solidFill>
              </a:rPr>
              <a:t>1</a:t>
            </a:r>
            <a:r>
              <a:rPr lang="pt-BR" sz="2600" baseline="30000" dirty="0" smtClean="0">
                <a:solidFill>
                  <a:schemeClr val="tx1"/>
                </a:solidFill>
              </a:rPr>
              <a:t>T</a:t>
            </a:r>
            <a:r>
              <a:rPr lang="pt-BR" sz="2600" b="1" dirty="0" smtClean="0">
                <a:solidFill>
                  <a:schemeClr val="tx1"/>
                </a:solidFill>
              </a:rPr>
              <a:t>μ</a:t>
            </a:r>
            <a:r>
              <a:rPr lang="pt-BR" sz="2600" baseline="-25000" dirty="0" smtClean="0">
                <a:solidFill>
                  <a:schemeClr val="tx1"/>
                </a:solidFill>
              </a:rPr>
              <a:t>1</a:t>
            </a:r>
            <a:r>
              <a:rPr lang="pt-BR" sz="2600" dirty="0" smtClean="0">
                <a:solidFill>
                  <a:schemeClr val="tx1"/>
                </a:solidFill>
              </a:rPr>
              <a:t>, μ</a:t>
            </a:r>
            <a:r>
              <a:rPr lang="pt-BR" sz="2600" baseline="-25000" dirty="0" smtClean="0">
                <a:solidFill>
                  <a:schemeClr val="tx1"/>
                </a:solidFill>
              </a:rPr>
              <a:t>21 </a:t>
            </a:r>
            <a:r>
              <a:rPr lang="pt-BR" sz="2600" dirty="0">
                <a:solidFill>
                  <a:schemeClr val="tx1"/>
                </a:solidFill>
              </a:rPr>
              <a:t>+</a:t>
            </a:r>
            <a:r>
              <a:rPr lang="pt-BR" sz="2600" baseline="-25000" dirty="0">
                <a:solidFill>
                  <a:schemeClr val="tx1"/>
                </a:solidFill>
              </a:rPr>
              <a:t> </a:t>
            </a:r>
            <a:r>
              <a:rPr lang="pt-BR" sz="2600" dirty="0">
                <a:solidFill>
                  <a:schemeClr val="tx1"/>
                </a:solidFill>
              </a:rPr>
              <a:t>μ</a:t>
            </a:r>
            <a:r>
              <a:rPr lang="pt-BR" sz="2600" baseline="-25000" dirty="0">
                <a:solidFill>
                  <a:schemeClr val="tx1"/>
                </a:solidFill>
              </a:rPr>
              <a:t>22 </a:t>
            </a:r>
            <a:r>
              <a:rPr lang="pt-BR" sz="2600" dirty="0">
                <a:solidFill>
                  <a:schemeClr val="tx1"/>
                </a:solidFill>
              </a:rPr>
              <a:t>+ </a:t>
            </a:r>
            <a:r>
              <a:rPr lang="pt-BR" sz="2600" dirty="0" smtClean="0">
                <a:solidFill>
                  <a:schemeClr val="tx1"/>
                </a:solidFill>
              </a:rPr>
              <a:t>μ</a:t>
            </a:r>
            <a:r>
              <a:rPr lang="pt-BR" sz="2600" baseline="-25000" dirty="0" smtClean="0">
                <a:solidFill>
                  <a:schemeClr val="tx1"/>
                </a:solidFill>
              </a:rPr>
              <a:t>2m </a:t>
            </a:r>
            <a:r>
              <a:rPr lang="pt-BR" sz="2600" dirty="0" smtClean="0">
                <a:solidFill>
                  <a:schemeClr val="tx1"/>
                </a:solidFill>
              </a:rPr>
              <a:t>=</a:t>
            </a:r>
            <a:r>
              <a:rPr lang="pt-BR" sz="2600" baseline="-25000" dirty="0" smtClean="0">
                <a:solidFill>
                  <a:schemeClr val="tx1"/>
                </a:solidFill>
              </a:rPr>
              <a:t> </a:t>
            </a:r>
            <a:r>
              <a:rPr lang="pt-BR" sz="2600" b="1" dirty="0" smtClean="0">
                <a:solidFill>
                  <a:schemeClr val="tx1"/>
                </a:solidFill>
              </a:rPr>
              <a:t>1</a:t>
            </a:r>
            <a:r>
              <a:rPr lang="pt-BR" sz="2600" baseline="30000" dirty="0" smtClean="0">
                <a:solidFill>
                  <a:schemeClr val="tx1"/>
                </a:solidFill>
              </a:rPr>
              <a:t>T</a:t>
            </a:r>
            <a:r>
              <a:rPr lang="pt-BR" sz="2600" b="1" dirty="0" smtClean="0">
                <a:solidFill>
                  <a:schemeClr val="tx1"/>
                </a:solidFill>
              </a:rPr>
              <a:t>μ</a:t>
            </a:r>
            <a:r>
              <a:rPr lang="pt-BR" sz="2600" b="1" baseline="-25000" dirty="0" smtClean="0">
                <a:solidFill>
                  <a:schemeClr val="tx1"/>
                </a:solidFill>
              </a:rPr>
              <a:t>2 </a:t>
            </a:r>
            <a:r>
              <a:rPr lang="pt-BR" sz="2600" dirty="0" smtClean="0">
                <a:solidFill>
                  <a:schemeClr val="tx1"/>
                </a:solidFill>
              </a:rPr>
              <a:t>e</a:t>
            </a:r>
            <a:r>
              <a:rPr lang="pt-BR" sz="2600" b="1" baseline="-25000" dirty="0" smtClean="0">
                <a:solidFill>
                  <a:schemeClr val="tx1"/>
                </a:solidFill>
              </a:rPr>
              <a:t> </a:t>
            </a:r>
            <a:r>
              <a:rPr lang="pt-BR" sz="2600" b="1" dirty="0" smtClean="0">
                <a:solidFill>
                  <a:schemeClr val="tx1"/>
                </a:solidFill>
              </a:rPr>
              <a:t>1</a:t>
            </a:r>
            <a:r>
              <a:rPr lang="pt-BR" sz="2600" baseline="30000" dirty="0" smtClean="0">
                <a:solidFill>
                  <a:schemeClr val="tx1"/>
                </a:solidFill>
              </a:rPr>
              <a:t>T </a:t>
            </a:r>
            <a:r>
              <a:rPr lang="pt-BR" sz="2600" dirty="0" smtClean="0">
                <a:solidFill>
                  <a:schemeClr val="tx1"/>
                </a:solidFill>
              </a:rPr>
              <a:t>= (1, 1, ..., 1). </a:t>
            </a:r>
            <a:endParaRPr lang="pt-BR" sz="2600" dirty="0">
              <a:solidFill>
                <a:schemeClr val="tx1"/>
              </a:solidFill>
            </a:endParaRPr>
          </a:p>
          <a:p>
            <a:endParaRPr lang="pt-BR" sz="2600" dirty="0"/>
          </a:p>
          <a:p>
            <a:endParaRPr lang="pt-BR" sz="2600" dirty="0" smtClean="0"/>
          </a:p>
          <a:p>
            <a:endParaRPr lang="pt-BR" sz="2600" dirty="0"/>
          </a:p>
          <a:p>
            <a:pPr marL="11430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22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7" name="Retângulo 16"/>
          <p:cNvSpPr/>
          <p:nvPr/>
        </p:nvSpPr>
        <p:spPr>
          <a:xfrm>
            <a:off x="540326" y="1052838"/>
            <a:ext cx="76454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pt-BR" sz="1800" b="1" dirty="0" smtClean="0"/>
              <a:t>Se forem paralelos, são coincidentes?</a:t>
            </a:r>
            <a:endParaRPr lang="pt-BR" sz="1800" dirty="0"/>
          </a:p>
          <a:p>
            <a:endParaRPr lang="pt-BR" dirty="0"/>
          </a:p>
        </p:txBody>
      </p:sp>
      <p:sp>
        <p:nvSpPr>
          <p:cNvPr id="19" name="Título 1"/>
          <p:cNvSpPr>
            <a:spLocks noGrp="1"/>
          </p:cNvSpPr>
          <p:nvPr>
            <p:ph type="title"/>
          </p:nvPr>
        </p:nvSpPr>
        <p:spPr>
          <a:xfrm>
            <a:off x="311700" y="164468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b="1" cap="small" dirty="0" smtClean="0"/>
              <a:t>Comparação de </a:t>
            </a:r>
            <a:r>
              <a:rPr lang="pt-BR" b="1" cap="small" dirty="0"/>
              <a:t>Dois </a:t>
            </a:r>
            <a:r>
              <a:rPr lang="pt-BR" b="1" cap="small" dirty="0" smtClean="0"/>
              <a:t>Tratamentos </a:t>
            </a:r>
            <a:r>
              <a:rPr lang="pt-BR" b="1" cap="small" dirty="0"/>
              <a:t>(Populações)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9383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392378"/>
            <a:ext cx="8520600" cy="187036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pt-BR" dirty="0">
                <a:solidFill>
                  <a:schemeClr val="tx1"/>
                </a:solidFill>
              </a:rPr>
              <a:t>Considerando que as duas populações são normais rejeitaremos </a:t>
            </a:r>
            <a:r>
              <a:rPr lang="pt-BR" dirty="0" smtClean="0">
                <a:solidFill>
                  <a:schemeClr val="tx1"/>
                </a:solidFill>
              </a:rPr>
              <a:t>H</a:t>
            </a:r>
            <a:r>
              <a:rPr lang="pt-BR" baseline="-25000" dirty="0" smtClean="0">
                <a:solidFill>
                  <a:schemeClr val="tx1"/>
                </a:solidFill>
              </a:rPr>
              <a:t>02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ao nível de significância </a:t>
            </a:r>
            <a:r>
              <a:rPr lang="pt-BR" dirty="0">
                <a:solidFill>
                  <a:schemeClr val="tx1"/>
                </a:solidFill>
                <a:sym typeface="Symbol"/>
              </a:rPr>
              <a:t></a:t>
            </a:r>
            <a:r>
              <a:rPr lang="pt-BR" dirty="0">
                <a:solidFill>
                  <a:schemeClr val="tx1"/>
                </a:solidFill>
              </a:rPr>
              <a:t> se </a:t>
            </a:r>
          </a:p>
          <a:p>
            <a:pPr algn="just"/>
            <a:endParaRPr lang="pt-BR" dirty="0">
              <a:solidFill>
                <a:schemeClr val="tx1"/>
              </a:solidFill>
            </a:endParaRPr>
          </a:p>
          <a:p>
            <a:pPr algn="just"/>
            <a:endParaRPr lang="pt-BR" dirty="0" smtClean="0"/>
          </a:p>
          <a:p>
            <a:pPr algn="just"/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23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2024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311700" y="35150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b="1" cap="small" dirty="0" smtClean="0"/>
              <a:t>Comparação de </a:t>
            </a:r>
            <a:r>
              <a:rPr lang="pt-BR" b="1" cap="small" dirty="0"/>
              <a:t>Dois </a:t>
            </a:r>
            <a:r>
              <a:rPr lang="pt-BR" b="1" cap="small" dirty="0" smtClean="0"/>
              <a:t>Tratamentos </a:t>
            </a:r>
            <a:r>
              <a:rPr lang="pt-BR" b="1" cap="small" dirty="0"/>
              <a:t>(Populações)</a:t>
            </a:r>
            <a:endParaRPr lang="pt-BR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460031"/>
              </p:ext>
            </p:extLst>
          </p:nvPr>
        </p:nvGraphicFramePr>
        <p:xfrm>
          <a:off x="1039089" y="2691245"/>
          <a:ext cx="7076211" cy="581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Equação" r:id="rId3" imgW="3441700" imgH="279400" progId="Equation.3">
                  <p:embed/>
                </p:oleObj>
              </mc:Choice>
              <mc:Fallback>
                <p:oleObj name="Equação" r:id="rId3" imgW="3441700" imgH="279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089" y="2691245"/>
                        <a:ext cx="7076211" cy="5813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025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24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311700" y="164468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b="1" cap="small" dirty="0" smtClean="0"/>
              <a:t>Comparação de </a:t>
            </a:r>
            <a:r>
              <a:rPr lang="pt-BR" b="1" cap="small" dirty="0"/>
              <a:t>Dois </a:t>
            </a:r>
            <a:r>
              <a:rPr lang="pt-BR" b="1" cap="small" dirty="0" smtClean="0"/>
              <a:t>Tratamentos </a:t>
            </a:r>
            <a:r>
              <a:rPr lang="pt-BR" b="1" cap="small" dirty="0"/>
              <a:t>(Populações)</a:t>
            </a:r>
            <a:endParaRPr lang="pt-BR" dirty="0"/>
          </a:p>
        </p:txBody>
      </p:sp>
      <p:sp>
        <p:nvSpPr>
          <p:cNvPr id="7" name="Espaço Reservado para Texto 2"/>
          <p:cNvSpPr txBox="1">
            <a:spLocks/>
          </p:cNvSpPr>
          <p:nvPr/>
        </p:nvSpPr>
        <p:spPr>
          <a:xfrm>
            <a:off x="311700" y="1226122"/>
            <a:ext cx="8520600" cy="231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endParaRPr lang="pt-BR" sz="2800" dirty="0" smtClean="0"/>
          </a:p>
          <a:p>
            <a:pPr marL="114300" indent="0">
              <a:buFont typeface="Arial"/>
              <a:buNone/>
            </a:pPr>
            <a:r>
              <a:rPr lang="pt-BR" sz="2400" b="1" dirty="0" smtClean="0">
                <a:solidFill>
                  <a:schemeClr val="tx1"/>
                </a:solidFill>
              </a:rPr>
              <a:t>Caso H</a:t>
            </a:r>
            <a:r>
              <a:rPr lang="pt-BR" sz="2400" b="1" baseline="-25000" dirty="0" smtClean="0">
                <a:solidFill>
                  <a:schemeClr val="tx1"/>
                </a:solidFill>
              </a:rPr>
              <a:t>02</a:t>
            </a:r>
            <a:r>
              <a:rPr lang="pt-BR" sz="2400" b="1" dirty="0" smtClean="0">
                <a:solidFill>
                  <a:schemeClr val="tx1"/>
                </a:solidFill>
              </a:rPr>
              <a:t> seja rejeitado</a:t>
            </a:r>
            <a:r>
              <a:rPr lang="pt-BR" sz="2400" dirty="0" smtClean="0">
                <a:solidFill>
                  <a:schemeClr val="tx1"/>
                </a:solidFill>
              </a:rPr>
              <a:t>:</a:t>
            </a:r>
          </a:p>
          <a:p>
            <a:pPr marL="114300" indent="0">
              <a:buFont typeface="Arial"/>
              <a:buNone/>
            </a:pPr>
            <a:endParaRPr lang="pt-BR" sz="2800" dirty="0" smtClean="0">
              <a:solidFill>
                <a:schemeClr val="tx1"/>
              </a:solidFill>
            </a:endParaRPr>
          </a:p>
          <a:p>
            <a:pPr marL="114300" indent="0">
              <a:buFont typeface="Arial"/>
              <a:buNone/>
            </a:pPr>
            <a:endParaRPr lang="pt-BR" sz="2800" dirty="0" smtClean="0">
              <a:solidFill>
                <a:schemeClr val="tx1"/>
              </a:solidFill>
            </a:endParaRPr>
          </a:p>
          <a:p>
            <a:pPr marL="114300" indent="0" algn="just">
              <a:buNone/>
            </a:pPr>
            <a:r>
              <a:rPr lang="pt-BR" sz="2800" dirty="0" smtClean="0">
                <a:solidFill>
                  <a:schemeClr val="tx1"/>
                </a:solidFill>
              </a:rPr>
              <a:t>Pelo </a:t>
            </a:r>
            <a:r>
              <a:rPr lang="pt-BR" sz="2800" dirty="0">
                <a:solidFill>
                  <a:schemeClr val="tx1"/>
                </a:solidFill>
              </a:rPr>
              <a:t>menos um dos grupos apresentam diferentes </a:t>
            </a:r>
            <a:r>
              <a:rPr lang="pt-BR" sz="2800" dirty="0" smtClean="0">
                <a:solidFill>
                  <a:schemeClr val="tx1"/>
                </a:solidFill>
              </a:rPr>
              <a:t>comportamentos.</a:t>
            </a:r>
            <a:endParaRPr lang="pt-BR" sz="2800" dirty="0">
              <a:solidFill>
                <a:schemeClr val="tx1"/>
              </a:solidFill>
            </a:endParaRPr>
          </a:p>
          <a:p>
            <a:pPr algn="just"/>
            <a:endParaRPr lang="pt-BR" sz="2800" dirty="0" smtClean="0"/>
          </a:p>
          <a:p>
            <a:pPr algn="just"/>
            <a:endParaRPr lang="pt-BR" dirty="0" smtClean="0"/>
          </a:p>
          <a:p>
            <a:pPr algn="just"/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2833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25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311700" y="970957"/>
            <a:ext cx="8520600" cy="733154"/>
          </a:xfrm>
        </p:spPr>
        <p:txBody>
          <a:bodyPr>
            <a:noAutofit/>
          </a:bodyPr>
          <a:lstStyle/>
          <a:p>
            <a:pPr marL="285750" lvl="0" indent="-285750" algn="just">
              <a:buFont typeface="Arial" pitchFamily="34" charset="0"/>
              <a:buChar char="•"/>
            </a:pPr>
            <a:r>
              <a:rPr lang="pt-BR" sz="1800" b="1" dirty="0"/>
              <a:t>Se os perfis são coincidentes, eles têm o mesmo nível? Ou seja, todas as médias são iguais? O comportamento ao longo do tempo é o mesmo?</a:t>
            </a:r>
            <a:endParaRPr lang="pt-BR" sz="1800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14" name="Objeto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481035"/>
              </p:ext>
            </p:extLst>
          </p:nvPr>
        </p:nvGraphicFramePr>
        <p:xfrm>
          <a:off x="1301759" y="3732746"/>
          <a:ext cx="1628477" cy="475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8" name="Equação" r:id="rId3" imgW="787320" imgH="228600" progId="Equation.3">
                  <p:embed/>
                </p:oleObj>
              </mc:Choice>
              <mc:Fallback>
                <p:oleObj name="Equação" r:id="rId3" imgW="78732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9" y="3732746"/>
                        <a:ext cx="1628477" cy="4755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tângulo 15"/>
          <p:cNvSpPr/>
          <p:nvPr/>
        </p:nvSpPr>
        <p:spPr>
          <a:xfrm>
            <a:off x="280559" y="2117256"/>
            <a:ext cx="804256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lvl="0" indent="-285750">
              <a:buFont typeface="Arial" pitchFamily="34" charset="0"/>
              <a:buChar char="•"/>
            </a:pPr>
            <a:r>
              <a:rPr lang="pt-BR" sz="2000" dirty="0" smtClean="0">
                <a:solidFill>
                  <a:schemeClr val="tx1"/>
                </a:solidFill>
              </a:rPr>
              <a:t>H</a:t>
            </a:r>
            <a:r>
              <a:rPr lang="pt-BR" sz="2000" baseline="-25000" dirty="0" smtClean="0">
                <a:solidFill>
                  <a:schemeClr val="tx1"/>
                </a:solidFill>
              </a:rPr>
              <a:t>03</a:t>
            </a:r>
            <a:r>
              <a:rPr lang="pt-BR" sz="2000" dirty="0" smtClean="0">
                <a:solidFill>
                  <a:schemeClr val="tx1"/>
                </a:solidFill>
              </a:rPr>
              <a:t>: μ</a:t>
            </a:r>
            <a:r>
              <a:rPr lang="pt-BR" sz="2000" baseline="-25000" dirty="0" smtClean="0">
                <a:solidFill>
                  <a:schemeClr val="tx1"/>
                </a:solidFill>
              </a:rPr>
              <a:t>11</a:t>
            </a:r>
            <a:r>
              <a:rPr lang="pt-BR" sz="2000" dirty="0" smtClean="0">
                <a:solidFill>
                  <a:schemeClr val="tx1"/>
                </a:solidFill>
              </a:rPr>
              <a:t> </a:t>
            </a:r>
            <a:r>
              <a:rPr lang="pt-BR" sz="2000" dirty="0">
                <a:solidFill>
                  <a:schemeClr val="tx1"/>
                </a:solidFill>
              </a:rPr>
              <a:t>=</a:t>
            </a:r>
            <a:r>
              <a:rPr lang="pt-BR" sz="2000" baseline="-25000" dirty="0">
                <a:solidFill>
                  <a:schemeClr val="tx1"/>
                </a:solidFill>
              </a:rPr>
              <a:t> </a:t>
            </a:r>
            <a:r>
              <a:rPr lang="pt-BR" sz="2000" dirty="0" smtClean="0">
                <a:solidFill>
                  <a:schemeClr val="tx1"/>
                </a:solidFill>
              </a:rPr>
              <a:t>μ</a:t>
            </a:r>
            <a:r>
              <a:rPr lang="pt-BR" sz="2000" baseline="-25000" dirty="0" smtClean="0">
                <a:solidFill>
                  <a:schemeClr val="tx1"/>
                </a:solidFill>
              </a:rPr>
              <a:t>12</a:t>
            </a:r>
            <a:r>
              <a:rPr lang="pt-BR" sz="2000" dirty="0" smtClean="0">
                <a:solidFill>
                  <a:schemeClr val="tx1"/>
                </a:solidFill>
              </a:rPr>
              <a:t> = ... = μ</a:t>
            </a:r>
            <a:r>
              <a:rPr lang="pt-BR" sz="2000" baseline="-25000" dirty="0" smtClean="0">
                <a:solidFill>
                  <a:schemeClr val="tx1"/>
                </a:solidFill>
              </a:rPr>
              <a:t>1m</a:t>
            </a:r>
            <a:r>
              <a:rPr lang="pt-BR" sz="2000" dirty="0" smtClean="0">
                <a:solidFill>
                  <a:schemeClr val="tx1"/>
                </a:solidFill>
              </a:rPr>
              <a:t> = μ</a:t>
            </a:r>
            <a:r>
              <a:rPr lang="pt-BR" sz="2000" baseline="-25000" dirty="0" smtClean="0">
                <a:solidFill>
                  <a:schemeClr val="tx1"/>
                </a:solidFill>
              </a:rPr>
              <a:t>21</a:t>
            </a:r>
            <a:r>
              <a:rPr lang="pt-BR" sz="2000" dirty="0" smtClean="0">
                <a:solidFill>
                  <a:schemeClr val="tx1"/>
                </a:solidFill>
              </a:rPr>
              <a:t> = μ</a:t>
            </a:r>
            <a:r>
              <a:rPr lang="pt-BR" sz="2000" baseline="-25000" dirty="0" smtClean="0">
                <a:solidFill>
                  <a:schemeClr val="tx1"/>
                </a:solidFill>
              </a:rPr>
              <a:t>22</a:t>
            </a:r>
            <a:r>
              <a:rPr lang="pt-BR" sz="2000" dirty="0" smtClean="0">
                <a:solidFill>
                  <a:schemeClr val="tx1"/>
                </a:solidFill>
              </a:rPr>
              <a:t> = ... = μ</a:t>
            </a:r>
            <a:r>
              <a:rPr lang="pt-BR" sz="2000" baseline="-25000" dirty="0" smtClean="0">
                <a:solidFill>
                  <a:schemeClr val="tx1"/>
                </a:solidFill>
              </a:rPr>
              <a:t>2m</a:t>
            </a:r>
            <a:r>
              <a:rPr lang="pt-BR" sz="2000" dirty="0" smtClean="0">
                <a:solidFill>
                  <a:schemeClr val="tx1"/>
                </a:solidFill>
              </a:rPr>
              <a:t>; </a:t>
            </a:r>
          </a:p>
          <a:p>
            <a:pPr marL="114300" lvl="0" indent="0" algn="ctr">
              <a:buNone/>
            </a:pPr>
            <a:endParaRPr lang="pt-BR" sz="2000" dirty="0">
              <a:solidFill>
                <a:schemeClr val="tx1"/>
              </a:solidFill>
            </a:endParaRPr>
          </a:p>
          <a:p>
            <a:pPr marL="114300" lvl="0" indent="0" algn="ctr">
              <a:buNone/>
            </a:pPr>
            <a:endParaRPr lang="pt-BR" sz="2000" dirty="0" smtClean="0">
              <a:solidFill>
                <a:schemeClr val="tx1"/>
              </a:solidFill>
            </a:endParaRPr>
          </a:p>
          <a:p>
            <a:pPr marL="400050" lvl="0" indent="-285750">
              <a:buFont typeface="Arial" pitchFamily="34" charset="0"/>
              <a:buChar char="•"/>
            </a:pPr>
            <a:r>
              <a:rPr lang="pt-BR" sz="2000" dirty="0" smtClean="0">
                <a:solidFill>
                  <a:schemeClr val="tx1"/>
                </a:solidFill>
              </a:rPr>
              <a:t>Matricialmente: </a:t>
            </a:r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20" name="Título 1"/>
          <p:cNvSpPr txBox="1">
            <a:spLocks/>
          </p:cNvSpPr>
          <p:nvPr/>
        </p:nvSpPr>
        <p:spPr>
          <a:xfrm>
            <a:off x="311700" y="20603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b="1" cap="small" dirty="0" smtClean="0"/>
              <a:t>Comparação de Dois Tratamentos (Populações)</a:t>
            </a:r>
            <a:endParaRPr lang="pt-BR" dirty="0"/>
          </a:p>
        </p:txBody>
      </p:sp>
      <p:graphicFrame>
        <p:nvGraphicFramePr>
          <p:cNvPr id="17" name="Objeto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3082173"/>
              </p:ext>
            </p:extLst>
          </p:nvPr>
        </p:nvGraphicFramePr>
        <p:xfrm>
          <a:off x="4415415" y="3293491"/>
          <a:ext cx="3230562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9" name="Equação" r:id="rId5" imgW="2171700" imgH="914400" progId="Equation.3">
                  <p:embed/>
                </p:oleObj>
              </mc:Choice>
              <mc:Fallback>
                <p:oleObj name="Equação" r:id="rId5" imgW="2171700" imgH="914400" progId="Equation.3">
                  <p:embed/>
                  <p:pic>
                    <p:nvPicPr>
                      <p:cNvPr id="0" name="Objeto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5415" y="3293491"/>
                        <a:ext cx="3230562" cy="136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564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392378"/>
            <a:ext cx="8520600" cy="187036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pt-BR" dirty="0">
                <a:solidFill>
                  <a:schemeClr val="tx1"/>
                </a:solidFill>
              </a:rPr>
              <a:t>Considerando que as duas populações são normais rejeitaremos </a:t>
            </a:r>
            <a:r>
              <a:rPr lang="pt-BR" dirty="0" smtClean="0">
                <a:solidFill>
                  <a:schemeClr val="tx1"/>
                </a:solidFill>
              </a:rPr>
              <a:t>H</a:t>
            </a:r>
            <a:r>
              <a:rPr lang="pt-BR" baseline="-25000" dirty="0" smtClean="0">
                <a:solidFill>
                  <a:schemeClr val="tx1"/>
                </a:solidFill>
              </a:rPr>
              <a:t>03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ao nível de significância </a:t>
            </a:r>
            <a:r>
              <a:rPr lang="pt-BR" dirty="0">
                <a:solidFill>
                  <a:schemeClr val="tx1"/>
                </a:solidFill>
                <a:sym typeface="Symbol"/>
              </a:rPr>
              <a:t></a:t>
            </a:r>
            <a:r>
              <a:rPr lang="pt-BR" dirty="0">
                <a:solidFill>
                  <a:schemeClr val="tx1"/>
                </a:solidFill>
              </a:rPr>
              <a:t> se </a:t>
            </a:r>
          </a:p>
          <a:p>
            <a:pPr algn="just"/>
            <a:endParaRPr lang="pt-BR" dirty="0">
              <a:solidFill>
                <a:schemeClr val="tx1"/>
              </a:solidFill>
            </a:endParaRPr>
          </a:p>
          <a:p>
            <a:pPr algn="just"/>
            <a:endParaRPr lang="pt-BR" dirty="0" smtClean="0"/>
          </a:p>
          <a:p>
            <a:pPr algn="just"/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26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311700" y="35150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b="1" cap="small" dirty="0" smtClean="0"/>
              <a:t>Comparação de </a:t>
            </a:r>
            <a:r>
              <a:rPr lang="pt-BR" b="1" cap="small" dirty="0"/>
              <a:t>Dois </a:t>
            </a:r>
            <a:r>
              <a:rPr lang="pt-BR" b="1" cap="small" dirty="0" smtClean="0"/>
              <a:t>Tratamentos </a:t>
            </a:r>
            <a:r>
              <a:rPr lang="pt-BR" b="1" cap="small" dirty="0"/>
              <a:t>(Populações)</a:t>
            </a:r>
            <a:endParaRPr lang="pt-BR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10" name="Objeto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384177"/>
              </p:ext>
            </p:extLst>
          </p:nvPr>
        </p:nvGraphicFramePr>
        <p:xfrm>
          <a:off x="2026226" y="2429222"/>
          <a:ext cx="5309755" cy="656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7" name="Equação" r:id="rId3" imgW="2247900" imgH="279400" progId="Equation.3">
                  <p:embed/>
                </p:oleObj>
              </mc:Choice>
              <mc:Fallback>
                <p:oleObj name="Equação" r:id="rId3" imgW="2247900" imgH="279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6226" y="2429222"/>
                        <a:ext cx="5309755" cy="6568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12" name="Objeto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87224"/>
              </p:ext>
            </p:extLst>
          </p:nvPr>
        </p:nvGraphicFramePr>
        <p:xfrm>
          <a:off x="2400294" y="3584861"/>
          <a:ext cx="4423791" cy="640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8" name="Equação" r:id="rId5" imgW="1892300" imgH="279400" progId="Equation.3">
                  <p:embed/>
                </p:oleObj>
              </mc:Choice>
              <mc:Fallback>
                <p:oleObj name="Equação" r:id="rId5" imgW="1892300" imgH="279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294" y="3584861"/>
                        <a:ext cx="4423791" cy="6407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267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27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Espaço Reservado para Texto 2"/>
          <p:cNvSpPr txBox="1">
            <a:spLocks/>
          </p:cNvSpPr>
          <p:nvPr/>
        </p:nvSpPr>
        <p:spPr>
          <a:xfrm>
            <a:off x="311700" y="1402769"/>
            <a:ext cx="8520600" cy="204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endParaRPr lang="pt-BR" sz="2200" dirty="0" smtClean="0"/>
          </a:p>
          <a:p>
            <a:pPr marL="114300" indent="0">
              <a:buFont typeface="Arial"/>
              <a:buNone/>
            </a:pPr>
            <a:r>
              <a:rPr lang="pt-BR" sz="2200" b="1" dirty="0" smtClean="0">
                <a:solidFill>
                  <a:schemeClr val="tx1"/>
                </a:solidFill>
              </a:rPr>
              <a:t>Caso H</a:t>
            </a:r>
            <a:r>
              <a:rPr lang="pt-BR" sz="2200" b="1" baseline="-25000" dirty="0" smtClean="0">
                <a:solidFill>
                  <a:schemeClr val="tx1"/>
                </a:solidFill>
              </a:rPr>
              <a:t>03</a:t>
            </a:r>
            <a:r>
              <a:rPr lang="pt-BR" sz="2200" b="1" dirty="0" smtClean="0">
                <a:solidFill>
                  <a:schemeClr val="tx1"/>
                </a:solidFill>
              </a:rPr>
              <a:t> seja rejeitado</a:t>
            </a:r>
            <a:r>
              <a:rPr lang="pt-BR" sz="2200" dirty="0" smtClean="0">
                <a:solidFill>
                  <a:schemeClr val="tx1"/>
                </a:solidFill>
              </a:rPr>
              <a:t>:</a:t>
            </a:r>
          </a:p>
          <a:p>
            <a:pPr marL="114300" indent="0">
              <a:buFont typeface="Arial"/>
              <a:buNone/>
            </a:pPr>
            <a:endParaRPr lang="pt-BR" sz="2800" dirty="0" smtClean="0">
              <a:solidFill>
                <a:schemeClr val="tx1"/>
              </a:solidFill>
            </a:endParaRPr>
          </a:p>
          <a:p>
            <a:pPr marL="114300" indent="0">
              <a:buFont typeface="Arial"/>
              <a:buNone/>
            </a:pPr>
            <a:endParaRPr lang="pt-BR" sz="2800" dirty="0" smtClean="0">
              <a:solidFill>
                <a:schemeClr val="tx1"/>
              </a:solidFill>
            </a:endParaRPr>
          </a:p>
          <a:p>
            <a:pPr marL="114300" indent="0" algn="ctr">
              <a:buNone/>
            </a:pPr>
            <a:r>
              <a:rPr lang="pt-BR" sz="2400" dirty="0" smtClean="0">
                <a:solidFill>
                  <a:schemeClr val="tx1"/>
                </a:solidFill>
              </a:rPr>
              <a:t>Testar </a:t>
            </a:r>
            <a:r>
              <a:rPr lang="pt-BR" sz="2400" dirty="0">
                <a:solidFill>
                  <a:schemeClr val="tx1"/>
                </a:solidFill>
              </a:rPr>
              <a:t>o efeito de períodos nos diferentes </a:t>
            </a:r>
            <a:r>
              <a:rPr lang="pt-BR" sz="2400" dirty="0" smtClean="0">
                <a:solidFill>
                  <a:schemeClr val="tx1"/>
                </a:solidFill>
              </a:rPr>
              <a:t>grupos</a:t>
            </a:r>
            <a:endParaRPr lang="pt-BR" sz="2400" dirty="0">
              <a:solidFill>
                <a:schemeClr val="tx1"/>
              </a:solidFill>
            </a:endParaRPr>
          </a:p>
          <a:p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800" dirty="0" smtClean="0"/>
          </a:p>
          <a:p>
            <a:pPr algn="just"/>
            <a:endParaRPr lang="pt-BR" dirty="0" smtClean="0"/>
          </a:p>
          <a:p>
            <a:endParaRPr lang="pt-BR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311700" y="21642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b="1" cap="small" dirty="0" smtClean="0"/>
              <a:t>Comparação de Dois Tratamentos (Populações)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501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28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Espaço Reservado para Texto 2"/>
          <p:cNvSpPr txBox="1">
            <a:spLocks/>
          </p:cNvSpPr>
          <p:nvPr/>
        </p:nvSpPr>
        <p:spPr>
          <a:xfrm>
            <a:off x="311700" y="1162800"/>
            <a:ext cx="8520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lvl="0" indent="0" algn="just">
              <a:buNone/>
            </a:pPr>
            <a:r>
              <a:rPr lang="pt-BR" sz="2000" dirty="0" smtClean="0">
                <a:solidFill>
                  <a:schemeClr val="tx1"/>
                </a:solidFill>
              </a:rPr>
              <a:t>Qualquer </a:t>
            </a:r>
            <a:r>
              <a:rPr lang="pt-BR" sz="2000" dirty="0">
                <a:solidFill>
                  <a:schemeClr val="tx1"/>
                </a:solidFill>
              </a:rPr>
              <a:t>hipótese sobre os parâmetros pode ser expressa na forma linear geral </a:t>
            </a:r>
            <a:r>
              <a:rPr lang="pt-BR" sz="2000" b="1" dirty="0" smtClean="0">
                <a:solidFill>
                  <a:schemeClr val="tx1"/>
                </a:solidFill>
              </a:rPr>
              <a:t>C</a:t>
            </a:r>
            <a:r>
              <a:rPr lang="pt-BR" sz="2000" b="1" dirty="0" smtClean="0">
                <a:solidFill>
                  <a:schemeClr val="tx1"/>
                </a:solidFill>
                <a:sym typeface="Symbol"/>
              </a:rPr>
              <a:t>M</a:t>
            </a:r>
            <a:r>
              <a:rPr lang="pt-BR" sz="2000" b="1" dirty="0" smtClean="0">
                <a:solidFill>
                  <a:schemeClr val="tx1"/>
                </a:solidFill>
              </a:rPr>
              <a:t>U </a:t>
            </a:r>
            <a:r>
              <a:rPr lang="pt-BR" sz="2000" dirty="0">
                <a:solidFill>
                  <a:schemeClr val="tx1"/>
                </a:solidFill>
              </a:rPr>
              <a:t>=</a:t>
            </a:r>
            <a:r>
              <a:rPr lang="pt-BR" sz="2000" b="1" dirty="0">
                <a:solidFill>
                  <a:schemeClr val="tx1"/>
                </a:solidFill>
              </a:rPr>
              <a:t> 0</a:t>
            </a:r>
            <a:r>
              <a:rPr lang="pt-BR" sz="2000" dirty="0">
                <a:solidFill>
                  <a:schemeClr val="tx1"/>
                </a:solidFill>
              </a:rPr>
              <a:t>,</a:t>
            </a:r>
            <a:r>
              <a:rPr lang="pt-BR" sz="2000" b="1" dirty="0">
                <a:solidFill>
                  <a:schemeClr val="tx1"/>
                </a:solidFill>
              </a:rPr>
              <a:t> </a:t>
            </a:r>
            <a:r>
              <a:rPr lang="pt-BR" sz="2000" dirty="0" smtClean="0">
                <a:solidFill>
                  <a:schemeClr val="tx1"/>
                </a:solidFill>
              </a:rPr>
              <a:t>em que </a:t>
            </a:r>
            <a:r>
              <a:rPr lang="pt-BR" sz="2000" b="1" dirty="0" smtClean="0">
                <a:solidFill>
                  <a:schemeClr val="tx1"/>
                </a:solidFill>
              </a:rPr>
              <a:t>C</a:t>
            </a:r>
            <a:r>
              <a:rPr lang="pt-BR" sz="2000" dirty="0" smtClean="0">
                <a:solidFill>
                  <a:schemeClr val="tx1"/>
                </a:solidFill>
              </a:rPr>
              <a:t> </a:t>
            </a:r>
            <a:r>
              <a:rPr lang="pt-BR" sz="2000" dirty="0">
                <a:solidFill>
                  <a:schemeClr val="tx1"/>
                </a:solidFill>
              </a:rPr>
              <a:t>e </a:t>
            </a:r>
            <a:r>
              <a:rPr lang="pt-BR" sz="2000" b="1" dirty="0" smtClean="0">
                <a:solidFill>
                  <a:schemeClr val="tx1"/>
                </a:solidFill>
              </a:rPr>
              <a:t>U</a:t>
            </a:r>
            <a:r>
              <a:rPr lang="pt-BR" sz="2000" dirty="0" smtClean="0">
                <a:solidFill>
                  <a:schemeClr val="tx1"/>
                </a:solidFill>
              </a:rPr>
              <a:t> </a:t>
            </a:r>
            <a:r>
              <a:rPr lang="pt-BR" sz="2000" dirty="0">
                <a:solidFill>
                  <a:schemeClr val="tx1"/>
                </a:solidFill>
              </a:rPr>
              <a:t>são matrizes de constantes </a:t>
            </a:r>
            <a:r>
              <a:rPr lang="pt-BR" sz="2000" dirty="0" smtClean="0">
                <a:solidFill>
                  <a:schemeClr val="tx1"/>
                </a:solidFill>
              </a:rPr>
              <a:t>conhecidas </a:t>
            </a:r>
            <a:r>
              <a:rPr lang="pt-BR" sz="2000" dirty="0">
                <a:solidFill>
                  <a:schemeClr val="tx1"/>
                </a:solidFill>
              </a:rPr>
              <a:t>com dimensões </a:t>
            </a:r>
            <a:r>
              <a:rPr lang="pt-BR" sz="2000" i="1" dirty="0">
                <a:solidFill>
                  <a:schemeClr val="tx1"/>
                </a:solidFill>
              </a:rPr>
              <a:t>c</a:t>
            </a:r>
            <a:r>
              <a:rPr lang="pt-BR" sz="2000" dirty="0">
                <a:solidFill>
                  <a:schemeClr val="tx1"/>
                </a:solidFill>
              </a:rPr>
              <a:t> </a:t>
            </a:r>
            <a:r>
              <a:rPr lang="pt-BR" sz="2000" i="1" dirty="0">
                <a:solidFill>
                  <a:schemeClr val="tx1"/>
                </a:solidFill>
              </a:rPr>
              <a:t>×</a:t>
            </a:r>
            <a:r>
              <a:rPr lang="pt-BR" sz="2000" dirty="0">
                <a:solidFill>
                  <a:schemeClr val="tx1"/>
                </a:solidFill>
              </a:rPr>
              <a:t> </a:t>
            </a:r>
            <a:r>
              <a:rPr lang="pt-BR" sz="2000" i="1" dirty="0">
                <a:solidFill>
                  <a:schemeClr val="tx1"/>
                </a:solidFill>
              </a:rPr>
              <a:t>p</a:t>
            </a:r>
            <a:r>
              <a:rPr lang="pt-BR" sz="2000" dirty="0">
                <a:solidFill>
                  <a:schemeClr val="tx1"/>
                </a:solidFill>
              </a:rPr>
              <a:t> e </a:t>
            </a:r>
            <a:r>
              <a:rPr lang="pt-BR" sz="2000" i="1" dirty="0">
                <a:solidFill>
                  <a:schemeClr val="tx1"/>
                </a:solidFill>
              </a:rPr>
              <a:t>m</a:t>
            </a:r>
            <a:r>
              <a:rPr lang="pt-BR" sz="2000" dirty="0">
                <a:solidFill>
                  <a:schemeClr val="tx1"/>
                </a:solidFill>
              </a:rPr>
              <a:t> </a:t>
            </a:r>
            <a:r>
              <a:rPr lang="pt-BR" sz="2000" i="1" dirty="0">
                <a:solidFill>
                  <a:schemeClr val="tx1"/>
                </a:solidFill>
              </a:rPr>
              <a:t>×</a:t>
            </a:r>
            <a:r>
              <a:rPr lang="pt-BR" sz="2000" dirty="0">
                <a:solidFill>
                  <a:schemeClr val="tx1"/>
                </a:solidFill>
              </a:rPr>
              <a:t> </a:t>
            </a:r>
            <a:r>
              <a:rPr lang="pt-BR" sz="2000" i="1" dirty="0">
                <a:solidFill>
                  <a:schemeClr val="tx1"/>
                </a:solidFill>
              </a:rPr>
              <a:t>u</a:t>
            </a:r>
            <a:r>
              <a:rPr lang="pt-BR" sz="2000" dirty="0">
                <a:solidFill>
                  <a:schemeClr val="tx1"/>
                </a:solidFill>
              </a:rPr>
              <a:t>, </a:t>
            </a:r>
            <a:r>
              <a:rPr lang="pt-BR" sz="2000" dirty="0" smtClean="0">
                <a:solidFill>
                  <a:schemeClr val="tx1"/>
                </a:solidFill>
              </a:rPr>
              <a:t>respectivamente, e </a:t>
            </a:r>
            <a:r>
              <a:rPr lang="pt-BR" sz="2000" b="1" i="1" dirty="0" smtClean="0">
                <a:solidFill>
                  <a:schemeClr val="tx1"/>
                </a:solidFill>
              </a:rPr>
              <a:t>M</a:t>
            </a:r>
            <a:r>
              <a:rPr lang="pt-BR" sz="2000" dirty="0" smtClean="0">
                <a:solidFill>
                  <a:schemeClr val="tx1"/>
                </a:solidFill>
              </a:rPr>
              <a:t> é a matriz de parâmetros. Por exemplo, </a:t>
            </a:r>
            <a:r>
              <a:rPr lang="pt-BR" sz="2000" dirty="0" smtClean="0">
                <a:solidFill>
                  <a:schemeClr val="tx1"/>
                </a:solidFill>
              </a:rPr>
              <a:t>considerando </a:t>
            </a:r>
            <a:r>
              <a:rPr lang="pt-BR" sz="2000" i="1" dirty="0" smtClean="0">
                <a:solidFill>
                  <a:schemeClr val="tx1"/>
                </a:solidFill>
              </a:rPr>
              <a:t>p</a:t>
            </a:r>
            <a:r>
              <a:rPr lang="pt-BR" sz="2000" dirty="0" smtClean="0">
                <a:solidFill>
                  <a:schemeClr val="tx1"/>
                </a:solidFill>
              </a:rPr>
              <a:t> </a:t>
            </a:r>
            <a:r>
              <a:rPr lang="pt-BR" sz="2000" dirty="0">
                <a:solidFill>
                  <a:schemeClr val="tx1"/>
                </a:solidFill>
              </a:rPr>
              <a:t>= </a:t>
            </a:r>
            <a:r>
              <a:rPr lang="pt-BR" sz="2000" dirty="0" smtClean="0">
                <a:solidFill>
                  <a:schemeClr val="tx1"/>
                </a:solidFill>
              </a:rPr>
              <a:t>2</a:t>
            </a:r>
            <a:r>
              <a:rPr lang="pt-BR" sz="2000" dirty="0" smtClean="0">
                <a:solidFill>
                  <a:schemeClr val="tx1"/>
                </a:solidFill>
              </a:rPr>
              <a:t>,</a:t>
            </a:r>
            <a:r>
              <a:rPr lang="pt-BR" sz="2000" dirty="0" smtClean="0">
                <a:solidFill>
                  <a:schemeClr val="tx1"/>
                </a:solidFill>
              </a:rPr>
              <a:t> </a:t>
            </a:r>
            <a:r>
              <a:rPr lang="pt-BR" sz="2000" i="1" dirty="0" smtClean="0">
                <a:solidFill>
                  <a:schemeClr val="tx1"/>
                </a:solidFill>
              </a:rPr>
              <a:t>m</a:t>
            </a:r>
            <a:r>
              <a:rPr lang="pt-BR" sz="2000" dirty="0" smtClean="0">
                <a:solidFill>
                  <a:schemeClr val="tx1"/>
                </a:solidFill>
              </a:rPr>
              <a:t> </a:t>
            </a:r>
            <a:r>
              <a:rPr lang="pt-BR" sz="2000" dirty="0">
                <a:solidFill>
                  <a:schemeClr val="tx1"/>
                </a:solidFill>
              </a:rPr>
              <a:t>= </a:t>
            </a:r>
            <a:r>
              <a:rPr lang="pt-BR" sz="2000" dirty="0" smtClean="0">
                <a:solidFill>
                  <a:schemeClr val="tx1"/>
                </a:solidFill>
              </a:rPr>
              <a:t>3 e a hipótese H</a:t>
            </a:r>
            <a:r>
              <a:rPr lang="pt-BR" sz="2000" baseline="-25000" dirty="0" smtClean="0">
                <a:solidFill>
                  <a:schemeClr val="tx1"/>
                </a:solidFill>
              </a:rPr>
              <a:t>I</a:t>
            </a:r>
            <a:r>
              <a:rPr lang="pt-BR" sz="2000" dirty="0" smtClean="0">
                <a:solidFill>
                  <a:schemeClr val="tx1"/>
                </a:solidFill>
              </a:rPr>
              <a:t>:</a:t>
            </a:r>
            <a:endParaRPr lang="pt-BR" sz="2000" dirty="0">
              <a:solidFill>
                <a:schemeClr val="tx1"/>
              </a:solidFill>
            </a:endParaRPr>
          </a:p>
          <a:p>
            <a:pPr lvl="0" algn="just"/>
            <a:endParaRPr lang="pt-BR" sz="2000" dirty="0">
              <a:solidFill>
                <a:schemeClr val="tx1"/>
              </a:solidFill>
            </a:endParaRPr>
          </a:p>
          <a:p>
            <a:pPr marL="114300" indent="0" algn="just">
              <a:lnSpc>
                <a:spcPct val="120000"/>
              </a:lnSpc>
              <a:buNone/>
            </a:pPr>
            <a:endParaRPr lang="pt-BR" sz="2000" dirty="0">
              <a:solidFill>
                <a:schemeClr val="tx1"/>
              </a:solidFill>
            </a:endParaRPr>
          </a:p>
          <a:p>
            <a:pPr algn="just"/>
            <a:endParaRPr lang="pt-BR" sz="2000" dirty="0" smtClean="0">
              <a:solidFill>
                <a:schemeClr val="tx1"/>
              </a:solidFill>
            </a:endParaRPr>
          </a:p>
          <a:p>
            <a:pPr algn="just"/>
            <a:endParaRPr lang="pt-BR" dirty="0" smtClean="0"/>
          </a:p>
          <a:p>
            <a:pPr marL="114300" indent="0">
              <a:buNone/>
            </a:pPr>
            <a:r>
              <a:rPr lang="pt-BR" dirty="0" smtClean="0"/>
              <a:t>                 </a:t>
            </a:r>
            <a:endParaRPr lang="pt-BR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311700" y="37228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pt-B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Geral: </a:t>
            </a:r>
            <a:r>
              <a:rPr lang="pt-BR" sz="2000" b="1" cap="small" dirty="0"/>
              <a:t>Comparação de Dois ou Mais </a:t>
            </a:r>
            <a:r>
              <a:rPr lang="pt-BR" sz="2000" b="1" cap="small" dirty="0" smtClean="0"/>
              <a:t>Tratamentos </a:t>
            </a:r>
            <a:r>
              <a:rPr lang="pt-BR" sz="2000" b="1" cap="small" dirty="0"/>
              <a:t>(Populações)</a:t>
            </a:r>
            <a:endParaRPr lang="pt-BR" sz="2000" b="1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544" y="3237899"/>
            <a:ext cx="3438092" cy="839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808" y="3270868"/>
            <a:ext cx="2410693" cy="694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422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29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Espaço Reservado para Texto 2"/>
          <p:cNvSpPr txBox="1">
            <a:spLocks/>
          </p:cNvSpPr>
          <p:nvPr/>
        </p:nvSpPr>
        <p:spPr>
          <a:xfrm>
            <a:off x="311700" y="1162800"/>
            <a:ext cx="8520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lvl="0" indent="0" algn="just">
              <a:buNone/>
            </a:pPr>
            <a:r>
              <a:rPr lang="pt-BR" sz="2000" dirty="0" smtClean="0">
                <a:solidFill>
                  <a:schemeClr val="tx1"/>
                </a:solidFill>
              </a:rPr>
              <a:t>As hipóteses </a:t>
            </a:r>
            <a:r>
              <a:rPr lang="pt-BR" sz="2000" dirty="0">
                <a:solidFill>
                  <a:schemeClr val="tx1"/>
                </a:solidFill>
              </a:rPr>
              <a:t>sobre os parâmetros </a:t>
            </a:r>
            <a:r>
              <a:rPr lang="pt-BR" sz="2000" dirty="0" smtClean="0">
                <a:solidFill>
                  <a:schemeClr val="tx1"/>
                </a:solidFill>
              </a:rPr>
              <a:t>também pode </a:t>
            </a:r>
            <a:r>
              <a:rPr lang="pt-BR" sz="2000" dirty="0">
                <a:solidFill>
                  <a:schemeClr val="tx1"/>
                </a:solidFill>
              </a:rPr>
              <a:t>ser expressa na forma </a:t>
            </a:r>
            <a:r>
              <a:rPr lang="pt-BR" sz="2000" b="1" i="1" dirty="0" smtClean="0">
                <a:solidFill>
                  <a:schemeClr val="tx1"/>
                </a:solidFill>
              </a:rPr>
              <a:t>L</a:t>
            </a:r>
            <a:r>
              <a:rPr lang="el-GR" sz="2000" b="1" i="1" dirty="0" smtClean="0">
                <a:solidFill>
                  <a:schemeClr val="tx1"/>
                </a:solidFill>
              </a:rPr>
              <a:t>β</a:t>
            </a:r>
            <a:r>
              <a:rPr lang="pt-BR" sz="2000" b="1" dirty="0" smtClean="0">
                <a:solidFill>
                  <a:schemeClr val="tx1"/>
                </a:solidFill>
              </a:rPr>
              <a:t> </a:t>
            </a:r>
            <a:r>
              <a:rPr lang="pt-BR" sz="2000" dirty="0" smtClean="0">
                <a:solidFill>
                  <a:schemeClr val="tx1"/>
                </a:solidFill>
              </a:rPr>
              <a:t>=</a:t>
            </a:r>
            <a:r>
              <a:rPr lang="pt-BR" sz="2000" b="1" dirty="0" smtClean="0">
                <a:solidFill>
                  <a:schemeClr val="tx1"/>
                </a:solidFill>
              </a:rPr>
              <a:t> </a:t>
            </a:r>
            <a:r>
              <a:rPr lang="pt-BR" sz="2000" b="1" dirty="0">
                <a:solidFill>
                  <a:schemeClr val="tx1"/>
                </a:solidFill>
              </a:rPr>
              <a:t>0</a:t>
            </a:r>
            <a:r>
              <a:rPr lang="pt-BR" sz="2000" dirty="0">
                <a:solidFill>
                  <a:schemeClr val="tx1"/>
                </a:solidFill>
              </a:rPr>
              <a:t>,</a:t>
            </a:r>
            <a:r>
              <a:rPr lang="pt-BR" sz="2000" b="1" dirty="0">
                <a:solidFill>
                  <a:schemeClr val="tx1"/>
                </a:solidFill>
              </a:rPr>
              <a:t> </a:t>
            </a:r>
            <a:r>
              <a:rPr lang="pt-BR" sz="2000" dirty="0" smtClean="0">
                <a:solidFill>
                  <a:schemeClr val="tx1"/>
                </a:solidFill>
              </a:rPr>
              <a:t>em que </a:t>
            </a:r>
            <a:r>
              <a:rPr lang="el-GR" sz="2000" b="1" i="1" dirty="0">
                <a:solidFill>
                  <a:schemeClr val="tx1"/>
                </a:solidFill>
              </a:rPr>
              <a:t>β </a:t>
            </a:r>
            <a:r>
              <a:rPr lang="pt-BR" sz="2000" dirty="0" smtClean="0">
                <a:solidFill>
                  <a:schemeClr val="tx1"/>
                </a:solidFill>
              </a:rPr>
              <a:t>é o vetor de parâmetros e</a:t>
            </a:r>
            <a:r>
              <a:rPr lang="pt-BR" sz="2000" b="1" i="1" dirty="0" smtClean="0">
                <a:solidFill>
                  <a:schemeClr val="tx1"/>
                </a:solidFill>
              </a:rPr>
              <a:t> L </a:t>
            </a:r>
            <a:r>
              <a:rPr lang="pt-BR" sz="2000" dirty="0" smtClean="0">
                <a:solidFill>
                  <a:schemeClr val="tx1"/>
                </a:solidFill>
              </a:rPr>
              <a:t>é a matriz associada à hipótese</a:t>
            </a:r>
            <a:r>
              <a:rPr lang="pt-BR" sz="2000" dirty="0" smtClean="0">
                <a:solidFill>
                  <a:schemeClr val="tx1"/>
                </a:solidFill>
              </a:rPr>
              <a:t>. </a:t>
            </a:r>
            <a:r>
              <a:rPr lang="pt-BR" sz="2000" dirty="0" smtClean="0">
                <a:solidFill>
                  <a:schemeClr val="tx1"/>
                </a:solidFill>
              </a:rPr>
              <a:t>Por exemplo, </a:t>
            </a:r>
            <a:r>
              <a:rPr lang="pt-BR" sz="2000" dirty="0">
                <a:solidFill>
                  <a:schemeClr val="tx1"/>
                </a:solidFill>
              </a:rPr>
              <a:t>considerando </a:t>
            </a:r>
            <a:r>
              <a:rPr lang="pt-BR" sz="2000" i="1" dirty="0">
                <a:solidFill>
                  <a:schemeClr val="tx1"/>
                </a:solidFill>
              </a:rPr>
              <a:t>p</a:t>
            </a:r>
            <a:r>
              <a:rPr lang="pt-BR" sz="2000" dirty="0">
                <a:solidFill>
                  <a:schemeClr val="tx1"/>
                </a:solidFill>
              </a:rPr>
              <a:t> = 2, </a:t>
            </a:r>
            <a:r>
              <a:rPr lang="pt-BR" sz="2000" i="1" dirty="0">
                <a:solidFill>
                  <a:schemeClr val="tx1"/>
                </a:solidFill>
              </a:rPr>
              <a:t>m</a:t>
            </a:r>
            <a:r>
              <a:rPr lang="pt-BR" sz="2000" dirty="0">
                <a:solidFill>
                  <a:schemeClr val="tx1"/>
                </a:solidFill>
              </a:rPr>
              <a:t> = 3 e a hipótese H</a:t>
            </a:r>
            <a:r>
              <a:rPr lang="pt-BR" sz="2000" baseline="-25000" dirty="0">
                <a:solidFill>
                  <a:schemeClr val="tx1"/>
                </a:solidFill>
              </a:rPr>
              <a:t>I</a:t>
            </a:r>
            <a:r>
              <a:rPr lang="pt-BR" sz="2000" dirty="0">
                <a:solidFill>
                  <a:schemeClr val="tx1"/>
                </a:solidFill>
              </a:rPr>
              <a:t>:</a:t>
            </a:r>
          </a:p>
          <a:p>
            <a:pPr lvl="0" algn="just"/>
            <a:endParaRPr lang="pt-BR" sz="2000" dirty="0">
              <a:solidFill>
                <a:schemeClr val="tx1"/>
              </a:solidFill>
            </a:endParaRPr>
          </a:p>
          <a:p>
            <a:pPr marL="114300" indent="0" algn="just">
              <a:lnSpc>
                <a:spcPct val="120000"/>
              </a:lnSpc>
              <a:buNone/>
            </a:pPr>
            <a:endParaRPr lang="pt-BR" sz="2000" dirty="0">
              <a:solidFill>
                <a:schemeClr val="tx1"/>
              </a:solidFill>
            </a:endParaRPr>
          </a:p>
          <a:p>
            <a:pPr algn="just"/>
            <a:endParaRPr lang="pt-BR" sz="2000" dirty="0" smtClean="0">
              <a:solidFill>
                <a:schemeClr val="tx1"/>
              </a:solidFill>
            </a:endParaRPr>
          </a:p>
          <a:p>
            <a:pPr algn="just"/>
            <a:endParaRPr lang="pt-BR" dirty="0" smtClean="0"/>
          </a:p>
          <a:p>
            <a:pPr marL="114300" indent="0">
              <a:buNone/>
            </a:pPr>
            <a:r>
              <a:rPr lang="pt-BR" dirty="0" smtClean="0"/>
              <a:t>                 </a:t>
            </a:r>
            <a:endParaRPr lang="pt-BR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311700" y="37228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pt-B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Geral: </a:t>
            </a:r>
            <a:r>
              <a:rPr lang="pt-BR" sz="2000" b="1" cap="small" dirty="0"/>
              <a:t>Comparação de Dois ou Mais </a:t>
            </a:r>
            <a:r>
              <a:rPr lang="pt-BR" sz="2000" b="1" cap="small" dirty="0" smtClean="0"/>
              <a:t>Tratamentos </a:t>
            </a:r>
            <a:r>
              <a:rPr lang="pt-BR" sz="2000" b="1" cap="small" dirty="0"/>
              <a:t>(Populações)</a:t>
            </a:r>
            <a:endParaRPr lang="pt-BR" sz="2000" b="1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256" y="3033164"/>
            <a:ext cx="3179993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294" y="2881313"/>
            <a:ext cx="2946066" cy="745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6940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30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257642" y="512914"/>
            <a:ext cx="4186200" cy="381642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93;p17"/>
          <p:cNvSpPr txBox="1">
            <a:spLocks noGrp="1"/>
          </p:cNvSpPr>
          <p:nvPr>
            <p:ph type="body" idx="1"/>
          </p:nvPr>
        </p:nvSpPr>
        <p:spPr>
          <a:xfrm>
            <a:off x="2949791" y="102666"/>
            <a:ext cx="8520600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chemeClr val="accent1"/>
                </a:solidFill>
              </a:rPr>
              <a:t>Figura </a:t>
            </a:r>
            <a:r>
              <a:rPr lang="pt-BR" sz="1600" b="1" dirty="0" smtClean="0">
                <a:solidFill>
                  <a:schemeClr val="accent1"/>
                </a:solidFill>
              </a:rPr>
              <a:t>4: </a:t>
            </a:r>
            <a:r>
              <a:rPr lang="pt-BR" sz="1600" dirty="0" smtClean="0">
                <a:solidFill>
                  <a:schemeClr val="tx1"/>
                </a:solidFill>
              </a:rPr>
              <a:t>Gráfico de perfis </a:t>
            </a:r>
            <a:r>
              <a:rPr lang="pt-BR" sz="1600" dirty="0">
                <a:solidFill>
                  <a:schemeClr val="tx1"/>
                </a:solidFill>
              </a:rPr>
              <a:t>m</a:t>
            </a:r>
            <a:r>
              <a:rPr lang="pt-BR" sz="1600" dirty="0" smtClean="0">
                <a:solidFill>
                  <a:schemeClr val="tx1"/>
                </a:solidFill>
              </a:rPr>
              <a:t>édios.</a:t>
            </a:r>
            <a:endParaRPr sz="1600" dirty="0">
              <a:solidFill>
                <a:schemeClr val="tx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11" name="Google Shape;96;p17"/>
          <p:cNvSpPr txBox="1">
            <a:spLocks/>
          </p:cNvSpPr>
          <p:nvPr/>
        </p:nvSpPr>
        <p:spPr>
          <a:xfrm>
            <a:off x="185259" y="4295580"/>
            <a:ext cx="85206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pt-BR" sz="1200" b="1" dirty="0" smtClean="0">
                <a:solidFill>
                  <a:schemeClr val="dk1"/>
                </a:solidFill>
              </a:rPr>
              <a:t>Fonte: </a:t>
            </a:r>
            <a:r>
              <a:rPr lang="pt-BR" sz="1200" dirty="0" smtClean="0">
                <a:solidFill>
                  <a:schemeClr val="dk1"/>
                </a:solidFill>
              </a:rPr>
              <a:t>https://www.ime.usp.br/~jmsinger/MAE0610/Singer&amp;Nobre&amp;Rocha2018jun.pdf</a:t>
            </a:r>
            <a:endParaRPr lang="pt-BR" sz="1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20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517076"/>
            <a:ext cx="8520600" cy="2698510"/>
          </a:xfrm>
        </p:spPr>
        <p:txBody>
          <a:bodyPr>
            <a:normAutofit/>
          </a:bodyPr>
          <a:lstStyle/>
          <a:p>
            <a:pPr algn="just"/>
            <a:r>
              <a:rPr lang="pt-BR" dirty="0" smtClean="0">
                <a:solidFill>
                  <a:schemeClr val="tx1"/>
                </a:solidFill>
              </a:rPr>
              <a:t>A </a:t>
            </a:r>
            <a:r>
              <a:rPr lang="pt-BR" dirty="0">
                <a:solidFill>
                  <a:schemeClr val="tx1"/>
                </a:solidFill>
              </a:rPr>
              <a:t>matriz </a:t>
            </a:r>
            <a:r>
              <a:rPr lang="pt-BR" b="1" i="1" dirty="0">
                <a:solidFill>
                  <a:schemeClr val="tx1"/>
                </a:solidFill>
              </a:rPr>
              <a:t>C</a:t>
            </a:r>
            <a:r>
              <a:rPr lang="pt-BR" dirty="0">
                <a:solidFill>
                  <a:schemeClr val="tx1"/>
                </a:solidFill>
              </a:rPr>
              <a:t> é utilizada para definir as comparações das respostas esperadas entre tratamentos e a matriz </a:t>
            </a:r>
            <a:r>
              <a:rPr lang="pt-BR" b="1" i="1" dirty="0">
                <a:solidFill>
                  <a:schemeClr val="tx1"/>
                </a:solidFill>
              </a:rPr>
              <a:t>U</a:t>
            </a:r>
            <a:r>
              <a:rPr lang="pt-BR" dirty="0">
                <a:solidFill>
                  <a:schemeClr val="tx1"/>
                </a:solidFill>
              </a:rPr>
              <a:t> é </a:t>
            </a:r>
            <a:r>
              <a:rPr lang="pt-BR" dirty="0" smtClean="0">
                <a:solidFill>
                  <a:schemeClr val="tx1"/>
                </a:solidFill>
              </a:rPr>
              <a:t>usada para </a:t>
            </a:r>
            <a:r>
              <a:rPr lang="pt-BR" dirty="0">
                <a:solidFill>
                  <a:schemeClr val="tx1"/>
                </a:solidFill>
              </a:rPr>
              <a:t>definir as comparações das respostas esperadas entre </a:t>
            </a:r>
            <a:r>
              <a:rPr lang="pt-BR" dirty="0" smtClean="0">
                <a:solidFill>
                  <a:schemeClr val="tx1"/>
                </a:solidFill>
              </a:rPr>
              <a:t>tempos</a:t>
            </a:r>
            <a:r>
              <a:rPr lang="pt-BR" dirty="0">
                <a:solidFill>
                  <a:schemeClr val="tx1"/>
                </a:solidFill>
              </a:rPr>
              <a:t>;</a:t>
            </a:r>
            <a:endParaRPr lang="pt-BR" dirty="0" smtClean="0">
              <a:solidFill>
                <a:schemeClr val="tx1"/>
              </a:solidFill>
            </a:endParaRPr>
          </a:p>
          <a:p>
            <a:pPr algn="just"/>
            <a:endParaRPr lang="pt-BR" dirty="0">
              <a:solidFill>
                <a:schemeClr val="tx1"/>
              </a:solidFill>
            </a:endParaRPr>
          </a:p>
          <a:p>
            <a:pPr algn="just"/>
            <a:r>
              <a:rPr lang="pt-BR" dirty="0">
                <a:solidFill>
                  <a:schemeClr val="tx1"/>
                </a:solidFill>
              </a:rPr>
              <a:t>A escolha dessas matrizes para a definição de cada uma das hipóteses em questão não é </a:t>
            </a:r>
            <a:r>
              <a:rPr lang="pt-BR" dirty="0" smtClean="0">
                <a:solidFill>
                  <a:schemeClr val="tx1"/>
                </a:solidFill>
              </a:rPr>
              <a:t>única.</a:t>
            </a:r>
            <a:endParaRPr lang="pt-BR" dirty="0">
              <a:solidFill>
                <a:schemeClr val="tx1"/>
              </a:solidFill>
            </a:endParaRPr>
          </a:p>
          <a:p>
            <a:pPr lvl="0"/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31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311700" y="37228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pt-B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Geral: </a:t>
            </a:r>
            <a:r>
              <a:rPr lang="pt-BR" sz="2000" b="1" cap="small" dirty="0"/>
              <a:t>Comparação de Dois ou Mais </a:t>
            </a:r>
            <a:r>
              <a:rPr lang="pt-BR" sz="2000" b="1" cap="small" dirty="0" smtClean="0"/>
              <a:t>Tratamentos </a:t>
            </a:r>
            <a:r>
              <a:rPr lang="pt-BR" sz="2000" b="1" cap="small" dirty="0"/>
              <a:t>(Populações)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951308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496288"/>
            <a:ext cx="8520600" cy="2698510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pt-BR" dirty="0">
                <a:solidFill>
                  <a:schemeClr val="tx1"/>
                </a:solidFill>
              </a:rPr>
              <a:t>O teste de uma </a:t>
            </a:r>
            <a:r>
              <a:rPr lang="pt-BR" dirty="0" smtClean="0">
                <a:solidFill>
                  <a:schemeClr val="tx1"/>
                </a:solidFill>
              </a:rPr>
              <a:t>hipótese expressa na forma</a:t>
            </a:r>
            <a:r>
              <a:rPr lang="pt-BR" b="1" i="1" dirty="0" smtClean="0">
                <a:solidFill>
                  <a:schemeClr val="tx1"/>
                </a:solidFill>
              </a:rPr>
              <a:t> </a:t>
            </a:r>
            <a:r>
              <a:rPr lang="pt-BR" b="1" dirty="0" smtClean="0">
                <a:solidFill>
                  <a:schemeClr val="tx1"/>
                </a:solidFill>
              </a:rPr>
              <a:t>C</a:t>
            </a:r>
            <a:r>
              <a:rPr lang="pt-BR" b="1" dirty="0" smtClean="0">
                <a:solidFill>
                  <a:schemeClr val="tx1"/>
                </a:solidFill>
                <a:sym typeface="Symbol"/>
              </a:rPr>
              <a:t>M</a:t>
            </a:r>
            <a:r>
              <a:rPr lang="pt-BR" b="1" dirty="0" smtClean="0">
                <a:solidFill>
                  <a:schemeClr val="tx1"/>
                </a:solidFill>
              </a:rPr>
              <a:t>U </a:t>
            </a:r>
            <a:r>
              <a:rPr lang="pt-BR" dirty="0">
                <a:solidFill>
                  <a:schemeClr val="tx1"/>
                </a:solidFill>
              </a:rPr>
              <a:t>=</a:t>
            </a:r>
            <a:r>
              <a:rPr lang="pt-BR" b="1" dirty="0">
                <a:solidFill>
                  <a:schemeClr val="tx1"/>
                </a:solidFill>
              </a:rPr>
              <a:t> 0</a:t>
            </a:r>
            <a:r>
              <a:rPr lang="pt-BR" dirty="0">
                <a:solidFill>
                  <a:schemeClr val="tx1"/>
                </a:solidFill>
              </a:rPr>
              <a:t> pode ser feito </a:t>
            </a:r>
            <a:r>
              <a:rPr lang="pt-BR" dirty="0" smtClean="0">
                <a:solidFill>
                  <a:schemeClr val="tx1"/>
                </a:solidFill>
              </a:rPr>
              <a:t>por meio </a:t>
            </a:r>
            <a:r>
              <a:rPr lang="pt-BR" dirty="0">
                <a:solidFill>
                  <a:schemeClr val="tx1"/>
                </a:solidFill>
              </a:rPr>
              <a:t>das </a:t>
            </a:r>
            <a:r>
              <a:rPr lang="pt-BR" dirty="0" smtClean="0">
                <a:solidFill>
                  <a:schemeClr val="tx1"/>
                </a:solidFill>
              </a:rPr>
              <a:t>estatísticas:</a:t>
            </a:r>
          </a:p>
          <a:p>
            <a:endParaRPr lang="pt-BR" dirty="0">
              <a:solidFill>
                <a:schemeClr val="tx1"/>
              </a:solidFill>
            </a:endParaRPr>
          </a:p>
          <a:p>
            <a:pPr lvl="0"/>
            <a:r>
              <a:rPr lang="pt-BR" i="1" dirty="0">
                <a:solidFill>
                  <a:schemeClr val="tx1"/>
                </a:solidFill>
              </a:rPr>
              <a:t>Lambda de </a:t>
            </a:r>
            <a:r>
              <a:rPr lang="pt-BR" i="1" dirty="0" err="1" smtClean="0">
                <a:solidFill>
                  <a:schemeClr val="tx1"/>
                </a:solidFill>
              </a:rPr>
              <a:t>Wilks</a:t>
            </a:r>
            <a:r>
              <a:rPr lang="pt-BR" i="1" dirty="0">
                <a:solidFill>
                  <a:schemeClr val="tx1"/>
                </a:solidFill>
              </a:rPr>
              <a:t>;</a:t>
            </a:r>
            <a:endParaRPr lang="pt-BR" dirty="0">
              <a:solidFill>
                <a:schemeClr val="tx1"/>
              </a:solidFill>
            </a:endParaRPr>
          </a:p>
          <a:p>
            <a:pPr lvl="0"/>
            <a:r>
              <a:rPr lang="pt-BR" i="1" dirty="0">
                <a:solidFill>
                  <a:schemeClr val="tx1"/>
                </a:solidFill>
              </a:rPr>
              <a:t>Traço de </a:t>
            </a:r>
            <a:r>
              <a:rPr lang="pt-BR" i="1" dirty="0" err="1" smtClean="0">
                <a:solidFill>
                  <a:schemeClr val="tx1"/>
                </a:solidFill>
              </a:rPr>
              <a:t>Pillai</a:t>
            </a:r>
            <a:r>
              <a:rPr lang="pt-BR" i="1" dirty="0">
                <a:solidFill>
                  <a:schemeClr val="tx1"/>
                </a:solidFill>
              </a:rPr>
              <a:t>;</a:t>
            </a:r>
            <a:endParaRPr lang="pt-BR" dirty="0">
              <a:solidFill>
                <a:schemeClr val="tx1"/>
              </a:solidFill>
            </a:endParaRPr>
          </a:p>
          <a:p>
            <a:pPr lvl="0"/>
            <a:r>
              <a:rPr lang="pt-BR" i="1" dirty="0">
                <a:solidFill>
                  <a:schemeClr val="tx1"/>
                </a:solidFill>
              </a:rPr>
              <a:t>Traço de </a:t>
            </a:r>
            <a:r>
              <a:rPr lang="pt-BR" i="1" dirty="0" err="1" smtClean="0">
                <a:solidFill>
                  <a:schemeClr val="tx1"/>
                </a:solidFill>
              </a:rPr>
              <a:t>Hotelling-Lawley</a:t>
            </a:r>
            <a:r>
              <a:rPr lang="pt-BR" i="1" dirty="0">
                <a:solidFill>
                  <a:schemeClr val="tx1"/>
                </a:solidFill>
              </a:rPr>
              <a:t>;</a:t>
            </a:r>
            <a:r>
              <a:rPr lang="pt-BR" i="1" dirty="0" smtClean="0">
                <a:solidFill>
                  <a:schemeClr val="tx1"/>
                </a:solidFill>
              </a:rPr>
              <a:t> </a:t>
            </a:r>
            <a:endParaRPr lang="pt-BR" dirty="0">
              <a:solidFill>
                <a:schemeClr val="tx1"/>
              </a:solidFill>
            </a:endParaRPr>
          </a:p>
          <a:p>
            <a:pPr lvl="0"/>
            <a:r>
              <a:rPr lang="pt-BR" i="1" dirty="0">
                <a:solidFill>
                  <a:schemeClr val="tx1"/>
                </a:solidFill>
              </a:rPr>
              <a:t>Maior Raiz Característica de Roy</a:t>
            </a:r>
            <a:r>
              <a:rPr lang="pt-BR" dirty="0">
                <a:solidFill>
                  <a:schemeClr val="tx1"/>
                </a:solidFill>
              </a:rPr>
              <a:t>. </a:t>
            </a:r>
          </a:p>
          <a:p>
            <a:pPr lvl="0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32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311700" y="37228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pt-B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Geral: </a:t>
            </a:r>
            <a:r>
              <a:rPr lang="pt-BR" sz="2000" b="1" cap="small" dirty="0"/>
              <a:t>Comparação de Dois ou Mais </a:t>
            </a:r>
            <a:r>
              <a:rPr lang="pt-BR" sz="2000" b="1" cap="small" dirty="0" smtClean="0"/>
              <a:t>Tratamentos </a:t>
            </a:r>
            <a:r>
              <a:rPr lang="pt-BR" sz="2000" b="1" cap="small" dirty="0"/>
              <a:t>(Populações)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54688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496288"/>
            <a:ext cx="8520600" cy="2698510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pt-BR" dirty="0">
                <a:solidFill>
                  <a:schemeClr val="tx1"/>
                </a:solidFill>
              </a:rPr>
              <a:t>Em termos dos parâmetros </a:t>
            </a:r>
            <a:r>
              <a:rPr lang="pt-BR" i="1" dirty="0" err="1">
                <a:solidFill>
                  <a:schemeClr val="tx1"/>
                </a:solidFill>
              </a:rPr>
              <a:t>μ</a:t>
            </a:r>
            <a:r>
              <a:rPr lang="pt-BR" i="1" baseline="-8000" dirty="0" err="1">
                <a:solidFill>
                  <a:schemeClr val="tx1"/>
                </a:solidFill>
              </a:rPr>
              <a:t>jk</a:t>
            </a:r>
            <a:r>
              <a:rPr lang="pt-BR" dirty="0">
                <a:solidFill>
                  <a:schemeClr val="tx1"/>
                </a:solidFill>
              </a:rPr>
              <a:t>, a hipótese </a:t>
            </a:r>
            <a:r>
              <a:rPr lang="pt-BR" dirty="0" smtClean="0">
                <a:solidFill>
                  <a:schemeClr val="tx1"/>
                </a:solidFill>
              </a:rPr>
              <a:t>i. </a:t>
            </a:r>
            <a:r>
              <a:rPr lang="pt-BR" dirty="0">
                <a:solidFill>
                  <a:schemeClr val="tx1"/>
                </a:solidFill>
              </a:rPr>
              <a:t>pode ser expressa como</a:t>
            </a:r>
          </a:p>
          <a:p>
            <a:pPr lvl="0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33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906706" y="2460975"/>
            <a:ext cx="7248600" cy="134316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311700" y="37228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pt-B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Geral: </a:t>
            </a:r>
            <a:r>
              <a:rPr lang="pt-BR" sz="2000" b="1" cap="small" dirty="0"/>
              <a:t>Comparação de Dois ou Mais </a:t>
            </a:r>
            <a:r>
              <a:rPr lang="pt-BR" sz="2000" b="1" cap="small" dirty="0" smtClean="0"/>
              <a:t>Tratamentos </a:t>
            </a:r>
            <a:r>
              <a:rPr lang="pt-BR" sz="2000" b="1" cap="small" dirty="0"/>
              <a:t>(Populações)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146425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288468"/>
            <a:ext cx="8520600" cy="2698510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r>
              <a:rPr lang="pt-BR" dirty="0">
                <a:solidFill>
                  <a:schemeClr val="tx1"/>
                </a:solidFill>
              </a:rPr>
              <a:t>Na ausência de interação, ou seja, quando não rejeitamos </a:t>
            </a:r>
            <a:r>
              <a:rPr lang="pt-BR" dirty="0" smtClean="0">
                <a:solidFill>
                  <a:schemeClr val="tx1"/>
                </a:solidFill>
              </a:rPr>
              <a:t>H</a:t>
            </a:r>
            <a:r>
              <a:rPr lang="pt-BR" baseline="-8000" dirty="0" smtClean="0">
                <a:solidFill>
                  <a:schemeClr val="tx1"/>
                </a:solidFill>
              </a:rPr>
              <a:t>I</a:t>
            </a:r>
            <a:r>
              <a:rPr lang="pt-BR" dirty="0" smtClean="0">
                <a:solidFill>
                  <a:schemeClr val="tx1"/>
                </a:solidFill>
              </a:rPr>
              <a:t>, </a:t>
            </a:r>
            <a:r>
              <a:rPr lang="pt-BR" dirty="0">
                <a:solidFill>
                  <a:schemeClr val="tx1"/>
                </a:solidFill>
              </a:rPr>
              <a:t>as hipóteses </a:t>
            </a:r>
            <a:r>
              <a:rPr lang="pt-BR" dirty="0" err="1" smtClean="0">
                <a:solidFill>
                  <a:schemeClr val="tx1"/>
                </a:solidFill>
              </a:rPr>
              <a:t>ii</a:t>
            </a:r>
            <a:r>
              <a:rPr lang="pt-BR" dirty="0" smtClean="0">
                <a:solidFill>
                  <a:schemeClr val="tx1"/>
                </a:solidFill>
              </a:rPr>
              <a:t>. </a:t>
            </a:r>
            <a:r>
              <a:rPr lang="pt-BR" dirty="0">
                <a:solidFill>
                  <a:schemeClr val="tx1"/>
                </a:solidFill>
              </a:rPr>
              <a:t>e </a:t>
            </a:r>
            <a:r>
              <a:rPr lang="pt-BR" dirty="0" err="1" smtClean="0">
                <a:solidFill>
                  <a:schemeClr val="tx1"/>
                </a:solidFill>
              </a:rPr>
              <a:t>iii</a:t>
            </a:r>
            <a:r>
              <a:rPr lang="pt-BR" dirty="0" smtClean="0">
                <a:solidFill>
                  <a:schemeClr val="tx1"/>
                </a:solidFill>
              </a:rPr>
              <a:t>. </a:t>
            </a:r>
            <a:r>
              <a:rPr lang="pt-BR" dirty="0">
                <a:solidFill>
                  <a:schemeClr val="tx1"/>
                </a:solidFill>
              </a:rPr>
              <a:t>podem ser definidas como</a:t>
            </a:r>
          </a:p>
          <a:p>
            <a:pPr lvl="0">
              <a:buNone/>
            </a:pPr>
            <a:endParaRPr lang="pt-BR" dirty="0"/>
          </a:p>
          <a:p>
            <a:pPr lvl="0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34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311700" y="34111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pt-B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Geral: </a:t>
            </a:r>
            <a:r>
              <a:rPr lang="pt-BR" sz="2000" b="1" cap="small" dirty="0"/>
              <a:t>Comparação de Dois ou Mais </a:t>
            </a:r>
            <a:r>
              <a:rPr lang="pt-BR" sz="2000" b="1" cap="small" dirty="0" smtClean="0"/>
              <a:t>Tratamentos </a:t>
            </a:r>
            <a:r>
              <a:rPr lang="pt-BR" sz="2000" b="1" cap="small" dirty="0"/>
              <a:t>(Populações)</a:t>
            </a:r>
            <a:endParaRPr lang="pt-BR" sz="2000" b="1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679" y="2218386"/>
            <a:ext cx="4236895" cy="2292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6251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852046"/>
            <a:ext cx="8520600" cy="2698510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r>
              <a:rPr lang="pt-BR" dirty="0">
                <a:solidFill>
                  <a:schemeClr val="tx1"/>
                </a:solidFill>
              </a:rPr>
              <a:t>Outra forma para representar as hipóteses </a:t>
            </a:r>
            <a:r>
              <a:rPr lang="pt-BR" dirty="0" err="1" smtClean="0">
                <a:solidFill>
                  <a:schemeClr val="tx1"/>
                </a:solidFill>
              </a:rPr>
              <a:t>ii</a:t>
            </a:r>
            <a:r>
              <a:rPr lang="pt-BR" dirty="0" smtClean="0">
                <a:solidFill>
                  <a:schemeClr val="tx1"/>
                </a:solidFill>
              </a:rPr>
              <a:t>. </a:t>
            </a:r>
            <a:r>
              <a:rPr lang="pt-BR" dirty="0">
                <a:solidFill>
                  <a:schemeClr val="tx1"/>
                </a:solidFill>
              </a:rPr>
              <a:t>e </a:t>
            </a:r>
            <a:r>
              <a:rPr lang="pt-BR" dirty="0" err="1" smtClean="0">
                <a:solidFill>
                  <a:schemeClr val="tx1"/>
                </a:solidFill>
              </a:rPr>
              <a:t>iii</a:t>
            </a:r>
            <a:r>
              <a:rPr lang="pt-BR" dirty="0" smtClean="0">
                <a:solidFill>
                  <a:schemeClr val="tx1"/>
                </a:solidFill>
              </a:rPr>
              <a:t>., </a:t>
            </a:r>
            <a:r>
              <a:rPr lang="pt-BR" dirty="0">
                <a:solidFill>
                  <a:schemeClr val="tx1"/>
                </a:solidFill>
              </a:rPr>
              <a:t>independentemente da presença ou não da interação, é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35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005447" y="1787232"/>
            <a:ext cx="4468091" cy="128873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311700" y="20603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pt-B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Geral: </a:t>
            </a:r>
            <a:r>
              <a:rPr lang="pt-BR" sz="2000" b="1" cap="small" dirty="0"/>
              <a:t>Comparação de Dois ou Mais </a:t>
            </a:r>
            <a:r>
              <a:rPr lang="pt-BR" sz="2000" b="1" cap="small" dirty="0" smtClean="0"/>
              <a:t>Tratamentos </a:t>
            </a:r>
            <a:r>
              <a:rPr lang="pt-BR" sz="2000" b="1" cap="small" dirty="0"/>
              <a:t>(Populações)</a:t>
            </a:r>
            <a:endParaRPr lang="pt-BR" sz="2000" b="1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990157" y="3231573"/>
            <a:ext cx="4593432" cy="14961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5222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174166"/>
            <a:ext cx="8520600" cy="3241969"/>
          </a:xfrm>
        </p:spPr>
        <p:txBody>
          <a:bodyPr>
            <a:normAutofit fontScale="92500" lnSpcReduction="10000"/>
          </a:bodyPr>
          <a:lstStyle/>
          <a:p>
            <a:pPr lvl="0" algn="just">
              <a:buNone/>
            </a:pPr>
            <a:r>
              <a:rPr lang="pt-BR" dirty="0" smtClean="0">
                <a:solidFill>
                  <a:schemeClr val="tx1"/>
                </a:solidFill>
              </a:rPr>
              <a:t>As Figuras 4 e 5 ilustram os seguintes casos:</a:t>
            </a:r>
          </a:p>
          <a:p>
            <a:pPr lvl="0" algn="just">
              <a:buNone/>
            </a:pPr>
            <a:endParaRPr lang="pt-BR" dirty="0">
              <a:solidFill>
                <a:schemeClr val="tx1"/>
              </a:solidFill>
            </a:endParaRPr>
          </a:p>
          <a:p>
            <a:pPr marL="514350" lvl="0" indent="-400050" algn="just">
              <a:buAutoNum type="romanLcParenBoth"/>
            </a:pPr>
            <a:r>
              <a:rPr lang="pt-BR" dirty="0" smtClean="0">
                <a:solidFill>
                  <a:schemeClr val="tx1"/>
                </a:solidFill>
              </a:rPr>
              <a:t>Inexistência </a:t>
            </a:r>
            <a:r>
              <a:rPr lang="pt-BR" dirty="0">
                <a:solidFill>
                  <a:schemeClr val="tx1"/>
                </a:solidFill>
              </a:rPr>
              <a:t>de interação e existência dos efeitos principais de tratamento e de tempo</a:t>
            </a:r>
            <a:r>
              <a:rPr lang="pt-BR" dirty="0" smtClean="0">
                <a:solidFill>
                  <a:schemeClr val="tx1"/>
                </a:solidFill>
              </a:rPr>
              <a:t>;</a:t>
            </a:r>
          </a:p>
          <a:p>
            <a:pPr marL="514350" lvl="0" indent="-400050" algn="just">
              <a:buAutoNum type="romanLcParenBoth"/>
            </a:pPr>
            <a:endParaRPr lang="pt-BR" dirty="0">
              <a:solidFill>
                <a:schemeClr val="tx1"/>
              </a:solidFill>
            </a:endParaRPr>
          </a:p>
          <a:p>
            <a:pPr lvl="0" algn="just">
              <a:buNone/>
            </a:pPr>
            <a:r>
              <a:rPr lang="pt-BR" dirty="0">
                <a:solidFill>
                  <a:schemeClr val="tx1"/>
                </a:solidFill>
              </a:rPr>
              <a:t>(</a:t>
            </a:r>
            <a:r>
              <a:rPr lang="pt-BR" dirty="0" err="1">
                <a:solidFill>
                  <a:schemeClr val="tx1"/>
                </a:solidFill>
              </a:rPr>
              <a:t>ii</a:t>
            </a:r>
            <a:r>
              <a:rPr lang="pt-BR" dirty="0">
                <a:solidFill>
                  <a:schemeClr val="tx1"/>
                </a:solidFill>
              </a:rPr>
              <a:t>) Existência de interação (não-essencial), de efeitos principais de tratamento e de tempo</a:t>
            </a:r>
            <a:r>
              <a:rPr lang="pt-BR" dirty="0" smtClean="0">
                <a:solidFill>
                  <a:schemeClr val="tx1"/>
                </a:solidFill>
              </a:rPr>
              <a:t>;</a:t>
            </a:r>
          </a:p>
          <a:p>
            <a:pPr lvl="0" algn="just">
              <a:buNone/>
            </a:pPr>
            <a:endParaRPr lang="pt-BR" dirty="0">
              <a:solidFill>
                <a:schemeClr val="tx1"/>
              </a:solidFill>
            </a:endParaRPr>
          </a:p>
          <a:p>
            <a:pPr lvl="0" algn="just">
              <a:buNone/>
            </a:pPr>
            <a:r>
              <a:rPr lang="pt-BR" dirty="0">
                <a:solidFill>
                  <a:schemeClr val="tx1"/>
                </a:solidFill>
              </a:rPr>
              <a:t>(</a:t>
            </a:r>
            <a:r>
              <a:rPr lang="pt-BR" dirty="0" err="1">
                <a:solidFill>
                  <a:schemeClr val="tx1"/>
                </a:solidFill>
              </a:rPr>
              <a:t>iii</a:t>
            </a:r>
            <a:r>
              <a:rPr lang="pt-BR" dirty="0">
                <a:solidFill>
                  <a:schemeClr val="tx1"/>
                </a:solidFill>
              </a:rPr>
              <a:t>) Existência de interação (essencial</a:t>
            </a:r>
            <a:r>
              <a:rPr lang="pt-BR" dirty="0" smtClean="0">
                <a:solidFill>
                  <a:schemeClr val="tx1"/>
                </a:solidFill>
              </a:rPr>
              <a:t>). Neste </a:t>
            </a:r>
            <a:r>
              <a:rPr lang="pt-BR" dirty="0">
                <a:solidFill>
                  <a:schemeClr val="tx1"/>
                </a:solidFill>
              </a:rPr>
              <a:t>caso, não se pode falar em efeitos principais de tratamento e de tempo e sim em efeitos de tratamento (ou tempo) em cada nível de tempo (ou tratamento).</a:t>
            </a:r>
          </a:p>
          <a:p>
            <a:pPr lvl="0">
              <a:buNone/>
            </a:pPr>
            <a:endParaRPr lang="pt-BR" dirty="0"/>
          </a:p>
          <a:p>
            <a:pPr lvl="0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36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311700" y="27876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pt-B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Geral: </a:t>
            </a:r>
            <a:r>
              <a:rPr lang="pt-BR" sz="2000" b="1" cap="small" dirty="0"/>
              <a:t>Comparação de Dois ou Mais </a:t>
            </a:r>
            <a:r>
              <a:rPr lang="pt-BR" sz="2000" b="1" cap="small" dirty="0" smtClean="0"/>
              <a:t>Tratamentos </a:t>
            </a:r>
            <a:r>
              <a:rPr lang="pt-BR" sz="2000" b="1" cap="small" dirty="0"/>
              <a:t>(Populações)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2532639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algn="r"/>
            <a:fld id="{00000000-1234-1234-1234-123412341234}" type="slidenum">
              <a:rPr lang="pt-BR" smtClean="0"/>
              <a:pPr lvl="0" algn="r"/>
              <a:t>37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93;p17"/>
          <p:cNvSpPr txBox="1">
            <a:spLocks/>
          </p:cNvSpPr>
          <p:nvPr/>
        </p:nvSpPr>
        <p:spPr>
          <a:xfrm>
            <a:off x="486721" y="278633"/>
            <a:ext cx="8520600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pt-BR" sz="1600" b="1" dirty="0" smtClean="0">
                <a:solidFill>
                  <a:schemeClr val="accent1"/>
                </a:solidFill>
              </a:rPr>
              <a:t>Figura </a:t>
            </a:r>
            <a:r>
              <a:rPr lang="pt-BR" sz="1600" b="1" dirty="0" smtClean="0">
                <a:solidFill>
                  <a:schemeClr val="accent1"/>
                </a:solidFill>
              </a:rPr>
              <a:t>5: </a:t>
            </a:r>
            <a:r>
              <a:rPr lang="pt-BR" sz="1600" dirty="0" smtClean="0">
                <a:solidFill>
                  <a:schemeClr val="tx1"/>
                </a:solidFill>
              </a:rPr>
              <a:t>Perfis médios de resposta correspondentes a situações hipotéticas com dois tratamentos e três tempo.</a:t>
            </a:r>
          </a:p>
          <a:p>
            <a:pPr algn="just">
              <a:spcBef>
                <a:spcPts val="1200"/>
              </a:spcBef>
            </a:pPr>
            <a:endParaRPr lang="pt-BR" sz="1600" dirty="0" smtClean="0">
              <a:solidFill>
                <a:schemeClr val="dk1"/>
              </a:solidFill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pt-BR" sz="1600" dirty="0">
              <a:solidFill>
                <a:schemeClr val="dk1"/>
              </a:solidFill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354" y="1061933"/>
            <a:ext cx="6181038" cy="3090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Google Shape;96;p17"/>
          <p:cNvSpPr txBox="1">
            <a:spLocks/>
          </p:cNvSpPr>
          <p:nvPr/>
        </p:nvSpPr>
        <p:spPr>
          <a:xfrm>
            <a:off x="142227" y="4295580"/>
            <a:ext cx="85206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pt-BR" sz="1200" b="1" dirty="0" smtClean="0">
                <a:solidFill>
                  <a:schemeClr val="dk1"/>
                </a:solidFill>
              </a:rPr>
              <a:t>Fonte: </a:t>
            </a:r>
            <a:r>
              <a:rPr lang="pt-BR" sz="1200" dirty="0" smtClean="0">
                <a:solidFill>
                  <a:schemeClr val="dk1"/>
                </a:solidFill>
              </a:rPr>
              <a:t>https://www.ime.usp.br/~jmsinger/MAE0610/Singer&amp;Nobre&amp;Rocha2018jun.pdf</a:t>
            </a:r>
            <a:endParaRPr lang="pt-BR" sz="1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6926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38</a:t>
            </a:fld>
            <a:r>
              <a:rPr lang="pt-BR" dirty="0" smtClean="0"/>
              <a:t> / 62</a:t>
            </a:r>
            <a:endParaRPr lang="pt-BR" dirty="0"/>
          </a:p>
        </p:txBody>
      </p:sp>
      <p:sp>
        <p:nvSpPr>
          <p:cNvPr id="5" name="Google Shape;93;p17"/>
          <p:cNvSpPr txBox="1">
            <a:spLocks/>
          </p:cNvSpPr>
          <p:nvPr/>
        </p:nvSpPr>
        <p:spPr>
          <a:xfrm>
            <a:off x="486721" y="278633"/>
            <a:ext cx="8520600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pt-BR" sz="1600" b="1" dirty="0" smtClean="0">
                <a:solidFill>
                  <a:schemeClr val="accent1"/>
                </a:solidFill>
              </a:rPr>
              <a:t>Figura </a:t>
            </a:r>
            <a:r>
              <a:rPr lang="pt-BR" sz="1600" b="1" dirty="0" smtClean="0">
                <a:solidFill>
                  <a:schemeClr val="accent1"/>
                </a:solidFill>
              </a:rPr>
              <a:t>6: </a:t>
            </a:r>
            <a:r>
              <a:rPr lang="pt-BR" sz="1600" dirty="0" smtClean="0">
                <a:solidFill>
                  <a:schemeClr val="tx1"/>
                </a:solidFill>
              </a:rPr>
              <a:t>Perfis médios de resposta correspondentes a situações hipotéticas com dois tratamentos e três tempo.</a:t>
            </a:r>
          </a:p>
          <a:p>
            <a:pPr algn="just">
              <a:spcBef>
                <a:spcPts val="1200"/>
              </a:spcBef>
            </a:pPr>
            <a:endParaRPr lang="pt-BR" sz="1600" dirty="0" smtClean="0">
              <a:solidFill>
                <a:schemeClr val="dk1"/>
              </a:solidFill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pt-BR" sz="1600" dirty="0">
              <a:solidFill>
                <a:schemeClr val="dk1"/>
              </a:solidFill>
            </a:endParaRPr>
          </a:p>
        </p:txBody>
      </p:sp>
      <p:sp>
        <p:nvSpPr>
          <p:cNvPr id="7" name="Google Shape;96;p17"/>
          <p:cNvSpPr txBox="1">
            <a:spLocks/>
          </p:cNvSpPr>
          <p:nvPr/>
        </p:nvSpPr>
        <p:spPr>
          <a:xfrm>
            <a:off x="142227" y="4295580"/>
            <a:ext cx="85206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pt-BR" sz="1200" b="1" dirty="0" smtClean="0">
                <a:solidFill>
                  <a:schemeClr val="dk1"/>
                </a:solidFill>
              </a:rPr>
              <a:t>Fonte: </a:t>
            </a:r>
            <a:r>
              <a:rPr lang="pt-BR" sz="1200" dirty="0" smtClean="0">
                <a:solidFill>
                  <a:schemeClr val="dk1"/>
                </a:solidFill>
              </a:rPr>
              <a:t>https://www.ime.usp.br/~jmsinger/MAE0610/Singer&amp;Nobre&amp;Rocha2018jun.pdf</a:t>
            </a:r>
            <a:endParaRPr lang="pt-BR" sz="1400" dirty="0">
              <a:solidFill>
                <a:schemeClr val="dk1"/>
              </a:solidFill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975" y="960782"/>
            <a:ext cx="3356260" cy="3172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84561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163776"/>
            <a:ext cx="8520600" cy="2698510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pt-BR" dirty="0">
                <a:solidFill>
                  <a:schemeClr val="tx1"/>
                </a:solidFill>
              </a:rPr>
              <a:t>Na forma da hipótese linear </a:t>
            </a:r>
            <a:r>
              <a:rPr lang="pt-BR" dirty="0" smtClean="0">
                <a:solidFill>
                  <a:schemeClr val="tx1"/>
                </a:solidFill>
              </a:rPr>
              <a:t>geral, podemos </a:t>
            </a:r>
            <a:r>
              <a:rPr lang="pt-BR" dirty="0">
                <a:solidFill>
                  <a:schemeClr val="tx1"/>
                </a:solidFill>
              </a:rPr>
              <a:t>definir H</a:t>
            </a:r>
            <a:r>
              <a:rPr lang="pt-BR" baseline="-8000" dirty="0">
                <a:solidFill>
                  <a:schemeClr val="tx1"/>
                </a:solidFill>
              </a:rPr>
              <a:t>I</a:t>
            </a:r>
            <a:r>
              <a:rPr lang="pt-BR" dirty="0">
                <a:solidFill>
                  <a:schemeClr val="tx1"/>
                </a:solidFill>
              </a:rPr>
              <a:t> por meio </a:t>
            </a:r>
            <a:r>
              <a:rPr lang="pt-BR" dirty="0" smtClean="0">
                <a:solidFill>
                  <a:schemeClr val="tx1"/>
                </a:solidFill>
              </a:rPr>
              <a:t>das matrizes </a:t>
            </a:r>
            <a:r>
              <a:rPr lang="pt-BR" b="1" dirty="0" smtClean="0">
                <a:solidFill>
                  <a:schemeClr val="tx1"/>
                </a:solidFill>
              </a:rPr>
              <a:t>C</a:t>
            </a:r>
            <a:r>
              <a:rPr lang="pt-BR" dirty="0" smtClean="0">
                <a:solidFill>
                  <a:schemeClr val="tx1"/>
                </a:solidFill>
              </a:rPr>
              <a:t>, </a:t>
            </a:r>
            <a:r>
              <a:rPr lang="pt-BR" dirty="0">
                <a:solidFill>
                  <a:schemeClr val="tx1"/>
                </a:solidFill>
              </a:rPr>
              <a:t>dimensão (</a:t>
            </a:r>
            <a:r>
              <a:rPr lang="pt-BR" i="1" dirty="0" smtClean="0">
                <a:solidFill>
                  <a:schemeClr val="tx1"/>
                </a:solidFill>
              </a:rPr>
              <a:t>p </a:t>
            </a:r>
            <a:r>
              <a:rPr lang="pt-BR" dirty="0" smtClean="0">
                <a:solidFill>
                  <a:schemeClr val="tx1"/>
                </a:solidFill>
              </a:rPr>
              <a:t>-1</a:t>
            </a:r>
            <a:r>
              <a:rPr lang="pt-BR" dirty="0">
                <a:solidFill>
                  <a:schemeClr val="tx1"/>
                </a:solidFill>
              </a:rPr>
              <a:t>) </a:t>
            </a:r>
            <a:r>
              <a:rPr lang="pt-BR" i="1" dirty="0" smtClean="0">
                <a:solidFill>
                  <a:schemeClr val="tx1"/>
                </a:solidFill>
              </a:rPr>
              <a:t>x p</a:t>
            </a:r>
            <a:r>
              <a:rPr lang="pt-BR" dirty="0" smtClean="0">
                <a:solidFill>
                  <a:schemeClr val="tx1"/>
                </a:solidFill>
              </a:rPr>
              <a:t>, e </a:t>
            </a:r>
            <a:r>
              <a:rPr lang="pt-BR" b="1" dirty="0" smtClean="0">
                <a:solidFill>
                  <a:schemeClr val="tx1"/>
                </a:solidFill>
              </a:rPr>
              <a:t>U</a:t>
            </a:r>
            <a:r>
              <a:rPr lang="pt-BR" dirty="0" smtClean="0">
                <a:solidFill>
                  <a:schemeClr val="tx1"/>
                </a:solidFill>
              </a:rPr>
              <a:t>, </a:t>
            </a:r>
            <a:r>
              <a:rPr lang="pt-BR" dirty="0">
                <a:solidFill>
                  <a:schemeClr val="tx1"/>
                </a:solidFill>
              </a:rPr>
              <a:t>dimensão </a:t>
            </a:r>
            <a:r>
              <a:rPr lang="pt-BR" i="1" dirty="0" smtClean="0">
                <a:solidFill>
                  <a:schemeClr val="tx1"/>
                </a:solidFill>
              </a:rPr>
              <a:t>m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i="1" dirty="0" smtClean="0">
                <a:solidFill>
                  <a:schemeClr val="tx1"/>
                </a:solidFill>
              </a:rPr>
              <a:t>x</a:t>
            </a:r>
            <a:r>
              <a:rPr lang="pt-BR" dirty="0" smtClean="0">
                <a:solidFill>
                  <a:schemeClr val="tx1"/>
                </a:solidFill>
              </a:rPr>
              <a:t> (</a:t>
            </a:r>
            <a:r>
              <a:rPr lang="pt-BR" i="1" dirty="0" smtClean="0">
                <a:solidFill>
                  <a:schemeClr val="tx1"/>
                </a:solidFill>
              </a:rPr>
              <a:t>m </a:t>
            </a:r>
            <a:r>
              <a:rPr lang="pt-BR" dirty="0" smtClean="0">
                <a:solidFill>
                  <a:schemeClr val="tx1"/>
                </a:solidFill>
              </a:rPr>
              <a:t>-1), dadas por</a:t>
            </a:r>
          </a:p>
          <a:p>
            <a:pPr marL="114300" indent="0" algn="just">
              <a:buNone/>
            </a:pPr>
            <a:endParaRPr lang="pt-BR" dirty="0"/>
          </a:p>
          <a:p>
            <a:pPr marL="114300" indent="0" algn="just">
              <a:buNone/>
            </a:pPr>
            <a:endParaRPr lang="pt-BR" dirty="0" smtClean="0"/>
          </a:p>
          <a:p>
            <a:pPr marL="114300" indent="0" algn="just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39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311700" y="20603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pt-B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Geral: </a:t>
            </a:r>
            <a:r>
              <a:rPr lang="pt-BR" sz="2000" b="1" cap="small" dirty="0"/>
              <a:t>Comparação de Dois ou Mais </a:t>
            </a:r>
            <a:r>
              <a:rPr lang="pt-BR" sz="2000" b="1" cap="small" dirty="0" smtClean="0"/>
              <a:t>Tratamentos </a:t>
            </a:r>
            <a:r>
              <a:rPr lang="pt-BR" sz="2000" b="1" cap="small" dirty="0"/>
              <a:t>(Populações)</a:t>
            </a:r>
            <a:endParaRPr lang="pt-BR" sz="2000" b="1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38" y="2391826"/>
            <a:ext cx="4110906" cy="1496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164" y="2293990"/>
            <a:ext cx="3834271" cy="1777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45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506679"/>
            <a:ext cx="8520600" cy="2698510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pt-BR" dirty="0">
                <a:solidFill>
                  <a:schemeClr val="tx1"/>
                </a:solidFill>
              </a:rPr>
              <a:t>Na forma da hipótese linear </a:t>
            </a:r>
            <a:r>
              <a:rPr lang="pt-BR" dirty="0" smtClean="0">
                <a:solidFill>
                  <a:schemeClr val="tx1"/>
                </a:solidFill>
              </a:rPr>
              <a:t>geral, podemos </a:t>
            </a:r>
            <a:r>
              <a:rPr lang="pt-BR" dirty="0">
                <a:solidFill>
                  <a:schemeClr val="tx1"/>
                </a:solidFill>
              </a:rPr>
              <a:t>definir </a:t>
            </a:r>
            <a:r>
              <a:rPr lang="pt-BR" dirty="0" smtClean="0">
                <a:solidFill>
                  <a:schemeClr val="tx1"/>
                </a:solidFill>
              </a:rPr>
              <a:t>H</a:t>
            </a:r>
            <a:r>
              <a:rPr lang="pt-BR" baseline="-25000" dirty="0" smtClean="0">
                <a:solidFill>
                  <a:schemeClr val="tx1"/>
                </a:solidFill>
              </a:rPr>
              <a:t>TI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por meio </a:t>
            </a:r>
            <a:r>
              <a:rPr lang="pt-BR" dirty="0" smtClean="0">
                <a:solidFill>
                  <a:schemeClr val="tx1"/>
                </a:solidFill>
              </a:rPr>
              <a:t>das matrizes </a:t>
            </a:r>
            <a:r>
              <a:rPr lang="pt-BR" b="1" dirty="0" smtClean="0">
                <a:solidFill>
                  <a:schemeClr val="tx1"/>
                </a:solidFill>
              </a:rPr>
              <a:t>C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 smtClean="0">
                <a:solidFill>
                  <a:schemeClr val="tx1"/>
                </a:solidFill>
              </a:rPr>
              <a:t>e </a:t>
            </a:r>
            <a:r>
              <a:rPr lang="pt-BR" b="1" dirty="0" smtClean="0">
                <a:solidFill>
                  <a:schemeClr val="tx1"/>
                </a:solidFill>
              </a:rPr>
              <a:t>U</a:t>
            </a:r>
            <a:r>
              <a:rPr lang="pt-BR" dirty="0" smtClean="0">
                <a:solidFill>
                  <a:schemeClr val="tx1"/>
                </a:solidFill>
              </a:rPr>
              <a:t>, </a:t>
            </a:r>
            <a:r>
              <a:rPr lang="pt-BR" dirty="0">
                <a:solidFill>
                  <a:schemeClr val="tx1"/>
                </a:solidFill>
              </a:rPr>
              <a:t>dimensão </a:t>
            </a:r>
            <a:r>
              <a:rPr lang="pt-BR" dirty="0" smtClean="0">
                <a:solidFill>
                  <a:schemeClr val="tx1"/>
                </a:solidFill>
              </a:rPr>
              <a:t>dadas por</a:t>
            </a:r>
          </a:p>
          <a:p>
            <a:pPr marL="114300" indent="0" algn="just">
              <a:buNone/>
            </a:pPr>
            <a:endParaRPr lang="pt-BR" dirty="0"/>
          </a:p>
          <a:p>
            <a:pPr marL="114300" indent="0" algn="just">
              <a:buNone/>
            </a:pPr>
            <a:endParaRPr lang="pt-BR" dirty="0" smtClean="0"/>
          </a:p>
          <a:p>
            <a:pPr marL="114300" indent="0" algn="just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40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311700" y="20603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pt-B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Geral: </a:t>
            </a:r>
            <a:r>
              <a:rPr lang="pt-BR" sz="2000" b="1" cap="small" dirty="0"/>
              <a:t>Comparação de Dois ou Mais </a:t>
            </a:r>
            <a:r>
              <a:rPr lang="pt-BR" sz="2000" b="1" cap="small" dirty="0" smtClean="0"/>
              <a:t>Tratamentos </a:t>
            </a:r>
            <a:r>
              <a:rPr lang="pt-BR" sz="2000" b="1" cap="small" dirty="0"/>
              <a:t>(Populações)</a:t>
            </a:r>
            <a:endParaRPr lang="pt-BR" sz="2000" b="1" dirty="0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2099" y="2573051"/>
            <a:ext cx="2531311" cy="554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628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506679"/>
            <a:ext cx="8520600" cy="2698510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pt-BR" dirty="0">
                <a:solidFill>
                  <a:schemeClr val="tx1"/>
                </a:solidFill>
              </a:rPr>
              <a:t>Na forma da hipótese linear </a:t>
            </a:r>
            <a:r>
              <a:rPr lang="pt-BR" dirty="0" smtClean="0">
                <a:solidFill>
                  <a:schemeClr val="tx1"/>
                </a:solidFill>
              </a:rPr>
              <a:t>geral, podemos </a:t>
            </a:r>
            <a:r>
              <a:rPr lang="pt-BR" dirty="0">
                <a:solidFill>
                  <a:schemeClr val="tx1"/>
                </a:solidFill>
              </a:rPr>
              <a:t>definir </a:t>
            </a:r>
            <a:r>
              <a:rPr lang="pt-BR" dirty="0" smtClean="0">
                <a:solidFill>
                  <a:schemeClr val="tx1"/>
                </a:solidFill>
              </a:rPr>
              <a:t>H</a:t>
            </a:r>
            <a:r>
              <a:rPr lang="pt-BR" baseline="-25000" dirty="0" smtClean="0">
                <a:solidFill>
                  <a:schemeClr val="tx1"/>
                </a:solidFill>
              </a:rPr>
              <a:t>PI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por meio </a:t>
            </a:r>
            <a:r>
              <a:rPr lang="pt-BR" dirty="0" smtClean="0">
                <a:solidFill>
                  <a:schemeClr val="tx1"/>
                </a:solidFill>
              </a:rPr>
              <a:t>das matrizes </a:t>
            </a:r>
            <a:r>
              <a:rPr lang="pt-BR" b="1" dirty="0" smtClean="0">
                <a:solidFill>
                  <a:schemeClr val="tx1"/>
                </a:solidFill>
              </a:rPr>
              <a:t>C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 smtClean="0">
                <a:solidFill>
                  <a:schemeClr val="tx1"/>
                </a:solidFill>
              </a:rPr>
              <a:t>e </a:t>
            </a:r>
            <a:r>
              <a:rPr lang="pt-BR" b="1" dirty="0" smtClean="0">
                <a:solidFill>
                  <a:schemeClr val="tx1"/>
                </a:solidFill>
              </a:rPr>
              <a:t>U</a:t>
            </a:r>
            <a:r>
              <a:rPr lang="pt-BR" dirty="0" smtClean="0">
                <a:solidFill>
                  <a:schemeClr val="tx1"/>
                </a:solidFill>
              </a:rPr>
              <a:t>, </a:t>
            </a:r>
            <a:r>
              <a:rPr lang="pt-BR" dirty="0">
                <a:solidFill>
                  <a:schemeClr val="tx1"/>
                </a:solidFill>
              </a:rPr>
              <a:t>dimensão </a:t>
            </a:r>
            <a:r>
              <a:rPr lang="pt-BR" dirty="0" smtClean="0">
                <a:solidFill>
                  <a:schemeClr val="tx1"/>
                </a:solidFill>
              </a:rPr>
              <a:t>dadas por</a:t>
            </a:r>
          </a:p>
          <a:p>
            <a:pPr marL="114300" indent="0" algn="just">
              <a:buNone/>
            </a:pPr>
            <a:endParaRPr lang="pt-BR" dirty="0"/>
          </a:p>
          <a:p>
            <a:pPr marL="114300" indent="0" algn="just">
              <a:buNone/>
            </a:pPr>
            <a:endParaRPr lang="pt-BR" dirty="0" smtClean="0"/>
          </a:p>
          <a:p>
            <a:pPr marL="114300" indent="0" algn="just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41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311700" y="20603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pt-B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Geral: </a:t>
            </a:r>
            <a:r>
              <a:rPr lang="pt-BR" sz="2000" b="1" cap="small" dirty="0"/>
              <a:t>Comparação de Dois ou Mais </a:t>
            </a:r>
            <a:r>
              <a:rPr lang="pt-BR" sz="2000" b="1" cap="small" dirty="0" smtClean="0"/>
              <a:t>Tratamentos </a:t>
            </a:r>
            <a:r>
              <a:rPr lang="pt-BR" sz="2000" b="1" cap="small" dirty="0"/>
              <a:t>(Populações)</a:t>
            </a:r>
            <a:endParaRPr lang="pt-BR" sz="2000" b="1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761" y="2595565"/>
            <a:ext cx="2458464" cy="584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866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1700" y="42424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Exemplo </a:t>
            </a:r>
            <a:r>
              <a:rPr lang="pt-BR" dirty="0" smtClean="0"/>
              <a:t>1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485897"/>
            <a:ext cx="8520600" cy="2698510"/>
          </a:xfrm>
        </p:spPr>
        <p:txBody>
          <a:bodyPr>
            <a:normAutofit/>
          </a:bodyPr>
          <a:lstStyle/>
          <a:p>
            <a:pPr algn="just"/>
            <a:r>
              <a:rPr lang="pt-BR" dirty="0">
                <a:solidFill>
                  <a:schemeClr val="tx1"/>
                </a:solidFill>
              </a:rPr>
              <a:t>Um experimento foi realizado, cujo principal objetivo foi comparar os efeitos de duas dietas experimentais (T1 e T2) e de uma dieta controle (T3) no ganho de peso e consumo alimentar de frangos de </a:t>
            </a:r>
            <a:r>
              <a:rPr lang="pt-BR" dirty="0" smtClean="0">
                <a:solidFill>
                  <a:schemeClr val="tx1"/>
                </a:solidFill>
              </a:rPr>
              <a:t>corte</a:t>
            </a:r>
            <a:r>
              <a:rPr lang="pt-BR" dirty="0">
                <a:solidFill>
                  <a:schemeClr val="tx1"/>
                </a:solidFill>
              </a:rPr>
              <a:t>;</a:t>
            </a:r>
            <a:endParaRPr lang="pt-BR" dirty="0" smtClean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A </a:t>
            </a:r>
            <a:r>
              <a:rPr lang="pt-BR" dirty="0">
                <a:solidFill>
                  <a:schemeClr val="tx1"/>
                </a:solidFill>
              </a:rPr>
              <a:t>resposta  foi a conversão alimentar média, expressa em kg de consumo de ração por kg de ganho de peso após 7, 14, 21 e 28 dias do início do </a:t>
            </a:r>
            <a:r>
              <a:rPr lang="pt-BR" dirty="0" smtClean="0">
                <a:solidFill>
                  <a:schemeClr val="tx1"/>
                </a:solidFill>
              </a:rPr>
              <a:t>experimento.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42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05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43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9" name="Google Shape;93;p17"/>
          <p:cNvSpPr txBox="1">
            <a:spLocks/>
          </p:cNvSpPr>
          <p:nvPr/>
        </p:nvSpPr>
        <p:spPr>
          <a:xfrm>
            <a:off x="1598558" y="164332"/>
            <a:ext cx="6693391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pt-BR" sz="1600" b="1" dirty="0" smtClean="0">
                <a:solidFill>
                  <a:schemeClr val="accent1"/>
                </a:solidFill>
              </a:rPr>
              <a:t>Tabela 1: </a:t>
            </a:r>
            <a:r>
              <a:rPr lang="pt-BR" sz="1600" dirty="0" smtClean="0">
                <a:solidFill>
                  <a:schemeClr val="tx1"/>
                </a:solidFill>
              </a:rPr>
              <a:t>Conversão alimentar (kg ração/kg ganho de peso).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pt-BR" sz="1600" dirty="0">
              <a:solidFill>
                <a:schemeClr val="dk1"/>
              </a:solidFill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49" y="576765"/>
            <a:ext cx="4157445" cy="3718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Google Shape;96;p17"/>
          <p:cNvSpPr txBox="1">
            <a:spLocks/>
          </p:cNvSpPr>
          <p:nvPr/>
        </p:nvSpPr>
        <p:spPr>
          <a:xfrm>
            <a:off x="142227" y="4295580"/>
            <a:ext cx="85206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pt-BR" sz="1200" b="1" dirty="0" smtClean="0">
                <a:solidFill>
                  <a:schemeClr val="dk1"/>
                </a:solidFill>
              </a:rPr>
              <a:t>Fonte: </a:t>
            </a:r>
            <a:r>
              <a:rPr lang="pt-BR" sz="1200" dirty="0" smtClean="0">
                <a:solidFill>
                  <a:schemeClr val="dk1"/>
                </a:solidFill>
              </a:rPr>
              <a:t>https://www.ime.usp.br/~jmsinger/MAE0610/Singer&amp;Nobre&amp;Rocha2018jun.pdf</a:t>
            </a:r>
            <a:endParaRPr lang="pt-BR" sz="1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325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44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847725"/>
            <a:ext cx="5133975" cy="34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Google Shape;93;p17"/>
          <p:cNvSpPr txBox="1">
            <a:spLocks/>
          </p:cNvSpPr>
          <p:nvPr/>
        </p:nvSpPr>
        <p:spPr>
          <a:xfrm>
            <a:off x="2772741" y="278633"/>
            <a:ext cx="4345052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pt-BR" sz="1600" b="1" dirty="0" smtClean="0">
                <a:solidFill>
                  <a:schemeClr val="accent1"/>
                </a:solidFill>
              </a:rPr>
              <a:t>Figura </a:t>
            </a:r>
            <a:r>
              <a:rPr lang="pt-BR" sz="1600" b="1" dirty="0" smtClean="0">
                <a:solidFill>
                  <a:schemeClr val="accent1"/>
                </a:solidFill>
              </a:rPr>
              <a:t>7: </a:t>
            </a:r>
            <a:r>
              <a:rPr lang="pt-BR" sz="1600" dirty="0">
                <a:solidFill>
                  <a:schemeClr val="tx1"/>
                </a:solidFill>
              </a:rPr>
              <a:t>G</a:t>
            </a:r>
            <a:r>
              <a:rPr lang="pt-BR" sz="1600" dirty="0" smtClean="0">
                <a:solidFill>
                  <a:schemeClr val="tx1"/>
                </a:solidFill>
              </a:rPr>
              <a:t>ráfico de perfis </a:t>
            </a:r>
            <a:r>
              <a:rPr lang="pt-BR" sz="1600" dirty="0">
                <a:solidFill>
                  <a:schemeClr val="tx1"/>
                </a:solidFill>
              </a:rPr>
              <a:t>m</a:t>
            </a:r>
            <a:r>
              <a:rPr lang="pt-BR" sz="1600" dirty="0" smtClean="0">
                <a:solidFill>
                  <a:schemeClr val="tx1"/>
                </a:solidFill>
              </a:rPr>
              <a:t>édios.</a:t>
            </a:r>
          </a:p>
          <a:p>
            <a:pPr algn="just">
              <a:spcBef>
                <a:spcPts val="1200"/>
              </a:spcBef>
            </a:pPr>
            <a:endParaRPr lang="pt-BR" sz="1600" dirty="0" smtClean="0">
              <a:solidFill>
                <a:schemeClr val="dk1"/>
              </a:solidFill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pt-BR" sz="1600" dirty="0">
              <a:solidFill>
                <a:schemeClr val="dk1"/>
              </a:solidFill>
            </a:endParaRPr>
          </a:p>
        </p:txBody>
      </p:sp>
      <p:sp>
        <p:nvSpPr>
          <p:cNvPr id="7" name="Google Shape;96;p17"/>
          <p:cNvSpPr txBox="1">
            <a:spLocks/>
          </p:cNvSpPr>
          <p:nvPr/>
        </p:nvSpPr>
        <p:spPr>
          <a:xfrm>
            <a:off x="142227" y="4295580"/>
            <a:ext cx="85206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pt-BR" sz="1200" b="1" dirty="0" smtClean="0">
                <a:solidFill>
                  <a:schemeClr val="dk1"/>
                </a:solidFill>
              </a:rPr>
              <a:t>Fonte: </a:t>
            </a:r>
            <a:r>
              <a:rPr lang="pt-BR" sz="1200" dirty="0" smtClean="0">
                <a:solidFill>
                  <a:schemeClr val="dk1"/>
                </a:solidFill>
              </a:rPr>
              <a:t>https://www.ime.usp.br/~jmsinger/MAE0610/Singer&amp;Nobre&amp;Rocha2018jun.pdf</a:t>
            </a:r>
            <a:endParaRPr lang="pt-BR" sz="1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906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309249"/>
            <a:ext cx="8520600" cy="3044539"/>
          </a:xfrm>
        </p:spPr>
        <p:txBody>
          <a:bodyPr>
            <a:noAutofit/>
          </a:bodyPr>
          <a:lstStyle/>
          <a:p>
            <a:pPr marL="114300" lvl="0" indent="0" algn="just">
              <a:buNone/>
            </a:pPr>
            <a:r>
              <a:rPr lang="pt-BR" dirty="0">
                <a:solidFill>
                  <a:schemeClr val="tx1"/>
                </a:solidFill>
              </a:rPr>
              <a:t>Para a </a:t>
            </a:r>
            <a:r>
              <a:rPr lang="pt-BR" dirty="0" smtClean="0">
                <a:solidFill>
                  <a:schemeClr val="tx1"/>
                </a:solidFill>
              </a:rPr>
              <a:t>análise </a:t>
            </a:r>
            <a:r>
              <a:rPr lang="pt-BR" dirty="0">
                <a:solidFill>
                  <a:schemeClr val="tx1"/>
                </a:solidFill>
              </a:rPr>
              <a:t>sob o enfoque multivariado, </a:t>
            </a:r>
            <a:r>
              <a:rPr lang="pt-BR" dirty="0" smtClean="0">
                <a:solidFill>
                  <a:schemeClr val="tx1"/>
                </a:solidFill>
              </a:rPr>
              <a:t>considere</a:t>
            </a:r>
          </a:p>
          <a:p>
            <a:pPr marL="114300" lvl="0" indent="0" algn="just">
              <a:buNone/>
            </a:pPr>
            <a:endParaRPr lang="pt-BR" dirty="0">
              <a:solidFill>
                <a:schemeClr val="tx1"/>
              </a:solidFill>
            </a:endParaRPr>
          </a:p>
          <a:p>
            <a:pPr marL="114300" lvl="0" indent="0" algn="just">
              <a:buNone/>
            </a:pPr>
            <a:endParaRPr lang="pt-BR" dirty="0" smtClean="0">
              <a:solidFill>
                <a:schemeClr val="tx1"/>
              </a:solidFill>
            </a:endParaRPr>
          </a:p>
          <a:p>
            <a:pPr marL="114300" lvl="0" indent="0" algn="just">
              <a:buNone/>
            </a:pPr>
            <a:endParaRPr lang="pt-BR" dirty="0">
              <a:solidFill>
                <a:schemeClr val="tx1"/>
              </a:solidFill>
            </a:endParaRPr>
          </a:p>
          <a:p>
            <a:pPr marL="114300" lvl="0" indent="0" algn="just">
              <a:buNone/>
            </a:pPr>
            <a:endParaRPr lang="pt-BR" dirty="0" smtClean="0">
              <a:solidFill>
                <a:schemeClr val="tx1"/>
              </a:solidFill>
            </a:endParaRPr>
          </a:p>
          <a:p>
            <a:pPr marL="114300" lvl="0" indent="0" algn="just">
              <a:buNone/>
            </a:pPr>
            <a:endParaRPr lang="pt-BR" dirty="0" smtClean="0">
              <a:solidFill>
                <a:schemeClr val="tx1"/>
              </a:solidFill>
            </a:endParaRPr>
          </a:p>
          <a:p>
            <a:pPr marL="114300" lvl="0" indent="0" algn="just">
              <a:buNone/>
            </a:pPr>
            <a:r>
              <a:rPr lang="pt-BR" dirty="0" smtClean="0">
                <a:solidFill>
                  <a:schemeClr val="tx1"/>
                </a:solidFill>
              </a:rPr>
              <a:t>em </a:t>
            </a:r>
            <a:r>
              <a:rPr lang="pt-BR" dirty="0">
                <a:solidFill>
                  <a:schemeClr val="tx1"/>
                </a:solidFill>
              </a:rPr>
              <a:t>que </a:t>
            </a:r>
            <a:r>
              <a:rPr lang="pt-BR" i="1" dirty="0" err="1">
                <a:solidFill>
                  <a:schemeClr val="tx1"/>
                </a:solidFill>
              </a:rPr>
              <a:t>μ</a:t>
            </a:r>
            <a:r>
              <a:rPr lang="pt-BR" i="1" baseline="-25000" dirty="0" err="1">
                <a:solidFill>
                  <a:schemeClr val="tx1"/>
                </a:solidFill>
              </a:rPr>
              <a:t>ij</a:t>
            </a:r>
            <a:r>
              <a:rPr lang="pt-BR" dirty="0">
                <a:solidFill>
                  <a:schemeClr val="tx1"/>
                </a:solidFill>
              </a:rPr>
              <a:t> representa a </a:t>
            </a:r>
            <a:r>
              <a:rPr lang="pt-BR" dirty="0" smtClean="0">
                <a:solidFill>
                  <a:schemeClr val="tx1"/>
                </a:solidFill>
              </a:rPr>
              <a:t>conversão </a:t>
            </a:r>
            <a:r>
              <a:rPr lang="pt-BR" dirty="0">
                <a:solidFill>
                  <a:schemeClr val="tx1"/>
                </a:solidFill>
              </a:rPr>
              <a:t>alimentar esperada de animais </a:t>
            </a:r>
            <a:r>
              <a:rPr lang="pt-BR" dirty="0" smtClean="0">
                <a:solidFill>
                  <a:schemeClr val="tx1"/>
                </a:solidFill>
              </a:rPr>
              <a:t>após 7</a:t>
            </a:r>
            <a:r>
              <a:rPr lang="pt-BR" i="1" dirty="0" smtClean="0">
                <a:solidFill>
                  <a:schemeClr val="tx1"/>
                </a:solidFill>
              </a:rPr>
              <a:t>j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dias </a:t>
            </a:r>
            <a:r>
              <a:rPr lang="pt-BR" dirty="0" smtClean="0">
                <a:solidFill>
                  <a:schemeClr val="tx1"/>
                </a:solidFill>
              </a:rPr>
              <a:t>de submissão à </a:t>
            </a:r>
            <a:r>
              <a:rPr lang="pt-BR" dirty="0">
                <a:solidFill>
                  <a:schemeClr val="tx1"/>
                </a:solidFill>
              </a:rPr>
              <a:t>dieta </a:t>
            </a:r>
            <a:r>
              <a:rPr lang="pt-BR" i="1" dirty="0">
                <a:solidFill>
                  <a:schemeClr val="tx1"/>
                </a:solidFill>
              </a:rPr>
              <a:t>i</a:t>
            </a:r>
            <a:r>
              <a:rPr lang="pt-BR" dirty="0">
                <a:solidFill>
                  <a:schemeClr val="tx1"/>
                </a:solidFill>
              </a:rPr>
              <a:t> (</a:t>
            </a:r>
            <a:r>
              <a:rPr lang="pt-BR" i="1" dirty="0">
                <a:solidFill>
                  <a:schemeClr val="tx1"/>
                </a:solidFill>
              </a:rPr>
              <a:t>i</a:t>
            </a:r>
            <a:r>
              <a:rPr lang="pt-BR" dirty="0">
                <a:solidFill>
                  <a:schemeClr val="tx1"/>
                </a:solidFill>
              </a:rPr>
              <a:t> = 1 correspondendo à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dieta </a:t>
            </a:r>
            <a:r>
              <a:rPr lang="pt-BR" dirty="0" smtClean="0">
                <a:solidFill>
                  <a:schemeClr val="tx1"/>
                </a:solidFill>
              </a:rPr>
              <a:t>T1; </a:t>
            </a:r>
            <a:r>
              <a:rPr lang="pt-BR" i="1" dirty="0">
                <a:solidFill>
                  <a:schemeClr val="tx1"/>
                </a:solidFill>
              </a:rPr>
              <a:t>i</a:t>
            </a:r>
            <a:r>
              <a:rPr lang="pt-BR" dirty="0">
                <a:solidFill>
                  <a:schemeClr val="tx1"/>
                </a:solidFill>
              </a:rPr>
              <a:t> = 2, à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dieta </a:t>
            </a:r>
            <a:r>
              <a:rPr lang="pt-BR" dirty="0" smtClean="0">
                <a:solidFill>
                  <a:schemeClr val="tx1"/>
                </a:solidFill>
              </a:rPr>
              <a:t>T2; </a:t>
            </a:r>
            <a:r>
              <a:rPr lang="pt-BR" i="1" dirty="0">
                <a:solidFill>
                  <a:schemeClr val="tx1"/>
                </a:solidFill>
              </a:rPr>
              <a:t>i</a:t>
            </a:r>
            <a:r>
              <a:rPr lang="pt-BR" dirty="0">
                <a:solidFill>
                  <a:schemeClr val="tx1"/>
                </a:solidFill>
              </a:rPr>
              <a:t> = </a:t>
            </a:r>
            <a:r>
              <a:rPr lang="pt-BR" dirty="0" smtClean="0">
                <a:solidFill>
                  <a:schemeClr val="tx1"/>
                </a:solidFill>
              </a:rPr>
              <a:t>3, à dieta T3.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45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311700" y="29955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Exemplo </a:t>
            </a:r>
            <a:r>
              <a:rPr lang="pt-BR" dirty="0" smtClean="0"/>
              <a:t>1</a:t>
            </a:r>
            <a:endParaRPr lang="pt-BR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4858" y="1957818"/>
            <a:ext cx="3290150" cy="1055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534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475506"/>
            <a:ext cx="8520600" cy="2698510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r>
              <a:rPr lang="pt-BR" dirty="0">
                <a:solidFill>
                  <a:schemeClr val="tx1"/>
                </a:solidFill>
              </a:rPr>
              <a:t>A hipótese de inexistência de interação entre os fatores dieta e tempo é expressa na forma </a:t>
            </a:r>
            <a:r>
              <a:rPr lang="pt-BR" b="1" i="1" dirty="0">
                <a:solidFill>
                  <a:schemeClr val="tx1"/>
                </a:solidFill>
              </a:rPr>
              <a:t>CMU</a:t>
            </a:r>
            <a:r>
              <a:rPr lang="pt-BR" dirty="0">
                <a:solidFill>
                  <a:schemeClr val="tx1"/>
                </a:solidFill>
              </a:rPr>
              <a:t> = </a:t>
            </a:r>
            <a:r>
              <a:rPr lang="pt-BR" b="1" dirty="0">
                <a:solidFill>
                  <a:schemeClr val="tx1"/>
                </a:solidFill>
              </a:rPr>
              <a:t>0</a:t>
            </a:r>
            <a:r>
              <a:rPr lang="pt-BR" dirty="0">
                <a:solidFill>
                  <a:schemeClr val="tx1"/>
                </a:solidFill>
              </a:rPr>
              <a:t> usando</a:t>
            </a:r>
          </a:p>
          <a:p>
            <a:pPr lvl="0"/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46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311700" y="42424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Exemplo </a:t>
            </a:r>
            <a:r>
              <a:rPr lang="pt-BR" dirty="0" smtClean="0"/>
              <a:t>1</a:t>
            </a:r>
            <a:endParaRPr lang="pt-BR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318" y="2712028"/>
            <a:ext cx="4681026" cy="1116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3789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algn="r"/>
            <a:fld id="{00000000-1234-1234-1234-123412341234}" type="slidenum">
              <a:rPr lang="pt-BR" smtClean="0"/>
              <a:pPr lvl="0" algn="r"/>
              <a:t>47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6" name="Google Shape;93;p17"/>
          <p:cNvSpPr txBox="1">
            <a:spLocks/>
          </p:cNvSpPr>
          <p:nvPr/>
        </p:nvSpPr>
        <p:spPr>
          <a:xfrm>
            <a:off x="550718" y="289024"/>
            <a:ext cx="8281555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pt-BR" sz="1600" b="1" dirty="0" smtClean="0">
                <a:solidFill>
                  <a:schemeClr val="accent1"/>
                </a:solidFill>
              </a:rPr>
              <a:t>Tabela 2: </a:t>
            </a:r>
            <a:r>
              <a:rPr lang="pt-BR" sz="1600" dirty="0" smtClean="0">
                <a:solidFill>
                  <a:schemeClr val="tx1"/>
                </a:solidFill>
              </a:rPr>
              <a:t>Estatísticas de teste para a hipótese de inexistência de interação entre tratamento e tempo.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pt-BR" sz="1600" dirty="0">
              <a:solidFill>
                <a:schemeClr val="dk1"/>
              </a:solidFill>
            </a:endParaRPr>
          </a:p>
        </p:txBody>
      </p:sp>
      <p:sp>
        <p:nvSpPr>
          <p:cNvPr id="8" name="Google Shape;96;p17"/>
          <p:cNvSpPr txBox="1">
            <a:spLocks/>
          </p:cNvSpPr>
          <p:nvPr/>
        </p:nvSpPr>
        <p:spPr>
          <a:xfrm>
            <a:off x="350047" y="3973459"/>
            <a:ext cx="85206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pt-BR" sz="1200" b="1" dirty="0" smtClean="0">
                <a:solidFill>
                  <a:schemeClr val="dk1"/>
                </a:solidFill>
              </a:rPr>
              <a:t>Fonte: </a:t>
            </a:r>
            <a:r>
              <a:rPr lang="pt-BR" sz="1200" dirty="0" smtClean="0">
                <a:solidFill>
                  <a:schemeClr val="dk1"/>
                </a:solidFill>
              </a:rPr>
              <a:t>https://www.ime.usp.br/~jmsinger/MAE0610/Singer&amp;Nobre&amp;Rocha2018jun.pdf</a:t>
            </a:r>
            <a:endParaRPr lang="pt-BR" sz="1400" dirty="0">
              <a:solidFill>
                <a:schemeClr val="dk1"/>
              </a:solidFill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4" y="1189758"/>
            <a:ext cx="7042005" cy="2436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64749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4437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Exemplo </a:t>
            </a:r>
            <a:r>
              <a:rPr lang="pt-BR" dirty="0" smtClean="0"/>
              <a:t>1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683326"/>
            <a:ext cx="8520600" cy="2698510"/>
          </a:xfrm>
        </p:spPr>
        <p:txBody>
          <a:bodyPr>
            <a:normAutofit/>
          </a:bodyPr>
          <a:lstStyle/>
          <a:p>
            <a:pPr lvl="0" algn="just"/>
            <a:r>
              <a:rPr lang="pt-BR" sz="2100" dirty="0">
                <a:solidFill>
                  <a:schemeClr val="tx1"/>
                </a:solidFill>
              </a:rPr>
              <a:t>Conclui-se que há evidências de interação entre os dois </a:t>
            </a:r>
            <a:r>
              <a:rPr lang="pt-BR" sz="2100" dirty="0" smtClean="0">
                <a:solidFill>
                  <a:schemeClr val="tx1"/>
                </a:solidFill>
              </a:rPr>
              <a:t>fatores;</a:t>
            </a:r>
          </a:p>
          <a:p>
            <a:pPr lvl="0" algn="just"/>
            <a:endParaRPr lang="pt-BR" sz="2100" dirty="0">
              <a:solidFill>
                <a:schemeClr val="tx1"/>
              </a:solidFill>
            </a:endParaRPr>
          </a:p>
          <a:p>
            <a:pPr lvl="0" algn="just"/>
            <a:endParaRPr lang="pt-BR" sz="2100" dirty="0">
              <a:solidFill>
                <a:schemeClr val="tx1"/>
              </a:solidFill>
            </a:endParaRPr>
          </a:p>
          <a:p>
            <a:pPr lvl="0" algn="just"/>
            <a:r>
              <a:rPr lang="pt-BR" sz="2100" dirty="0">
                <a:solidFill>
                  <a:schemeClr val="tx1"/>
                </a:solidFill>
              </a:rPr>
              <a:t>Podemos prosseguir a análise avaliando a natureza da interação.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48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85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361205"/>
            <a:ext cx="8520600" cy="2698510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r>
              <a:rPr lang="pt-BR" dirty="0">
                <a:solidFill>
                  <a:schemeClr val="tx1"/>
                </a:solidFill>
              </a:rPr>
              <a:t>Pelo gráfico de perfis médios observa-se que as respostas, sob os tratamentos T1 e T2, têm um comportamento longitudinal semelhante e a hipótese de inexistência de interação entre esses tratamentos e o tempo é expressa com a matriz </a:t>
            </a:r>
            <a:r>
              <a:rPr lang="pt-BR" b="1" dirty="0">
                <a:solidFill>
                  <a:schemeClr val="tx1"/>
                </a:solidFill>
              </a:rPr>
              <a:t>C</a:t>
            </a:r>
            <a:r>
              <a:rPr lang="pt-BR" dirty="0">
                <a:solidFill>
                  <a:schemeClr val="tx1"/>
                </a:solidFill>
              </a:rPr>
              <a:t> = </a:t>
            </a:r>
            <a:r>
              <a:rPr lang="pt-BR" dirty="0" smtClean="0">
                <a:solidFill>
                  <a:schemeClr val="tx1"/>
                </a:solidFill>
              </a:rPr>
              <a:t>[1 </a:t>
            </a:r>
            <a:r>
              <a:rPr lang="pt-BR" dirty="0">
                <a:solidFill>
                  <a:schemeClr val="tx1"/>
                </a:solidFill>
              </a:rPr>
              <a:t>−</a:t>
            </a:r>
            <a:r>
              <a:rPr lang="pt-BR" dirty="0" smtClean="0">
                <a:solidFill>
                  <a:schemeClr val="tx1"/>
                </a:solidFill>
              </a:rPr>
              <a:t>1 0] </a:t>
            </a:r>
            <a:r>
              <a:rPr lang="pt-BR" dirty="0">
                <a:solidFill>
                  <a:schemeClr val="tx1"/>
                </a:solidFill>
              </a:rPr>
              <a:t>e a </a:t>
            </a:r>
            <a:r>
              <a:rPr lang="pt-BR" dirty="0" smtClean="0">
                <a:solidFill>
                  <a:schemeClr val="tx1"/>
                </a:solidFill>
              </a:rPr>
              <a:t>matriz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49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353264" y="35150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Exemplo </a:t>
            </a:r>
            <a:r>
              <a:rPr lang="pt-BR" dirty="0" smtClean="0"/>
              <a:t>1</a:t>
            </a:r>
            <a:endParaRPr lang="pt-BR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320" y="2960077"/>
            <a:ext cx="2319772" cy="1328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3637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444333"/>
            <a:ext cx="8520600" cy="2698510"/>
          </a:xfrm>
        </p:spPr>
        <p:txBody>
          <a:bodyPr>
            <a:normAutofit/>
          </a:bodyPr>
          <a:lstStyle/>
          <a:p>
            <a:pPr algn="just"/>
            <a:r>
              <a:rPr lang="pt-BR" sz="2100" dirty="0" smtClean="0">
                <a:solidFill>
                  <a:schemeClr val="tx1"/>
                </a:solidFill>
              </a:rPr>
              <a:t>As distribuições da estatística do teste são aproximadas </a:t>
            </a:r>
            <a:r>
              <a:rPr lang="pt-BR" sz="2100" dirty="0">
                <a:solidFill>
                  <a:schemeClr val="tx1"/>
                </a:solidFill>
              </a:rPr>
              <a:t>por uma </a:t>
            </a:r>
            <a:r>
              <a:rPr lang="pt-BR" sz="2100" dirty="0" smtClean="0">
                <a:solidFill>
                  <a:schemeClr val="tx1"/>
                </a:solidFill>
              </a:rPr>
              <a:t>distribuição </a:t>
            </a:r>
            <a:r>
              <a:rPr lang="pt-BR" sz="2100" i="1" dirty="0">
                <a:solidFill>
                  <a:schemeClr val="tx1"/>
                </a:solidFill>
              </a:rPr>
              <a:t>F</a:t>
            </a:r>
            <a:r>
              <a:rPr lang="pt-BR" sz="2100" dirty="0">
                <a:solidFill>
                  <a:schemeClr val="tx1"/>
                </a:solidFill>
              </a:rPr>
              <a:t> com 3 graus de liberdade no numerador e </a:t>
            </a:r>
            <a:r>
              <a:rPr lang="pt-BR" sz="2100" dirty="0" smtClean="0">
                <a:solidFill>
                  <a:schemeClr val="tx1"/>
                </a:solidFill>
              </a:rPr>
              <a:t>7 graus </a:t>
            </a:r>
            <a:r>
              <a:rPr lang="pt-BR" sz="2100" dirty="0">
                <a:solidFill>
                  <a:schemeClr val="tx1"/>
                </a:solidFill>
              </a:rPr>
              <a:t>de liberdade no </a:t>
            </a:r>
            <a:r>
              <a:rPr lang="pt-BR" sz="2100" dirty="0" smtClean="0">
                <a:solidFill>
                  <a:schemeClr val="tx1"/>
                </a:solidFill>
              </a:rPr>
              <a:t>denominador;</a:t>
            </a:r>
          </a:p>
          <a:p>
            <a:pPr algn="just"/>
            <a:endParaRPr lang="pt-BR" sz="2100" dirty="0" smtClean="0">
              <a:solidFill>
                <a:schemeClr val="tx1"/>
              </a:solidFill>
            </a:endParaRPr>
          </a:p>
          <a:p>
            <a:pPr algn="just"/>
            <a:r>
              <a:rPr lang="pt-BR" sz="2100" dirty="0" smtClean="0">
                <a:solidFill>
                  <a:schemeClr val="tx1"/>
                </a:solidFill>
              </a:rPr>
              <a:t>O </a:t>
            </a:r>
            <a:r>
              <a:rPr lang="pt-BR" sz="2100" dirty="0">
                <a:solidFill>
                  <a:schemeClr val="tx1"/>
                </a:solidFill>
              </a:rPr>
              <a:t>valor observado </a:t>
            </a:r>
            <a:r>
              <a:rPr lang="pt-BR" sz="2100" dirty="0" smtClean="0">
                <a:solidFill>
                  <a:schemeClr val="tx1"/>
                </a:solidFill>
              </a:rPr>
              <a:t>é F = 0,588 </a:t>
            </a:r>
            <a:r>
              <a:rPr lang="pt-BR" sz="2100" dirty="0">
                <a:solidFill>
                  <a:schemeClr val="tx1"/>
                </a:solidFill>
              </a:rPr>
              <a:t>com p-valor </a:t>
            </a:r>
            <a:r>
              <a:rPr lang="pt-BR" sz="2100" dirty="0" smtClean="0">
                <a:solidFill>
                  <a:schemeClr val="tx1"/>
                </a:solidFill>
              </a:rPr>
              <a:t>igual a 0,642</a:t>
            </a:r>
            <a:r>
              <a:rPr lang="pt-BR" sz="2100" dirty="0">
                <a:solidFill>
                  <a:schemeClr val="tx1"/>
                </a:solidFill>
              </a:rPr>
              <a:t>, sugerindo que não há evidências para rejeição da hipótese.</a:t>
            </a:r>
          </a:p>
          <a:p>
            <a:pPr lvl="0"/>
            <a:endParaRPr lang="pt-BR" sz="2200" dirty="0">
              <a:solidFill>
                <a:schemeClr val="tx1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50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374046" y="42424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Exemplo </a:t>
            </a:r>
            <a:r>
              <a:rPr lang="pt-BR" dirty="0" smtClean="0"/>
              <a:t>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573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5610" y="34111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Exemplo </a:t>
            </a:r>
            <a:r>
              <a:rPr lang="pt-BR" dirty="0" smtClean="0"/>
              <a:t>1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205340"/>
            <a:ext cx="8520600" cy="2698510"/>
          </a:xfrm>
        </p:spPr>
        <p:txBody>
          <a:bodyPr>
            <a:noAutofit/>
          </a:bodyPr>
          <a:lstStyle/>
          <a:p>
            <a:pPr lvl="0" algn="just"/>
            <a:r>
              <a:rPr lang="pt-BR" dirty="0">
                <a:solidFill>
                  <a:schemeClr val="tx1"/>
                </a:solidFill>
              </a:rPr>
              <a:t>A hipótese de inexistência de efeito de tratamento (comparando T1 e T2) faz sentido e é expressa com </a:t>
            </a:r>
            <a:r>
              <a:rPr lang="pt-BR" b="1" dirty="0">
                <a:solidFill>
                  <a:schemeClr val="tx1"/>
                </a:solidFill>
              </a:rPr>
              <a:t>C</a:t>
            </a:r>
            <a:r>
              <a:rPr lang="pt-BR" dirty="0">
                <a:solidFill>
                  <a:schemeClr val="tx1"/>
                </a:solidFill>
              </a:rPr>
              <a:t> = </a:t>
            </a:r>
            <a:r>
              <a:rPr lang="pt-BR" dirty="0" smtClean="0">
                <a:solidFill>
                  <a:schemeClr val="tx1"/>
                </a:solidFill>
              </a:rPr>
              <a:t>[1 </a:t>
            </a:r>
            <a:r>
              <a:rPr lang="pt-BR" dirty="0">
                <a:solidFill>
                  <a:schemeClr val="tx1"/>
                </a:solidFill>
              </a:rPr>
              <a:t>−1 </a:t>
            </a:r>
            <a:r>
              <a:rPr lang="pt-BR" dirty="0" smtClean="0">
                <a:solidFill>
                  <a:schemeClr val="tx1"/>
                </a:solidFill>
              </a:rPr>
              <a:t>0] </a:t>
            </a:r>
            <a:r>
              <a:rPr lang="pt-BR" dirty="0">
                <a:solidFill>
                  <a:schemeClr val="tx1"/>
                </a:solidFill>
              </a:rPr>
              <a:t>e </a:t>
            </a:r>
            <a:r>
              <a:rPr lang="pt-BR" b="1" dirty="0">
                <a:solidFill>
                  <a:schemeClr val="tx1"/>
                </a:solidFill>
              </a:rPr>
              <a:t>U</a:t>
            </a:r>
            <a:r>
              <a:rPr lang="pt-BR" dirty="0">
                <a:solidFill>
                  <a:schemeClr val="tx1"/>
                </a:solidFill>
              </a:rPr>
              <a:t> = </a:t>
            </a:r>
            <a:r>
              <a:rPr lang="pt-BR" b="1" dirty="0" smtClean="0">
                <a:solidFill>
                  <a:schemeClr val="tx1"/>
                </a:solidFill>
              </a:rPr>
              <a:t>1</a:t>
            </a:r>
            <a:r>
              <a:rPr lang="pt-BR" baseline="-8000" dirty="0" smtClean="0">
                <a:solidFill>
                  <a:schemeClr val="tx1"/>
                </a:solidFill>
              </a:rPr>
              <a:t>4 </a:t>
            </a:r>
            <a:r>
              <a:rPr lang="pt-BR" dirty="0" smtClean="0">
                <a:solidFill>
                  <a:schemeClr val="tx1"/>
                </a:solidFill>
              </a:rPr>
              <a:t>(matriz coluna de dimensão   4 </a:t>
            </a:r>
            <a:r>
              <a:rPr lang="pt-BR" i="1" dirty="0" smtClean="0">
                <a:solidFill>
                  <a:schemeClr val="tx1"/>
                </a:solidFill>
              </a:rPr>
              <a:t>x</a:t>
            </a:r>
            <a:r>
              <a:rPr lang="pt-BR" dirty="0" smtClean="0">
                <a:solidFill>
                  <a:schemeClr val="tx1"/>
                </a:solidFill>
              </a:rPr>
              <a:t> 1 formada por 1’s)</a:t>
            </a:r>
            <a:r>
              <a:rPr lang="pt-BR" dirty="0" smtClean="0">
                <a:solidFill>
                  <a:schemeClr val="tx1"/>
                </a:solidFill>
              </a:rPr>
              <a:t>;</a:t>
            </a:r>
          </a:p>
          <a:p>
            <a:pPr lvl="0" algn="just"/>
            <a:endParaRPr lang="pt-BR" dirty="0" smtClean="0">
              <a:solidFill>
                <a:schemeClr val="tx1"/>
              </a:solidFill>
            </a:endParaRP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A </a:t>
            </a:r>
            <a:r>
              <a:rPr lang="pt-BR" dirty="0">
                <a:solidFill>
                  <a:schemeClr val="tx1"/>
                </a:solidFill>
              </a:rPr>
              <a:t>distribuição da estatística do teste </a:t>
            </a:r>
            <a:r>
              <a:rPr lang="pt-BR" dirty="0" smtClean="0">
                <a:solidFill>
                  <a:schemeClr val="tx1"/>
                </a:solidFill>
              </a:rPr>
              <a:t>tem distribuição </a:t>
            </a:r>
            <a:r>
              <a:rPr lang="pt-BR" i="1" dirty="0">
                <a:solidFill>
                  <a:schemeClr val="tx1"/>
                </a:solidFill>
              </a:rPr>
              <a:t>F</a:t>
            </a:r>
            <a:r>
              <a:rPr lang="pt-BR" dirty="0">
                <a:solidFill>
                  <a:schemeClr val="tx1"/>
                </a:solidFill>
              </a:rPr>
              <a:t> com </a:t>
            </a:r>
            <a:r>
              <a:rPr lang="pt-BR" dirty="0" smtClean="0">
                <a:solidFill>
                  <a:schemeClr val="tx1"/>
                </a:solidFill>
              </a:rPr>
              <a:t>1 grau </a:t>
            </a:r>
            <a:r>
              <a:rPr lang="pt-BR" dirty="0">
                <a:solidFill>
                  <a:schemeClr val="tx1"/>
                </a:solidFill>
              </a:rPr>
              <a:t>de liberdade no numerador e </a:t>
            </a:r>
            <a:r>
              <a:rPr lang="pt-BR" dirty="0" smtClean="0">
                <a:solidFill>
                  <a:schemeClr val="tx1"/>
                </a:solidFill>
              </a:rPr>
              <a:t>9 </a:t>
            </a:r>
            <a:r>
              <a:rPr lang="pt-BR" dirty="0">
                <a:solidFill>
                  <a:schemeClr val="tx1"/>
                </a:solidFill>
              </a:rPr>
              <a:t>graus de liberdade no denominador;</a:t>
            </a:r>
          </a:p>
          <a:p>
            <a:pPr lvl="0" algn="just"/>
            <a:endParaRPr lang="pt-BR" dirty="0" smtClean="0">
              <a:solidFill>
                <a:schemeClr val="tx1"/>
              </a:solidFill>
            </a:endParaRPr>
          </a:p>
          <a:p>
            <a:pPr lvl="0" algn="just"/>
            <a:r>
              <a:rPr lang="pt-BR" dirty="0" smtClean="0">
                <a:solidFill>
                  <a:schemeClr val="tx1"/>
                </a:solidFill>
              </a:rPr>
              <a:t>O </a:t>
            </a:r>
            <a:r>
              <a:rPr lang="pt-BR" dirty="0">
                <a:solidFill>
                  <a:schemeClr val="tx1"/>
                </a:solidFill>
              </a:rPr>
              <a:t>valor observado da estatística do teste é </a:t>
            </a:r>
            <a:r>
              <a:rPr lang="pt-BR" dirty="0" smtClean="0">
                <a:solidFill>
                  <a:schemeClr val="tx1"/>
                </a:solidFill>
              </a:rPr>
              <a:t>F = 6,452 </a:t>
            </a:r>
            <a:r>
              <a:rPr lang="pt-BR" dirty="0">
                <a:solidFill>
                  <a:schemeClr val="tx1"/>
                </a:solidFill>
              </a:rPr>
              <a:t>e o p-valor é igual a </a:t>
            </a:r>
            <a:r>
              <a:rPr lang="pt-BR" dirty="0" smtClean="0">
                <a:solidFill>
                  <a:schemeClr val="tx1"/>
                </a:solidFill>
              </a:rPr>
              <a:t>0,032</a:t>
            </a:r>
            <a:r>
              <a:rPr lang="pt-BR" dirty="0">
                <a:solidFill>
                  <a:schemeClr val="tx1"/>
                </a:solidFill>
              </a:rPr>
              <a:t>, sugerindo uma diferença entre as respostas esperadas sob os dois </a:t>
            </a:r>
            <a:r>
              <a:rPr lang="pt-BR" dirty="0" smtClean="0">
                <a:solidFill>
                  <a:schemeClr val="tx1"/>
                </a:solidFill>
              </a:rPr>
              <a:t>tratamentos.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51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92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309251"/>
            <a:ext cx="8520600" cy="2743197"/>
          </a:xfrm>
        </p:spPr>
        <p:txBody>
          <a:bodyPr>
            <a:noAutofit/>
          </a:bodyPr>
          <a:lstStyle/>
          <a:p>
            <a:pPr lvl="0" algn="just"/>
            <a:r>
              <a:rPr lang="pt-BR" dirty="0">
                <a:solidFill>
                  <a:schemeClr val="tx1"/>
                </a:solidFill>
              </a:rPr>
              <a:t>Outra hipótese de </a:t>
            </a:r>
            <a:r>
              <a:rPr lang="pt-BR" dirty="0" smtClean="0">
                <a:solidFill>
                  <a:schemeClr val="tx1"/>
                </a:solidFill>
              </a:rPr>
              <a:t>interesse é </a:t>
            </a:r>
            <a:r>
              <a:rPr lang="pt-BR" dirty="0">
                <a:solidFill>
                  <a:schemeClr val="tx1"/>
                </a:solidFill>
              </a:rPr>
              <a:t>a de inexistência de efeito de tempo para o conjunto de tratamentos (T1, T2) que pode ser expressa com </a:t>
            </a:r>
            <a:r>
              <a:rPr lang="pt-BR" b="1" dirty="0">
                <a:solidFill>
                  <a:schemeClr val="tx1"/>
                </a:solidFill>
              </a:rPr>
              <a:t>C</a:t>
            </a:r>
            <a:r>
              <a:rPr lang="pt-BR" dirty="0">
                <a:solidFill>
                  <a:schemeClr val="tx1"/>
                </a:solidFill>
              </a:rPr>
              <a:t> = </a:t>
            </a:r>
            <a:r>
              <a:rPr lang="pt-BR" dirty="0" smtClean="0">
                <a:solidFill>
                  <a:schemeClr val="tx1"/>
                </a:solidFill>
              </a:rPr>
              <a:t>[1 </a:t>
            </a:r>
            <a:r>
              <a:rPr lang="pt-BR" dirty="0">
                <a:solidFill>
                  <a:schemeClr val="tx1"/>
                </a:solidFill>
              </a:rPr>
              <a:t>1 </a:t>
            </a:r>
            <a:r>
              <a:rPr lang="pt-BR" dirty="0" smtClean="0">
                <a:solidFill>
                  <a:schemeClr val="tx1"/>
                </a:solidFill>
              </a:rPr>
              <a:t>0] </a:t>
            </a:r>
            <a:r>
              <a:rPr lang="pt-BR" dirty="0" smtClean="0">
                <a:solidFill>
                  <a:schemeClr val="tx1"/>
                </a:solidFill>
              </a:rPr>
              <a:t>e</a:t>
            </a:r>
          </a:p>
          <a:p>
            <a:pPr lvl="0" algn="just"/>
            <a:endParaRPr lang="pt-BR" sz="1400" dirty="0" smtClean="0">
              <a:solidFill>
                <a:schemeClr val="tx1"/>
              </a:solidFill>
            </a:endParaRPr>
          </a:p>
          <a:p>
            <a:pPr lvl="0" algn="just"/>
            <a:endParaRPr lang="pt-BR" sz="1400" dirty="0">
              <a:solidFill>
                <a:schemeClr val="tx1"/>
              </a:solidFill>
            </a:endParaRPr>
          </a:p>
          <a:p>
            <a:pPr lvl="0" algn="just"/>
            <a:endParaRPr lang="pt-BR" sz="1400" dirty="0" smtClean="0">
              <a:solidFill>
                <a:schemeClr val="tx1"/>
              </a:solidFill>
            </a:endParaRPr>
          </a:p>
          <a:p>
            <a:pPr lvl="0" algn="just"/>
            <a:endParaRPr lang="pt-BR" sz="1400" dirty="0">
              <a:solidFill>
                <a:schemeClr val="tx1"/>
              </a:solidFill>
            </a:endParaRPr>
          </a:p>
          <a:p>
            <a:pPr lvl="0" algn="just"/>
            <a:endParaRPr lang="pt-BR" sz="1400" dirty="0" smtClean="0">
              <a:solidFill>
                <a:schemeClr val="tx1"/>
              </a:solidFill>
            </a:endParaRPr>
          </a:p>
          <a:p>
            <a:pPr lvl="0" algn="just"/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52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363655" y="226814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Exemplo </a:t>
            </a:r>
            <a:r>
              <a:rPr lang="pt-BR" dirty="0" smtClean="0"/>
              <a:t>1</a:t>
            </a:r>
            <a:endParaRPr lang="pt-BR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838" y="2632094"/>
            <a:ext cx="2257427" cy="1292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154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872827"/>
            <a:ext cx="8520600" cy="3429005"/>
          </a:xfrm>
        </p:spPr>
        <p:txBody>
          <a:bodyPr>
            <a:noAutofit/>
          </a:bodyPr>
          <a:lstStyle/>
          <a:p>
            <a:pPr lvl="0" algn="just"/>
            <a:endParaRPr lang="pt-BR" sz="1400" dirty="0">
              <a:solidFill>
                <a:schemeClr val="tx1"/>
              </a:solidFill>
            </a:endParaRPr>
          </a:p>
          <a:p>
            <a:pPr lvl="0" algn="just"/>
            <a:endParaRPr lang="pt-BR" sz="1400" dirty="0" smtClean="0">
              <a:solidFill>
                <a:schemeClr val="tx1"/>
              </a:solidFill>
            </a:endParaRPr>
          </a:p>
          <a:p>
            <a:pPr lvl="0" algn="just"/>
            <a:r>
              <a:rPr lang="pt-BR" dirty="0" smtClean="0">
                <a:solidFill>
                  <a:schemeClr val="tx1"/>
                </a:solidFill>
              </a:rPr>
              <a:t>Assim </a:t>
            </a:r>
            <a:r>
              <a:rPr lang="pt-BR" dirty="0">
                <a:solidFill>
                  <a:schemeClr val="tx1"/>
                </a:solidFill>
              </a:rPr>
              <a:t>como no caso da hipótese de inexistência de interação entre o conjunto de tratamentos (T1, T2) e o </a:t>
            </a:r>
            <a:r>
              <a:rPr lang="pt-BR" dirty="0" smtClean="0">
                <a:solidFill>
                  <a:schemeClr val="tx1"/>
                </a:solidFill>
              </a:rPr>
              <a:t>tempo, as distribuições das estatísticas multivariadas </a:t>
            </a:r>
            <a:r>
              <a:rPr lang="pt-BR" dirty="0">
                <a:solidFill>
                  <a:schemeClr val="tx1"/>
                </a:solidFill>
              </a:rPr>
              <a:t>de teste </a:t>
            </a:r>
            <a:r>
              <a:rPr lang="pt-BR" dirty="0" smtClean="0">
                <a:solidFill>
                  <a:schemeClr val="tx1"/>
                </a:solidFill>
              </a:rPr>
              <a:t>podem </a:t>
            </a:r>
            <a:r>
              <a:rPr lang="pt-BR" dirty="0">
                <a:solidFill>
                  <a:schemeClr val="tx1"/>
                </a:solidFill>
              </a:rPr>
              <a:t>ser </a:t>
            </a:r>
            <a:r>
              <a:rPr lang="pt-BR" dirty="0" smtClean="0">
                <a:solidFill>
                  <a:schemeClr val="tx1"/>
                </a:solidFill>
              </a:rPr>
              <a:t>aproximadas </a:t>
            </a:r>
            <a:r>
              <a:rPr lang="pt-BR" dirty="0">
                <a:solidFill>
                  <a:schemeClr val="tx1"/>
                </a:solidFill>
              </a:rPr>
              <a:t>por uma distribuição F com </a:t>
            </a:r>
            <a:r>
              <a:rPr lang="pt-BR" dirty="0" smtClean="0">
                <a:solidFill>
                  <a:schemeClr val="tx1"/>
                </a:solidFill>
              </a:rPr>
              <a:t>3 </a:t>
            </a:r>
            <a:r>
              <a:rPr lang="pt-BR" dirty="0">
                <a:solidFill>
                  <a:schemeClr val="tx1"/>
                </a:solidFill>
              </a:rPr>
              <a:t>grau de liberdade no numerador e </a:t>
            </a:r>
            <a:r>
              <a:rPr lang="pt-BR" dirty="0" smtClean="0">
                <a:solidFill>
                  <a:schemeClr val="tx1"/>
                </a:solidFill>
              </a:rPr>
              <a:t>7 </a:t>
            </a:r>
            <a:r>
              <a:rPr lang="pt-BR" dirty="0">
                <a:solidFill>
                  <a:schemeClr val="tx1"/>
                </a:solidFill>
              </a:rPr>
              <a:t>graus de liberdade no </a:t>
            </a:r>
            <a:r>
              <a:rPr lang="pt-BR" dirty="0" smtClean="0">
                <a:solidFill>
                  <a:schemeClr val="tx1"/>
                </a:solidFill>
              </a:rPr>
              <a:t>denominador;</a:t>
            </a:r>
          </a:p>
          <a:p>
            <a:pPr lvl="0" algn="just"/>
            <a:endParaRPr lang="pt-BR" dirty="0" smtClean="0">
              <a:solidFill>
                <a:schemeClr val="tx1"/>
              </a:solidFill>
            </a:endParaRPr>
          </a:p>
          <a:p>
            <a:pPr lvl="0" algn="just"/>
            <a:endParaRPr lang="pt-BR" dirty="0">
              <a:solidFill>
                <a:schemeClr val="tx1"/>
              </a:solidFill>
            </a:endParaRPr>
          </a:p>
          <a:p>
            <a:pPr lvl="0" algn="just"/>
            <a:r>
              <a:rPr lang="pt-BR" dirty="0" smtClean="0">
                <a:solidFill>
                  <a:schemeClr val="tx1"/>
                </a:solidFill>
              </a:rPr>
              <a:t>O </a:t>
            </a:r>
            <a:r>
              <a:rPr lang="pt-BR" dirty="0">
                <a:solidFill>
                  <a:schemeClr val="tx1"/>
                </a:solidFill>
              </a:rPr>
              <a:t>valor observado  da estatística do teste é </a:t>
            </a:r>
            <a:r>
              <a:rPr lang="pt-BR" dirty="0" smtClean="0">
                <a:solidFill>
                  <a:schemeClr val="tx1"/>
                </a:solidFill>
              </a:rPr>
              <a:t>F = 373,4 </a:t>
            </a:r>
            <a:r>
              <a:rPr lang="pt-BR" dirty="0">
                <a:solidFill>
                  <a:schemeClr val="tx1"/>
                </a:solidFill>
              </a:rPr>
              <a:t>com p-valor &lt; 0.001, sugerindo um efeito significativo de tempo para esses dois tratamentos.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53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26001" y="361897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Exemplo </a:t>
            </a:r>
            <a:r>
              <a:rPr lang="pt-BR" dirty="0" smtClean="0"/>
              <a:t>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308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6001" y="403461"/>
            <a:ext cx="8520600" cy="572700"/>
          </a:xfrm>
        </p:spPr>
        <p:txBody>
          <a:bodyPr>
            <a:noAutofit/>
          </a:bodyPr>
          <a:lstStyle/>
          <a:p>
            <a:r>
              <a:rPr lang="pt-BR" sz="2500" dirty="0" smtClean="0"/>
              <a:t>Exemplo </a:t>
            </a:r>
            <a:r>
              <a:rPr lang="pt-BR" sz="2500" dirty="0" smtClean="0"/>
              <a:t>1</a:t>
            </a:r>
            <a:endParaRPr lang="pt-BR" sz="250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569030"/>
            <a:ext cx="8520600" cy="3031017"/>
          </a:xfrm>
        </p:spPr>
        <p:txBody>
          <a:bodyPr>
            <a:normAutofit/>
          </a:bodyPr>
          <a:lstStyle/>
          <a:p>
            <a:pPr marL="114300" lvl="0" indent="0" algn="just">
              <a:lnSpc>
                <a:spcPct val="120000"/>
              </a:lnSpc>
              <a:buNone/>
            </a:pPr>
            <a:r>
              <a:rPr lang="pt-BR" sz="2300" dirty="0">
                <a:solidFill>
                  <a:schemeClr val="tx1"/>
                </a:solidFill>
              </a:rPr>
              <a:t>A forma do comportamento longitudinal da resposta esperada pode ser </a:t>
            </a:r>
            <a:r>
              <a:rPr lang="pt-BR" sz="2300" dirty="0" smtClean="0">
                <a:solidFill>
                  <a:schemeClr val="tx1"/>
                </a:solidFill>
              </a:rPr>
              <a:t>avaliada por </a:t>
            </a:r>
            <a:r>
              <a:rPr lang="pt-BR" sz="2300" dirty="0">
                <a:solidFill>
                  <a:schemeClr val="tx1"/>
                </a:solidFill>
              </a:rPr>
              <a:t>meio de testes das </a:t>
            </a:r>
            <a:r>
              <a:rPr lang="pt-BR" sz="2300" dirty="0" smtClean="0">
                <a:solidFill>
                  <a:schemeClr val="tx1"/>
                </a:solidFill>
              </a:rPr>
              <a:t>hipóteses </a:t>
            </a:r>
            <a:r>
              <a:rPr lang="pt-BR" sz="2300" dirty="0">
                <a:solidFill>
                  <a:schemeClr val="tx1"/>
                </a:solidFill>
              </a:rPr>
              <a:t>de efeito linear de tempo para os </a:t>
            </a:r>
            <a:r>
              <a:rPr lang="pt-BR" sz="2300" dirty="0" smtClean="0">
                <a:solidFill>
                  <a:schemeClr val="tx1"/>
                </a:solidFill>
              </a:rPr>
              <a:t>tratamentos T1 </a:t>
            </a:r>
            <a:r>
              <a:rPr lang="pt-BR" sz="2300" dirty="0">
                <a:solidFill>
                  <a:schemeClr val="tx1"/>
                </a:solidFill>
              </a:rPr>
              <a:t>e T2 e de efeito </a:t>
            </a:r>
            <a:r>
              <a:rPr lang="pt-BR" sz="2300" dirty="0" smtClean="0">
                <a:solidFill>
                  <a:schemeClr val="tx1"/>
                </a:solidFill>
              </a:rPr>
              <a:t>quadrático </a:t>
            </a:r>
            <a:r>
              <a:rPr lang="pt-BR" sz="2300" dirty="0">
                <a:solidFill>
                  <a:schemeClr val="tx1"/>
                </a:solidFill>
              </a:rPr>
              <a:t>para o tratamento T3. </a:t>
            </a:r>
            <a:endParaRPr lang="pt-BR" sz="23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54</a:t>
            </a:fld>
            <a:r>
              <a:rPr lang="pt-BR" dirty="0" smtClean="0"/>
              <a:t> / 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16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6001" y="403461"/>
            <a:ext cx="8520600" cy="572700"/>
          </a:xfrm>
        </p:spPr>
        <p:txBody>
          <a:bodyPr>
            <a:noAutofit/>
          </a:bodyPr>
          <a:lstStyle/>
          <a:p>
            <a:r>
              <a:rPr lang="pt-BR" sz="2500" dirty="0" smtClean="0"/>
              <a:t>Exemplo </a:t>
            </a:r>
            <a:r>
              <a:rPr lang="pt-BR" sz="2500" dirty="0" smtClean="0"/>
              <a:t>1</a:t>
            </a:r>
            <a:endParaRPr lang="pt-BR" sz="250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465120"/>
            <a:ext cx="8520600" cy="3031017"/>
          </a:xfrm>
        </p:spPr>
        <p:txBody>
          <a:bodyPr>
            <a:normAutofit/>
          </a:bodyPr>
          <a:lstStyle/>
          <a:p>
            <a:pPr marL="114300" lvl="0" indent="0" algn="just">
              <a:lnSpc>
                <a:spcPct val="120000"/>
              </a:lnSpc>
              <a:buNone/>
            </a:pPr>
            <a:r>
              <a:rPr lang="pt-BR" sz="2300" dirty="0" smtClean="0">
                <a:solidFill>
                  <a:schemeClr val="tx1"/>
                </a:solidFill>
              </a:rPr>
              <a:t>Em relação à hipótese </a:t>
            </a:r>
            <a:r>
              <a:rPr lang="pt-BR" sz="2300" dirty="0">
                <a:solidFill>
                  <a:schemeClr val="tx1"/>
                </a:solidFill>
              </a:rPr>
              <a:t>de efeito linear de tempo para os </a:t>
            </a:r>
            <a:r>
              <a:rPr lang="pt-BR" sz="2300" dirty="0" smtClean="0">
                <a:solidFill>
                  <a:schemeClr val="tx1"/>
                </a:solidFill>
              </a:rPr>
              <a:t>tratamentos </a:t>
            </a:r>
            <a:r>
              <a:rPr lang="pt-BR" sz="2300" dirty="0">
                <a:solidFill>
                  <a:schemeClr val="tx1"/>
                </a:solidFill>
              </a:rPr>
              <a:t>T1 e </a:t>
            </a:r>
            <a:r>
              <a:rPr lang="pt-BR" sz="2300" dirty="0" smtClean="0">
                <a:solidFill>
                  <a:schemeClr val="tx1"/>
                </a:solidFill>
              </a:rPr>
              <a:t>T2, </a:t>
            </a:r>
            <a:r>
              <a:rPr lang="pt-BR" sz="2300" dirty="0">
                <a:solidFill>
                  <a:schemeClr val="tx1"/>
                </a:solidFill>
              </a:rPr>
              <a:t>podemos utilizar </a:t>
            </a:r>
            <a:r>
              <a:rPr lang="pt-BR" sz="2300" b="1" dirty="0" smtClean="0">
                <a:solidFill>
                  <a:schemeClr val="tx1"/>
                </a:solidFill>
              </a:rPr>
              <a:t>C</a:t>
            </a:r>
            <a:r>
              <a:rPr lang="pt-BR" sz="2300" dirty="0" smtClean="0">
                <a:solidFill>
                  <a:schemeClr val="tx1"/>
                </a:solidFill>
              </a:rPr>
              <a:t> </a:t>
            </a:r>
            <a:r>
              <a:rPr lang="pt-BR" sz="2300" dirty="0">
                <a:solidFill>
                  <a:schemeClr val="tx1"/>
                </a:solidFill>
              </a:rPr>
              <a:t>= [1 1 0] </a:t>
            </a:r>
            <a:r>
              <a:rPr lang="pt-BR" sz="2300" dirty="0" smtClean="0">
                <a:solidFill>
                  <a:schemeClr val="tx1"/>
                </a:solidFill>
              </a:rPr>
              <a:t>e</a:t>
            </a:r>
            <a:endParaRPr lang="pt-BR" sz="23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55</a:t>
            </a:fld>
            <a:r>
              <a:rPr lang="pt-BR" dirty="0" smtClean="0"/>
              <a:t> / </a:t>
            </a:r>
            <a:r>
              <a:rPr lang="pt-BR" dirty="0" smtClean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072" y="2867892"/>
            <a:ext cx="2028384" cy="1288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959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561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Exemplo </a:t>
            </a:r>
            <a:r>
              <a:rPr lang="pt-BR" dirty="0" smtClean="0"/>
              <a:t>1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797627"/>
            <a:ext cx="8520600" cy="2698510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r>
              <a:rPr lang="pt-BR" sz="2000" dirty="0" smtClean="0">
                <a:solidFill>
                  <a:schemeClr val="tx1"/>
                </a:solidFill>
              </a:rPr>
              <a:t>O </a:t>
            </a:r>
            <a:r>
              <a:rPr lang="pt-BR" sz="2000" dirty="0">
                <a:solidFill>
                  <a:schemeClr val="tx1"/>
                </a:solidFill>
              </a:rPr>
              <a:t>valor observado da estatística F correspondente é </a:t>
            </a:r>
            <a:r>
              <a:rPr lang="pt-BR" sz="2000" dirty="0" smtClean="0">
                <a:solidFill>
                  <a:schemeClr val="tx1"/>
                </a:solidFill>
              </a:rPr>
              <a:t>3,675 </a:t>
            </a:r>
            <a:r>
              <a:rPr lang="pt-BR" sz="2000" dirty="0">
                <a:solidFill>
                  <a:schemeClr val="tx1"/>
                </a:solidFill>
              </a:rPr>
              <a:t>e o p-valor é igual a </a:t>
            </a:r>
            <a:r>
              <a:rPr lang="pt-BR" sz="2000" dirty="0" smtClean="0">
                <a:solidFill>
                  <a:schemeClr val="tx1"/>
                </a:solidFill>
              </a:rPr>
              <a:t>0,0737 </a:t>
            </a:r>
            <a:r>
              <a:rPr lang="pt-BR" sz="2000" dirty="0">
                <a:solidFill>
                  <a:schemeClr val="tx1"/>
                </a:solidFill>
              </a:rPr>
              <a:t>obtido da distribuição F com 2 graus de liberdade no numerador e </a:t>
            </a:r>
            <a:r>
              <a:rPr lang="pt-BR" sz="2000" dirty="0" smtClean="0">
                <a:solidFill>
                  <a:schemeClr val="tx1"/>
                </a:solidFill>
              </a:rPr>
              <a:t>8 </a:t>
            </a:r>
            <a:r>
              <a:rPr lang="pt-BR" sz="2000" dirty="0">
                <a:solidFill>
                  <a:schemeClr val="tx1"/>
                </a:solidFill>
              </a:rPr>
              <a:t>graus de liberdade no denominador, </a:t>
            </a:r>
            <a:r>
              <a:rPr lang="pt-BR" sz="2000" dirty="0">
                <a:solidFill>
                  <a:schemeClr val="tx1"/>
                </a:solidFill>
              </a:rPr>
              <a:t>sugerindo efeito linear de tempo para os </a:t>
            </a:r>
            <a:r>
              <a:rPr lang="pt-BR" sz="2000" dirty="0" smtClean="0">
                <a:solidFill>
                  <a:schemeClr val="tx1"/>
                </a:solidFill>
              </a:rPr>
              <a:t>tratamentos T1 </a:t>
            </a:r>
            <a:r>
              <a:rPr lang="pt-BR" sz="2000" dirty="0">
                <a:solidFill>
                  <a:schemeClr val="tx1"/>
                </a:solidFill>
              </a:rPr>
              <a:t>e </a:t>
            </a:r>
            <a:r>
              <a:rPr lang="pt-BR" sz="2000" dirty="0" smtClean="0">
                <a:solidFill>
                  <a:schemeClr val="tx1"/>
                </a:solidFill>
              </a:rPr>
              <a:t>T2.</a:t>
            </a:r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56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4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6001" y="403461"/>
            <a:ext cx="8520600" cy="572700"/>
          </a:xfrm>
        </p:spPr>
        <p:txBody>
          <a:bodyPr>
            <a:noAutofit/>
          </a:bodyPr>
          <a:lstStyle/>
          <a:p>
            <a:r>
              <a:rPr lang="pt-BR" sz="2500" dirty="0" smtClean="0"/>
              <a:t>Exemplo </a:t>
            </a:r>
            <a:r>
              <a:rPr lang="pt-BR" sz="2500" dirty="0" smtClean="0"/>
              <a:t>1</a:t>
            </a:r>
            <a:endParaRPr lang="pt-BR" sz="250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319646"/>
            <a:ext cx="8520600" cy="3031017"/>
          </a:xfrm>
        </p:spPr>
        <p:txBody>
          <a:bodyPr>
            <a:normAutofit/>
          </a:bodyPr>
          <a:lstStyle/>
          <a:p>
            <a:pPr marL="114300" lvl="0" indent="0" algn="just">
              <a:lnSpc>
                <a:spcPct val="120000"/>
              </a:lnSpc>
              <a:buNone/>
            </a:pPr>
            <a:r>
              <a:rPr lang="pt-BR" sz="2300" dirty="0">
                <a:solidFill>
                  <a:schemeClr val="tx1"/>
                </a:solidFill>
              </a:rPr>
              <a:t>Em relação à hipótese de efeito </a:t>
            </a:r>
            <a:r>
              <a:rPr lang="pt-BR" sz="2300" dirty="0" smtClean="0">
                <a:solidFill>
                  <a:schemeClr val="tx1"/>
                </a:solidFill>
              </a:rPr>
              <a:t>quadrático </a:t>
            </a:r>
            <a:r>
              <a:rPr lang="pt-BR" sz="2300" dirty="0">
                <a:solidFill>
                  <a:schemeClr val="tx1"/>
                </a:solidFill>
              </a:rPr>
              <a:t>para o tratamento </a:t>
            </a:r>
            <a:r>
              <a:rPr lang="pt-BR" sz="2300" dirty="0" smtClean="0">
                <a:solidFill>
                  <a:schemeClr val="tx1"/>
                </a:solidFill>
              </a:rPr>
              <a:t>T3, </a:t>
            </a:r>
            <a:r>
              <a:rPr lang="pt-BR" sz="2300" dirty="0" smtClean="0">
                <a:solidFill>
                  <a:schemeClr val="tx1"/>
                </a:solidFill>
              </a:rPr>
              <a:t>podemos </a:t>
            </a:r>
            <a:r>
              <a:rPr lang="pt-BR" sz="2300" dirty="0">
                <a:solidFill>
                  <a:schemeClr val="tx1"/>
                </a:solidFill>
              </a:rPr>
              <a:t>utilizar </a:t>
            </a:r>
            <a:r>
              <a:rPr lang="pt-BR" sz="2300" b="1" dirty="0" smtClean="0">
                <a:solidFill>
                  <a:schemeClr val="tx1"/>
                </a:solidFill>
              </a:rPr>
              <a:t>C</a:t>
            </a:r>
            <a:r>
              <a:rPr lang="pt-BR" sz="2300" dirty="0" smtClean="0">
                <a:solidFill>
                  <a:schemeClr val="tx1"/>
                </a:solidFill>
              </a:rPr>
              <a:t> </a:t>
            </a:r>
            <a:r>
              <a:rPr lang="pt-BR" sz="2300" dirty="0">
                <a:solidFill>
                  <a:schemeClr val="tx1"/>
                </a:solidFill>
              </a:rPr>
              <a:t>= </a:t>
            </a:r>
            <a:r>
              <a:rPr lang="pt-BR" sz="2300" dirty="0" smtClean="0">
                <a:solidFill>
                  <a:schemeClr val="tx1"/>
                </a:solidFill>
              </a:rPr>
              <a:t>[0 0 1] </a:t>
            </a:r>
            <a:r>
              <a:rPr lang="pt-BR" sz="2300" dirty="0" smtClean="0">
                <a:solidFill>
                  <a:schemeClr val="tx1"/>
                </a:solidFill>
              </a:rPr>
              <a:t>e</a:t>
            </a:r>
            <a:endParaRPr lang="pt-BR" sz="23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57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3703" y="2743200"/>
            <a:ext cx="1533018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424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561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Exemplo </a:t>
            </a:r>
            <a:r>
              <a:rPr lang="pt-BR" dirty="0" smtClean="0"/>
              <a:t>1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797627"/>
            <a:ext cx="8520600" cy="2698510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r>
              <a:rPr lang="pt-BR" sz="2000" dirty="0" smtClean="0">
                <a:solidFill>
                  <a:schemeClr val="tx1"/>
                </a:solidFill>
              </a:rPr>
              <a:t>O </a:t>
            </a:r>
            <a:r>
              <a:rPr lang="pt-BR" sz="2000" dirty="0">
                <a:solidFill>
                  <a:schemeClr val="tx1"/>
                </a:solidFill>
              </a:rPr>
              <a:t>valor observado da estatística F correspondente é </a:t>
            </a:r>
            <a:r>
              <a:rPr lang="pt-BR" sz="2000" dirty="0" smtClean="0">
                <a:solidFill>
                  <a:schemeClr val="tx1"/>
                </a:solidFill>
              </a:rPr>
              <a:t>3,145 </a:t>
            </a:r>
            <a:r>
              <a:rPr lang="pt-BR" sz="2000" dirty="0">
                <a:solidFill>
                  <a:schemeClr val="tx1"/>
                </a:solidFill>
              </a:rPr>
              <a:t>e o p-valor é igual a </a:t>
            </a:r>
            <a:r>
              <a:rPr lang="pt-BR" sz="2000" dirty="0" smtClean="0">
                <a:solidFill>
                  <a:schemeClr val="tx1"/>
                </a:solidFill>
              </a:rPr>
              <a:t>0,110 </a:t>
            </a:r>
            <a:r>
              <a:rPr lang="pt-BR" sz="2000" dirty="0">
                <a:solidFill>
                  <a:schemeClr val="tx1"/>
                </a:solidFill>
              </a:rPr>
              <a:t>obtido da distribuição F com </a:t>
            </a:r>
            <a:r>
              <a:rPr lang="pt-BR" sz="2000" dirty="0">
                <a:solidFill>
                  <a:schemeClr val="tx1"/>
                </a:solidFill>
              </a:rPr>
              <a:t>1</a:t>
            </a:r>
            <a:r>
              <a:rPr lang="pt-BR" sz="2000" dirty="0" smtClean="0">
                <a:solidFill>
                  <a:schemeClr val="tx1"/>
                </a:solidFill>
              </a:rPr>
              <a:t> grau </a:t>
            </a:r>
            <a:r>
              <a:rPr lang="pt-BR" sz="2000" dirty="0">
                <a:solidFill>
                  <a:schemeClr val="tx1"/>
                </a:solidFill>
              </a:rPr>
              <a:t>de liberdade no numerador e </a:t>
            </a:r>
            <a:r>
              <a:rPr lang="pt-BR" sz="2000" dirty="0">
                <a:solidFill>
                  <a:schemeClr val="tx1"/>
                </a:solidFill>
              </a:rPr>
              <a:t>9</a:t>
            </a:r>
            <a:r>
              <a:rPr lang="pt-BR" sz="2000" dirty="0" smtClean="0">
                <a:solidFill>
                  <a:schemeClr val="tx1"/>
                </a:solidFill>
              </a:rPr>
              <a:t> </a:t>
            </a:r>
            <a:r>
              <a:rPr lang="pt-BR" sz="2000" dirty="0">
                <a:solidFill>
                  <a:schemeClr val="tx1"/>
                </a:solidFill>
              </a:rPr>
              <a:t>graus de liberdade no denominador, </a:t>
            </a:r>
            <a:r>
              <a:rPr lang="pt-BR" sz="2000" dirty="0">
                <a:solidFill>
                  <a:schemeClr val="tx1"/>
                </a:solidFill>
              </a:rPr>
              <a:t>sugerindo efeito </a:t>
            </a:r>
            <a:r>
              <a:rPr lang="pt-BR" sz="2000" dirty="0" smtClean="0">
                <a:solidFill>
                  <a:schemeClr val="tx1"/>
                </a:solidFill>
              </a:rPr>
              <a:t>quadrático para o tratamento T3.</a:t>
            </a:r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58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095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6001" y="330724"/>
            <a:ext cx="8520600" cy="572700"/>
          </a:xfrm>
        </p:spPr>
        <p:txBody>
          <a:bodyPr>
            <a:noAutofit/>
          </a:bodyPr>
          <a:lstStyle/>
          <a:p>
            <a:r>
              <a:rPr lang="pt-BR" sz="2600" dirty="0" smtClean="0"/>
              <a:t>Exemplo </a:t>
            </a:r>
            <a:r>
              <a:rPr lang="pt-BR" sz="2600" dirty="0" smtClean="0"/>
              <a:t>1</a:t>
            </a:r>
            <a:endParaRPr lang="pt-BR" sz="260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163782"/>
            <a:ext cx="8520600" cy="3345873"/>
          </a:xfrm>
        </p:spPr>
        <p:txBody>
          <a:bodyPr>
            <a:normAutofit fontScale="85000" lnSpcReduction="10000"/>
          </a:bodyPr>
          <a:lstStyle/>
          <a:p>
            <a:pPr marL="114300" lvl="0" indent="0" algn="just">
              <a:lnSpc>
                <a:spcPct val="120000"/>
              </a:lnSpc>
              <a:buNone/>
            </a:pPr>
            <a:r>
              <a:rPr lang="pt-BR" sz="2400" dirty="0" smtClean="0">
                <a:solidFill>
                  <a:schemeClr val="tx1"/>
                </a:solidFill>
              </a:rPr>
              <a:t>Também podemos </a:t>
            </a:r>
            <a:r>
              <a:rPr lang="pt-BR" sz="2400" dirty="0">
                <a:solidFill>
                  <a:schemeClr val="tx1"/>
                </a:solidFill>
              </a:rPr>
              <a:t>testar a hipótese de que a conversão alimentar esperada no período de 28 dias é igual para os três tratamentos. Com </a:t>
            </a:r>
            <a:r>
              <a:rPr lang="pt-BR" sz="2400" dirty="0" smtClean="0">
                <a:solidFill>
                  <a:schemeClr val="tx1"/>
                </a:solidFill>
              </a:rPr>
              <a:t>essa finalidade</a:t>
            </a:r>
            <a:r>
              <a:rPr lang="pt-BR" sz="2400" dirty="0">
                <a:solidFill>
                  <a:schemeClr val="tx1"/>
                </a:solidFill>
              </a:rPr>
              <a:t>, podemos </a:t>
            </a:r>
            <a:r>
              <a:rPr lang="pt-BR" sz="2400" dirty="0" smtClean="0">
                <a:solidFill>
                  <a:schemeClr val="tx1"/>
                </a:solidFill>
              </a:rPr>
              <a:t>utilizar</a:t>
            </a:r>
          </a:p>
          <a:p>
            <a:pPr marL="114300" lvl="0" indent="0" algn="just">
              <a:lnSpc>
                <a:spcPct val="120000"/>
              </a:lnSpc>
              <a:buNone/>
            </a:pPr>
            <a:endParaRPr lang="pt-BR" sz="2400" dirty="0" smtClean="0">
              <a:solidFill>
                <a:schemeClr val="tx1"/>
              </a:solidFill>
            </a:endParaRPr>
          </a:p>
          <a:p>
            <a:pPr marL="114300" lvl="0" indent="0" algn="just">
              <a:lnSpc>
                <a:spcPct val="120000"/>
              </a:lnSpc>
              <a:buNone/>
            </a:pPr>
            <a:endParaRPr lang="pt-BR" sz="2400" dirty="0">
              <a:solidFill>
                <a:schemeClr val="tx1"/>
              </a:solidFill>
            </a:endParaRPr>
          </a:p>
          <a:p>
            <a:pPr marL="114300" lvl="0" indent="0" algn="just">
              <a:lnSpc>
                <a:spcPct val="120000"/>
              </a:lnSpc>
              <a:buNone/>
            </a:pPr>
            <a:endParaRPr lang="pt-BR" sz="2400" dirty="0">
              <a:solidFill>
                <a:schemeClr val="tx1"/>
              </a:solidFill>
            </a:endParaRPr>
          </a:p>
          <a:p>
            <a:pPr marL="114300" lvl="0" indent="0" algn="just">
              <a:lnSpc>
                <a:spcPct val="120000"/>
              </a:lnSpc>
              <a:buNone/>
            </a:pPr>
            <a:endParaRPr lang="pt-BR" sz="2400" dirty="0" smtClean="0">
              <a:solidFill>
                <a:schemeClr val="tx1"/>
              </a:solidFill>
            </a:endParaRPr>
          </a:p>
          <a:p>
            <a:pPr marL="114300" lvl="0" indent="0" algn="just">
              <a:lnSpc>
                <a:spcPct val="120000"/>
              </a:lnSpc>
              <a:buNone/>
            </a:pPr>
            <a:r>
              <a:rPr lang="pt-BR" sz="2400" dirty="0" smtClean="0">
                <a:solidFill>
                  <a:schemeClr val="tx1"/>
                </a:solidFill>
              </a:rPr>
              <a:t>e </a:t>
            </a:r>
            <a:r>
              <a:rPr lang="pt-BR" sz="2400" b="1" dirty="0">
                <a:solidFill>
                  <a:schemeClr val="tx1"/>
                </a:solidFill>
              </a:rPr>
              <a:t>U</a:t>
            </a:r>
            <a:r>
              <a:rPr lang="pt-BR" sz="2400" dirty="0">
                <a:solidFill>
                  <a:schemeClr val="tx1"/>
                </a:solidFill>
              </a:rPr>
              <a:t> = </a:t>
            </a:r>
            <a:r>
              <a:rPr lang="pt-BR" sz="2400" dirty="0" smtClean="0">
                <a:solidFill>
                  <a:schemeClr val="tx1"/>
                </a:solidFill>
              </a:rPr>
              <a:t>[1/4 </a:t>
            </a:r>
            <a:r>
              <a:rPr lang="pt-BR" sz="2400" dirty="0">
                <a:solidFill>
                  <a:schemeClr val="tx1"/>
                </a:solidFill>
              </a:rPr>
              <a:t>1/4 1/4 </a:t>
            </a:r>
            <a:r>
              <a:rPr lang="pt-BR" sz="2400" dirty="0" smtClean="0">
                <a:solidFill>
                  <a:schemeClr val="tx1"/>
                </a:solidFill>
              </a:rPr>
              <a:t>1/4]</a:t>
            </a:r>
            <a:r>
              <a:rPr lang="pt-BR" sz="2400" baseline="30000" dirty="0" smtClean="0">
                <a:solidFill>
                  <a:schemeClr val="tx1"/>
                </a:solidFill>
              </a:rPr>
              <a:t>T</a:t>
            </a:r>
            <a:r>
              <a:rPr lang="pt-BR" sz="2400" dirty="0" smtClean="0">
                <a:solidFill>
                  <a:schemeClr val="tx1"/>
                </a:solidFill>
              </a:rPr>
              <a:t>.</a:t>
            </a:r>
            <a:endParaRPr lang="pt-BR" sz="2400" dirty="0">
              <a:solidFill>
                <a:schemeClr val="tx1"/>
              </a:solidFill>
            </a:endParaRPr>
          </a:p>
          <a:p>
            <a:pPr lvl="0"/>
            <a:endParaRPr lang="pt-BR" dirty="0"/>
          </a:p>
          <a:p>
            <a:pPr marL="114300" lvl="0" indent="0">
              <a:buNone/>
            </a:pPr>
            <a:r>
              <a:rPr lang="pt-BR" dirty="0"/>
              <a:t>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59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552" y="2499013"/>
            <a:ext cx="2095504" cy="890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4692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561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Exemplo </a:t>
            </a:r>
            <a:r>
              <a:rPr lang="pt-BR" dirty="0" smtClean="0"/>
              <a:t>1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797627"/>
            <a:ext cx="8520600" cy="2698510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r>
              <a:rPr lang="pt-BR" sz="2000" dirty="0" smtClean="0">
                <a:solidFill>
                  <a:schemeClr val="tx1"/>
                </a:solidFill>
              </a:rPr>
              <a:t>O </a:t>
            </a:r>
            <a:r>
              <a:rPr lang="pt-BR" sz="2000" dirty="0">
                <a:solidFill>
                  <a:schemeClr val="tx1"/>
                </a:solidFill>
              </a:rPr>
              <a:t>valor observado da estatística F correspondente é </a:t>
            </a:r>
            <a:r>
              <a:rPr lang="pt-BR" sz="2000" dirty="0" smtClean="0">
                <a:solidFill>
                  <a:schemeClr val="tx1"/>
                </a:solidFill>
              </a:rPr>
              <a:t>3,433 </a:t>
            </a:r>
            <a:r>
              <a:rPr lang="pt-BR" sz="2000" dirty="0">
                <a:solidFill>
                  <a:schemeClr val="tx1"/>
                </a:solidFill>
              </a:rPr>
              <a:t>e o p-valor é igual a </a:t>
            </a:r>
            <a:r>
              <a:rPr lang="pt-BR" sz="2000" dirty="0" smtClean="0">
                <a:solidFill>
                  <a:schemeClr val="tx1"/>
                </a:solidFill>
              </a:rPr>
              <a:t>0,078 </a:t>
            </a:r>
            <a:r>
              <a:rPr lang="pt-BR" sz="2000" dirty="0">
                <a:solidFill>
                  <a:schemeClr val="tx1"/>
                </a:solidFill>
              </a:rPr>
              <a:t>obtido da distribuição F com 2 graus de liberdade no numerador e 9 graus de liberdade no denominador, sugerindo a homogeneidade da conversão </a:t>
            </a:r>
            <a:r>
              <a:rPr lang="pt-BR" sz="2000" dirty="0" smtClean="0">
                <a:solidFill>
                  <a:schemeClr val="tx1"/>
                </a:solidFill>
              </a:rPr>
              <a:t>alimentar </a:t>
            </a:r>
            <a:r>
              <a:rPr lang="pt-BR" sz="2000" dirty="0">
                <a:solidFill>
                  <a:schemeClr val="tx1"/>
                </a:solidFill>
              </a:rPr>
              <a:t>esperada nesse período.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60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445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561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Exemplo </a:t>
            </a:r>
            <a:r>
              <a:rPr lang="pt-BR" dirty="0" smtClean="0"/>
              <a:t>1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797627"/>
            <a:ext cx="8520600" cy="2698510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r>
              <a:rPr lang="pt-BR" sz="2000" dirty="0">
                <a:solidFill>
                  <a:schemeClr val="tx1"/>
                </a:solidFill>
              </a:rPr>
              <a:t>Uma estimativa para essa </a:t>
            </a:r>
            <a:r>
              <a:rPr lang="pt-BR" sz="2000" dirty="0" smtClean="0">
                <a:solidFill>
                  <a:schemeClr val="tx1"/>
                </a:solidFill>
              </a:rPr>
              <a:t>conversão </a:t>
            </a:r>
            <a:r>
              <a:rPr lang="pt-BR" sz="2000" dirty="0">
                <a:solidFill>
                  <a:schemeClr val="tx1"/>
                </a:solidFill>
              </a:rPr>
              <a:t>alimentar </a:t>
            </a:r>
            <a:r>
              <a:rPr lang="pt-BR" sz="2000" dirty="0" smtClean="0">
                <a:solidFill>
                  <a:schemeClr val="tx1"/>
                </a:solidFill>
              </a:rPr>
              <a:t>esperada é 1,718 ração/kg </a:t>
            </a:r>
            <a:r>
              <a:rPr lang="pt-BR" sz="2000" dirty="0">
                <a:solidFill>
                  <a:schemeClr val="tx1"/>
                </a:solidFill>
              </a:rPr>
              <a:t>de peso, com limites inferior e superior para um intervalo </a:t>
            </a:r>
            <a:r>
              <a:rPr lang="pt-BR" sz="2000" dirty="0" smtClean="0">
                <a:solidFill>
                  <a:schemeClr val="tx1"/>
                </a:solidFill>
              </a:rPr>
              <a:t>de confiança </a:t>
            </a:r>
            <a:r>
              <a:rPr lang="pt-BR" sz="2000" dirty="0">
                <a:solidFill>
                  <a:schemeClr val="tx1"/>
                </a:solidFill>
              </a:rPr>
              <a:t>aproximado </a:t>
            </a:r>
            <a:r>
              <a:rPr lang="pt-BR" sz="2000" dirty="0" smtClean="0">
                <a:solidFill>
                  <a:schemeClr val="tx1"/>
                </a:solidFill>
              </a:rPr>
              <a:t>de nível de confiança 95% </a:t>
            </a:r>
            <a:r>
              <a:rPr lang="pt-BR" sz="2000" dirty="0">
                <a:solidFill>
                  <a:schemeClr val="tx1"/>
                </a:solidFill>
              </a:rPr>
              <a:t>iguais a </a:t>
            </a:r>
            <a:r>
              <a:rPr lang="pt-BR" sz="2000" dirty="0" smtClean="0">
                <a:solidFill>
                  <a:schemeClr val="tx1"/>
                </a:solidFill>
              </a:rPr>
              <a:t>1,687 </a:t>
            </a:r>
            <a:r>
              <a:rPr lang="pt-BR" sz="2000" dirty="0">
                <a:solidFill>
                  <a:schemeClr val="tx1"/>
                </a:solidFill>
              </a:rPr>
              <a:t>e </a:t>
            </a:r>
            <a:r>
              <a:rPr lang="pt-BR" sz="2000" dirty="0" smtClean="0">
                <a:solidFill>
                  <a:schemeClr val="tx1"/>
                </a:solidFill>
              </a:rPr>
              <a:t>1,749</a:t>
            </a:r>
            <a:r>
              <a:rPr lang="pt-BR" sz="2000" dirty="0">
                <a:solidFill>
                  <a:schemeClr val="tx1"/>
                </a:solidFill>
              </a:rPr>
              <a:t>, respectivamente.</a:t>
            </a:r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61</a:t>
            </a:fld>
            <a:r>
              <a:rPr lang="pt-BR" dirty="0" smtClean="0"/>
              <a:t> / </a:t>
            </a:r>
            <a:r>
              <a:rPr lang="pt-BR" dirty="0"/>
              <a:t>62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11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900" y="4367050"/>
            <a:ext cx="2285675" cy="65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>
            <a:spLocks noGrp="1"/>
          </p:cNvSpPr>
          <p:nvPr>
            <p:ph type="ctrTitle"/>
          </p:nvPr>
        </p:nvSpPr>
        <p:spPr>
          <a:xfrm>
            <a:off x="1220100" y="592175"/>
            <a:ext cx="6703800" cy="9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/>
              <a:t>Especialização em </a:t>
            </a:r>
            <a:r>
              <a:rPr lang="pt-BR" sz="2600" b="1" i="1"/>
              <a:t>Data Science</a:t>
            </a:r>
            <a:r>
              <a:rPr lang="pt-BR" sz="2600" b="1"/>
              <a:t> </a:t>
            </a:r>
            <a:endParaRPr sz="26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/>
              <a:t>e Estatística Aplicada</a:t>
            </a:r>
            <a:endParaRPr sz="2600" b="1"/>
          </a:p>
        </p:txBody>
      </p:sp>
      <p:sp>
        <p:nvSpPr>
          <p:cNvPr id="131" name="Google Shape;131;p20"/>
          <p:cNvSpPr txBox="1">
            <a:spLocks noGrp="1"/>
          </p:cNvSpPr>
          <p:nvPr>
            <p:ph type="subTitle" idx="1"/>
          </p:nvPr>
        </p:nvSpPr>
        <p:spPr>
          <a:xfrm>
            <a:off x="1461704" y="3019400"/>
            <a:ext cx="5056800" cy="5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 smtClean="0">
                <a:solidFill>
                  <a:schemeClr val="dk1"/>
                </a:solidFill>
              </a:rPr>
              <a:t>Prof. Dr. Márcio </a:t>
            </a:r>
            <a:r>
              <a:rPr lang="pt-BR" sz="1800" b="1" dirty="0" err="1" smtClean="0">
                <a:solidFill>
                  <a:schemeClr val="dk1"/>
                </a:solidFill>
              </a:rPr>
              <a:t>Luis</a:t>
            </a:r>
            <a:r>
              <a:rPr lang="pt-BR" sz="1800" b="1" dirty="0" smtClean="0">
                <a:solidFill>
                  <a:schemeClr val="dk1"/>
                </a:solidFill>
              </a:rPr>
              <a:t> </a:t>
            </a:r>
            <a:r>
              <a:rPr lang="pt-BR" sz="1800" b="1" dirty="0" err="1" smtClean="0">
                <a:solidFill>
                  <a:schemeClr val="dk1"/>
                </a:solidFill>
              </a:rPr>
              <a:t>Lanfredi</a:t>
            </a:r>
            <a:r>
              <a:rPr lang="pt-BR" sz="1800" b="1" dirty="0" smtClean="0">
                <a:solidFill>
                  <a:schemeClr val="dk1"/>
                </a:solidFill>
              </a:rPr>
              <a:t> Viola</a:t>
            </a:r>
            <a:endParaRPr sz="1800" b="1" dirty="0">
              <a:solidFill>
                <a:schemeClr val="dk1"/>
              </a:solidFill>
            </a:endParaRPr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1"/>
          </p:nvPr>
        </p:nvSpPr>
        <p:spPr>
          <a:xfrm>
            <a:off x="1648742" y="3350325"/>
            <a:ext cx="5056800" cy="5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chemeClr val="dk1"/>
                </a:solidFill>
              </a:rPr>
              <a:t>lanfredi@ufscar.br</a:t>
            </a:r>
            <a:endParaRPr sz="1600" b="1" dirty="0">
              <a:solidFill>
                <a:schemeClr val="dk1"/>
              </a:solidFill>
            </a:endParaRPr>
          </a:p>
        </p:txBody>
      </p:sp>
      <p:sp>
        <p:nvSpPr>
          <p:cNvPr id="8" name="Google Shape;57;p13"/>
          <p:cNvSpPr txBox="1">
            <a:spLocks/>
          </p:cNvSpPr>
          <p:nvPr/>
        </p:nvSpPr>
        <p:spPr>
          <a:xfrm>
            <a:off x="565467" y="1687724"/>
            <a:ext cx="67038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200" b="1" smtClean="0"/>
              <a:t>Módulo IV – Análise de Dados Longitudinais</a:t>
            </a:r>
            <a:endParaRPr lang="pt-BR" sz="2200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8951</TotalTime>
  <Words>4325</Words>
  <Application>Microsoft Office PowerPoint</Application>
  <PresentationFormat>Apresentação na tela (16:9)</PresentationFormat>
  <Paragraphs>417</Paragraphs>
  <Slides>62</Slides>
  <Notes>5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2</vt:i4>
      </vt:variant>
      <vt:variant>
        <vt:lpstr>Títulos de slides</vt:lpstr>
      </vt:variant>
      <vt:variant>
        <vt:i4>62</vt:i4>
      </vt:variant>
    </vt:vector>
  </HeadingPairs>
  <TitlesOfParts>
    <vt:vector size="65" baseType="lpstr">
      <vt:lpstr>Simple Light</vt:lpstr>
      <vt:lpstr>Imagem de Bitmap</vt:lpstr>
      <vt:lpstr>Equação</vt:lpstr>
      <vt:lpstr>Especialização em Data Science  e Estatística Aplicada</vt:lpstr>
      <vt:lpstr>Conteúdo Programático</vt:lpstr>
      <vt:lpstr>Conteúdo - Aula 2</vt:lpstr>
      <vt:lpstr>Análise de Perfis</vt:lpstr>
      <vt:lpstr>Observações</vt:lpstr>
      <vt:lpstr>Objetivos</vt:lpstr>
      <vt:lpstr>Objetivos</vt:lpstr>
      <vt:lpstr>Apresentação do PowerPoint</vt:lpstr>
      <vt:lpstr>Observações</vt:lpstr>
      <vt:lpstr>Apresentação do PowerPoint</vt:lpstr>
      <vt:lpstr>Perfil Individual</vt:lpstr>
      <vt:lpstr>Perfis Médios</vt:lpstr>
      <vt:lpstr>Comparação de Dois Tratamentos (Populações)</vt:lpstr>
      <vt:lpstr>Comparação de Dois Tratamentos (Populações)</vt:lpstr>
      <vt:lpstr>Comparação de Dois Tratamentos (Populações)</vt:lpstr>
      <vt:lpstr>Apresentação do PowerPoint</vt:lpstr>
      <vt:lpstr>Comparação de Dois Tratamentos (Populações)</vt:lpstr>
      <vt:lpstr>Comparação de Dois Tratamentos (Populações)</vt:lpstr>
      <vt:lpstr>Comparação de Dois Tratamentos (Populações)</vt:lpstr>
      <vt:lpstr>Comparação de Dois Tratamentos (Populações)</vt:lpstr>
      <vt:lpstr>Apresentação do PowerPoint</vt:lpstr>
      <vt:lpstr>Comparação de Dois Tratamentos (Populações)</vt:lpstr>
      <vt:lpstr>Comparação de Dois Tratamentos (Populações)</vt:lpstr>
      <vt:lpstr>Comparação de Dois Tratamentos (Populações)</vt:lpstr>
      <vt:lpstr>Se os perfis são coincidentes, eles têm o mesmo nível? Ou seja, todas as médias são iguais? O comportamento ao longo do tempo é o mesmo?</vt:lpstr>
      <vt:lpstr>Comparação de Dois Tratamentos (Populações)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Exemplo 1</vt:lpstr>
      <vt:lpstr>Apresentação do PowerPoint</vt:lpstr>
      <vt:lpstr>Apresentação do PowerPoint</vt:lpstr>
      <vt:lpstr>Exemplo 1</vt:lpstr>
      <vt:lpstr>Exemplo 1</vt:lpstr>
      <vt:lpstr>Apresentação do PowerPoint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Especialização em Data Science  e Estatística Aplicada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Especialização em Data Science  e Estatística Aplicada</dc:title>
  <cp:lastModifiedBy>Marcio</cp:lastModifiedBy>
  <cp:revision>52</cp:revision>
  <dcterms:modified xsi:type="dcterms:W3CDTF">2025-07-04T03:56:45Z</dcterms:modified>
</cp:coreProperties>
</file>