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46"/>
  </p:notesMasterIdLst>
  <p:sldIdLst>
    <p:sldId id="256" r:id="rId2"/>
    <p:sldId id="257" r:id="rId3"/>
    <p:sldId id="258" r:id="rId4"/>
    <p:sldId id="264" r:id="rId5"/>
    <p:sldId id="265" r:id="rId6"/>
    <p:sldId id="266" r:id="rId7"/>
    <p:sldId id="267" r:id="rId8"/>
    <p:sldId id="296" r:id="rId9"/>
    <p:sldId id="297" r:id="rId10"/>
    <p:sldId id="268" r:id="rId11"/>
    <p:sldId id="272" r:id="rId12"/>
    <p:sldId id="270" r:id="rId13"/>
    <p:sldId id="260" r:id="rId14"/>
    <p:sldId id="271" r:id="rId15"/>
    <p:sldId id="269" r:id="rId16"/>
    <p:sldId id="274" r:id="rId17"/>
    <p:sldId id="276" r:id="rId18"/>
    <p:sldId id="273" r:id="rId19"/>
    <p:sldId id="277" r:id="rId20"/>
    <p:sldId id="278" r:id="rId21"/>
    <p:sldId id="299" r:id="rId22"/>
    <p:sldId id="279" r:id="rId23"/>
    <p:sldId id="300" r:id="rId24"/>
    <p:sldId id="275" r:id="rId25"/>
    <p:sldId id="280" r:id="rId26"/>
    <p:sldId id="281" r:id="rId27"/>
    <p:sldId id="282" r:id="rId28"/>
    <p:sldId id="283" r:id="rId29"/>
    <p:sldId id="284" r:id="rId30"/>
    <p:sldId id="285" r:id="rId31"/>
    <p:sldId id="287" r:id="rId32"/>
    <p:sldId id="286" r:id="rId33"/>
    <p:sldId id="288" r:id="rId34"/>
    <p:sldId id="289" r:id="rId35"/>
    <p:sldId id="261" r:id="rId36"/>
    <p:sldId id="290" r:id="rId37"/>
    <p:sldId id="291" r:id="rId38"/>
    <p:sldId id="301" r:id="rId39"/>
    <p:sldId id="292" r:id="rId40"/>
    <p:sldId id="302" r:id="rId41"/>
    <p:sldId id="298" r:id="rId42"/>
    <p:sldId id="293" r:id="rId43"/>
    <p:sldId id="295" r:id="rId44"/>
    <p:sldId id="263" r:id="rId4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CD6A3925-B870-4191-B4AC-924E0040884F}">
  <a:tblStyle styleId="{CD6A3925-B870-4191-B4AC-924E0040884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-450" y="-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6856649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f5727a91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f5727a913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f5727a913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f5727a913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f5727a913f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f5727a913f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f58df2205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f58df2205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f58df2205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f58df2205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f5727a913f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f5727a913f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14775" y="4703625"/>
            <a:ext cx="7293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b="1">
                <a:solidFill>
                  <a:schemeClr val="dk2"/>
                </a:solidFill>
              </a:defRPr>
            </a:lvl1pPr>
            <a:lvl2pPr lvl="1" algn="r" rtl="0">
              <a:buNone/>
              <a:defRPr b="1">
                <a:solidFill>
                  <a:schemeClr val="dk2"/>
                </a:solidFill>
              </a:defRPr>
            </a:lvl2pPr>
            <a:lvl3pPr lvl="2" algn="r" rtl="0">
              <a:buNone/>
              <a:defRPr b="1">
                <a:solidFill>
                  <a:schemeClr val="dk2"/>
                </a:solidFill>
              </a:defRPr>
            </a:lvl3pPr>
            <a:lvl4pPr lvl="3" algn="r" rtl="0">
              <a:buNone/>
              <a:defRPr b="1">
                <a:solidFill>
                  <a:schemeClr val="dk2"/>
                </a:solidFill>
              </a:defRPr>
            </a:lvl4pPr>
            <a:lvl5pPr lvl="4" algn="r" rtl="0">
              <a:buNone/>
              <a:defRPr b="1">
                <a:solidFill>
                  <a:schemeClr val="dk2"/>
                </a:solidFill>
              </a:defRPr>
            </a:lvl5pPr>
            <a:lvl6pPr lvl="5" algn="r" rtl="0">
              <a:buNone/>
              <a:defRPr b="1">
                <a:solidFill>
                  <a:schemeClr val="dk2"/>
                </a:solidFill>
              </a:defRPr>
            </a:lvl6pPr>
            <a:lvl7pPr lvl="6" algn="r" rtl="0">
              <a:buNone/>
              <a:defRPr b="1">
                <a:solidFill>
                  <a:schemeClr val="dk2"/>
                </a:solidFill>
              </a:defRPr>
            </a:lvl7pPr>
            <a:lvl8pPr lvl="7" algn="r" rtl="0">
              <a:buNone/>
              <a:defRPr b="1">
                <a:solidFill>
                  <a:schemeClr val="dk2"/>
                </a:solidFill>
              </a:defRPr>
            </a:lvl8pPr>
            <a:lvl9pPr lvl="8" algn="r" rtl="0">
              <a:buNone/>
              <a:defRPr b="1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r>
              <a:rPr lang="pt-BR"/>
              <a:t> / #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ldNum" idx="12"/>
          </p:nvPr>
        </p:nvSpPr>
        <p:spPr>
          <a:xfrm>
            <a:off x="8414775" y="4703625"/>
            <a:ext cx="7293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b="1">
                <a:solidFill>
                  <a:schemeClr val="dk2"/>
                </a:solidFill>
              </a:defRPr>
            </a:lvl1pPr>
            <a:lvl2pPr lvl="1" algn="r" rtl="0">
              <a:buNone/>
              <a:defRPr b="1">
                <a:solidFill>
                  <a:schemeClr val="dk2"/>
                </a:solidFill>
              </a:defRPr>
            </a:lvl2pPr>
            <a:lvl3pPr lvl="2" algn="r" rtl="0">
              <a:buNone/>
              <a:defRPr b="1">
                <a:solidFill>
                  <a:schemeClr val="dk2"/>
                </a:solidFill>
              </a:defRPr>
            </a:lvl3pPr>
            <a:lvl4pPr lvl="3" algn="r" rtl="0">
              <a:buNone/>
              <a:defRPr b="1">
                <a:solidFill>
                  <a:schemeClr val="dk2"/>
                </a:solidFill>
              </a:defRPr>
            </a:lvl4pPr>
            <a:lvl5pPr lvl="4" algn="r" rtl="0">
              <a:buNone/>
              <a:defRPr b="1">
                <a:solidFill>
                  <a:schemeClr val="dk2"/>
                </a:solidFill>
              </a:defRPr>
            </a:lvl5pPr>
            <a:lvl6pPr lvl="5" algn="r" rtl="0">
              <a:buNone/>
              <a:defRPr b="1">
                <a:solidFill>
                  <a:schemeClr val="dk2"/>
                </a:solidFill>
              </a:defRPr>
            </a:lvl6pPr>
            <a:lvl7pPr lvl="6" algn="r" rtl="0">
              <a:buNone/>
              <a:defRPr b="1">
                <a:solidFill>
                  <a:schemeClr val="dk2"/>
                </a:solidFill>
              </a:defRPr>
            </a:lvl7pPr>
            <a:lvl8pPr lvl="7" algn="r" rtl="0">
              <a:buNone/>
              <a:defRPr b="1">
                <a:solidFill>
                  <a:schemeClr val="dk2"/>
                </a:solidFill>
              </a:defRPr>
            </a:lvl8pPr>
            <a:lvl9pPr lvl="8" algn="r" rtl="0">
              <a:buNone/>
              <a:defRPr b="1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r>
              <a:rPr lang="pt-BR"/>
              <a:t> / #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8414775" y="4703625"/>
            <a:ext cx="7293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b="1">
                <a:solidFill>
                  <a:schemeClr val="dk2"/>
                </a:solidFill>
              </a:defRPr>
            </a:lvl1pPr>
            <a:lvl2pPr lvl="1" algn="r" rtl="0">
              <a:buNone/>
              <a:defRPr b="1">
                <a:solidFill>
                  <a:schemeClr val="dk2"/>
                </a:solidFill>
              </a:defRPr>
            </a:lvl2pPr>
            <a:lvl3pPr lvl="2" algn="r" rtl="0">
              <a:buNone/>
              <a:defRPr b="1">
                <a:solidFill>
                  <a:schemeClr val="dk2"/>
                </a:solidFill>
              </a:defRPr>
            </a:lvl3pPr>
            <a:lvl4pPr lvl="3" algn="r" rtl="0">
              <a:buNone/>
              <a:defRPr b="1">
                <a:solidFill>
                  <a:schemeClr val="dk2"/>
                </a:solidFill>
              </a:defRPr>
            </a:lvl4pPr>
            <a:lvl5pPr lvl="4" algn="r" rtl="0">
              <a:buNone/>
              <a:defRPr b="1">
                <a:solidFill>
                  <a:schemeClr val="dk2"/>
                </a:solidFill>
              </a:defRPr>
            </a:lvl5pPr>
            <a:lvl6pPr lvl="5" algn="r" rtl="0">
              <a:buNone/>
              <a:defRPr b="1">
                <a:solidFill>
                  <a:schemeClr val="dk2"/>
                </a:solidFill>
              </a:defRPr>
            </a:lvl6pPr>
            <a:lvl7pPr lvl="6" algn="r" rtl="0">
              <a:buNone/>
              <a:defRPr b="1">
                <a:solidFill>
                  <a:schemeClr val="dk2"/>
                </a:solidFill>
              </a:defRPr>
            </a:lvl7pPr>
            <a:lvl8pPr lvl="7" algn="r" rtl="0">
              <a:buNone/>
              <a:defRPr b="1">
                <a:solidFill>
                  <a:schemeClr val="dk2"/>
                </a:solidFill>
              </a:defRPr>
            </a:lvl8pPr>
            <a:lvl9pPr lvl="8" algn="r" rtl="0">
              <a:buNone/>
              <a:defRPr b="1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r>
              <a:rPr lang="pt-BR"/>
              <a:t> / #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14775" y="4703625"/>
            <a:ext cx="7293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b="1">
                <a:solidFill>
                  <a:schemeClr val="dk2"/>
                </a:solidFill>
              </a:defRPr>
            </a:lvl1pPr>
            <a:lvl2pPr lvl="1" algn="r" rtl="0">
              <a:buNone/>
              <a:defRPr b="1">
                <a:solidFill>
                  <a:schemeClr val="dk2"/>
                </a:solidFill>
              </a:defRPr>
            </a:lvl2pPr>
            <a:lvl3pPr lvl="2" algn="r" rtl="0">
              <a:buNone/>
              <a:defRPr b="1">
                <a:solidFill>
                  <a:schemeClr val="dk2"/>
                </a:solidFill>
              </a:defRPr>
            </a:lvl3pPr>
            <a:lvl4pPr lvl="3" algn="r" rtl="0">
              <a:buNone/>
              <a:defRPr b="1">
                <a:solidFill>
                  <a:schemeClr val="dk2"/>
                </a:solidFill>
              </a:defRPr>
            </a:lvl4pPr>
            <a:lvl5pPr lvl="4" algn="r" rtl="0">
              <a:buNone/>
              <a:defRPr b="1">
                <a:solidFill>
                  <a:schemeClr val="dk2"/>
                </a:solidFill>
              </a:defRPr>
            </a:lvl5pPr>
            <a:lvl6pPr lvl="5" algn="r" rtl="0">
              <a:buNone/>
              <a:defRPr b="1">
                <a:solidFill>
                  <a:schemeClr val="dk2"/>
                </a:solidFill>
              </a:defRPr>
            </a:lvl6pPr>
            <a:lvl7pPr lvl="6" algn="r" rtl="0">
              <a:buNone/>
              <a:defRPr b="1">
                <a:solidFill>
                  <a:schemeClr val="dk2"/>
                </a:solidFill>
              </a:defRPr>
            </a:lvl7pPr>
            <a:lvl8pPr lvl="7" algn="r" rtl="0">
              <a:buNone/>
              <a:defRPr b="1">
                <a:solidFill>
                  <a:schemeClr val="dk2"/>
                </a:solidFill>
              </a:defRPr>
            </a:lvl8pPr>
            <a:lvl9pPr lvl="8" algn="r" rtl="0">
              <a:buNone/>
              <a:defRPr b="1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r>
              <a:rPr lang="pt-BR"/>
              <a:t> / #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14775" y="4703625"/>
            <a:ext cx="7293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b="1">
                <a:solidFill>
                  <a:schemeClr val="dk2"/>
                </a:solidFill>
              </a:defRPr>
            </a:lvl1pPr>
            <a:lvl2pPr lvl="1" algn="r" rtl="0">
              <a:buNone/>
              <a:defRPr b="1">
                <a:solidFill>
                  <a:schemeClr val="dk2"/>
                </a:solidFill>
              </a:defRPr>
            </a:lvl2pPr>
            <a:lvl3pPr lvl="2" algn="r" rtl="0">
              <a:buNone/>
              <a:defRPr b="1">
                <a:solidFill>
                  <a:schemeClr val="dk2"/>
                </a:solidFill>
              </a:defRPr>
            </a:lvl3pPr>
            <a:lvl4pPr lvl="3" algn="r" rtl="0">
              <a:buNone/>
              <a:defRPr b="1">
                <a:solidFill>
                  <a:schemeClr val="dk2"/>
                </a:solidFill>
              </a:defRPr>
            </a:lvl4pPr>
            <a:lvl5pPr lvl="4" algn="r" rtl="0">
              <a:buNone/>
              <a:defRPr b="1">
                <a:solidFill>
                  <a:schemeClr val="dk2"/>
                </a:solidFill>
              </a:defRPr>
            </a:lvl5pPr>
            <a:lvl6pPr lvl="5" algn="r" rtl="0">
              <a:buNone/>
              <a:defRPr b="1">
                <a:solidFill>
                  <a:schemeClr val="dk2"/>
                </a:solidFill>
              </a:defRPr>
            </a:lvl6pPr>
            <a:lvl7pPr lvl="6" algn="r" rtl="0">
              <a:buNone/>
              <a:defRPr b="1">
                <a:solidFill>
                  <a:schemeClr val="dk2"/>
                </a:solidFill>
              </a:defRPr>
            </a:lvl7pPr>
            <a:lvl8pPr lvl="7" algn="r" rtl="0">
              <a:buNone/>
              <a:defRPr b="1">
                <a:solidFill>
                  <a:schemeClr val="dk2"/>
                </a:solidFill>
              </a:defRPr>
            </a:lvl8pPr>
            <a:lvl9pPr lvl="8" algn="r" rtl="0">
              <a:buNone/>
              <a:defRPr b="1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r>
              <a:rPr lang="pt-BR"/>
              <a:t> / #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14775" y="4703625"/>
            <a:ext cx="7293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8414775" y="4703625"/>
            <a:ext cx="7293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14775" y="4703625"/>
            <a:ext cx="7293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sldNum" idx="12"/>
          </p:nvPr>
        </p:nvSpPr>
        <p:spPr>
          <a:xfrm>
            <a:off x="8414775" y="4703625"/>
            <a:ext cx="7293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4775" y="4703625"/>
            <a:ext cx="729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 b="1">
                <a:solidFill>
                  <a:schemeClr val="dk2"/>
                </a:solidFill>
              </a:defRPr>
            </a:lvl1pPr>
            <a:lvl2pPr lvl="1" algn="ctr">
              <a:buNone/>
              <a:defRPr b="1">
                <a:solidFill>
                  <a:schemeClr val="dk2"/>
                </a:solidFill>
              </a:defRPr>
            </a:lvl2pPr>
            <a:lvl3pPr lvl="2" algn="ctr">
              <a:buNone/>
              <a:defRPr b="1">
                <a:solidFill>
                  <a:schemeClr val="dk2"/>
                </a:solidFill>
              </a:defRPr>
            </a:lvl3pPr>
            <a:lvl4pPr lvl="3" algn="ctr">
              <a:buNone/>
              <a:defRPr b="1">
                <a:solidFill>
                  <a:schemeClr val="dk2"/>
                </a:solidFill>
              </a:defRPr>
            </a:lvl4pPr>
            <a:lvl5pPr lvl="4" algn="ctr">
              <a:buNone/>
              <a:defRPr b="1">
                <a:solidFill>
                  <a:schemeClr val="dk2"/>
                </a:solidFill>
              </a:defRPr>
            </a:lvl5pPr>
            <a:lvl6pPr lvl="5" algn="ctr">
              <a:buNone/>
              <a:defRPr b="1">
                <a:solidFill>
                  <a:schemeClr val="dk2"/>
                </a:solidFill>
              </a:defRPr>
            </a:lvl6pPr>
            <a:lvl7pPr lvl="6" algn="ctr">
              <a:buNone/>
              <a:defRPr b="1">
                <a:solidFill>
                  <a:schemeClr val="dk2"/>
                </a:solidFill>
              </a:defRPr>
            </a:lvl7pPr>
            <a:lvl8pPr lvl="7" algn="ctr">
              <a:buNone/>
              <a:defRPr b="1">
                <a:solidFill>
                  <a:schemeClr val="dk2"/>
                </a:solidFill>
              </a:defRPr>
            </a:lvl8pPr>
            <a:lvl9pPr lvl="8" algn="ctr">
              <a:buNone/>
              <a:defRPr b="1"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r>
              <a:rPr lang="pt-BR"/>
              <a:t> </a:t>
            </a:r>
            <a:r>
              <a:rPr lang="pt-BR" sz="1600"/>
              <a:t>/</a:t>
            </a:r>
            <a:r>
              <a:rPr lang="pt-BR"/>
              <a:t> #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900" y="4367050"/>
            <a:ext cx="2285675" cy="6559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1220100" y="592175"/>
            <a:ext cx="6703800" cy="9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1"/>
              <a:t>Especialização em </a:t>
            </a:r>
            <a:r>
              <a:rPr lang="pt-BR" sz="2600" b="1" i="1"/>
              <a:t>Data Science</a:t>
            </a:r>
            <a:r>
              <a:rPr lang="pt-BR" sz="2600" b="1"/>
              <a:t> </a:t>
            </a:r>
            <a:endParaRPr sz="26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1"/>
              <a:t>e Estatística Aplicada</a:t>
            </a:r>
            <a:endParaRPr sz="2600" b="1"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1783825" y="3019400"/>
            <a:ext cx="5056800" cy="5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 smtClean="0">
                <a:solidFill>
                  <a:schemeClr val="dk1"/>
                </a:solidFill>
              </a:rPr>
              <a:t>Prof. Dr. Márcio </a:t>
            </a:r>
            <a:r>
              <a:rPr lang="pt-BR" sz="1800" b="1" dirty="0" err="1" smtClean="0">
                <a:solidFill>
                  <a:schemeClr val="dk1"/>
                </a:solidFill>
              </a:rPr>
              <a:t>Luis</a:t>
            </a:r>
            <a:r>
              <a:rPr lang="pt-BR" sz="1800" b="1" dirty="0" smtClean="0">
                <a:solidFill>
                  <a:schemeClr val="dk1"/>
                </a:solidFill>
              </a:rPr>
              <a:t> </a:t>
            </a:r>
            <a:r>
              <a:rPr lang="pt-BR" sz="1800" b="1" dirty="0" err="1" smtClean="0">
                <a:solidFill>
                  <a:schemeClr val="dk1"/>
                </a:solidFill>
              </a:rPr>
              <a:t>Lanfredi</a:t>
            </a:r>
            <a:r>
              <a:rPr lang="pt-BR" sz="1800" b="1" dirty="0" smtClean="0">
                <a:solidFill>
                  <a:schemeClr val="dk1"/>
                </a:solidFill>
              </a:rPr>
              <a:t> Viola</a:t>
            </a:r>
            <a:endParaRPr sz="1800" b="1" dirty="0">
              <a:solidFill>
                <a:schemeClr val="dk1"/>
              </a:solidFill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814851" y="1802025"/>
            <a:ext cx="6703800" cy="89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dirty="0"/>
              <a:t>Módulo </a:t>
            </a:r>
            <a:r>
              <a:rPr lang="pt-BR" sz="2200" b="1" dirty="0" smtClean="0"/>
              <a:t>IV – Análise de Dados Longitudinais</a:t>
            </a:r>
            <a:endParaRPr sz="2200" b="1" i="1" dirty="0"/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1"/>
          </p:nvPr>
        </p:nvSpPr>
        <p:spPr>
          <a:xfrm>
            <a:off x="2043600" y="3655125"/>
            <a:ext cx="5056800" cy="5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chemeClr val="dk1"/>
                </a:solidFill>
              </a:rPr>
              <a:t>Goiânia, </a:t>
            </a:r>
            <a:r>
              <a:rPr lang="pt-BR" sz="1800" b="1" dirty="0" smtClean="0">
                <a:solidFill>
                  <a:schemeClr val="dk1"/>
                </a:solidFill>
              </a:rPr>
              <a:t>2025</a:t>
            </a:r>
            <a:endParaRPr sz="18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311700" y="184975"/>
            <a:ext cx="652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/>
              <a:t>Conteúdo Programático</a:t>
            </a:r>
            <a:endParaRPr b="1" dirty="0"/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6526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pt-BR" dirty="0" smtClean="0">
                <a:solidFill>
                  <a:schemeClr val="dk1"/>
                </a:solidFill>
              </a:rPr>
              <a:t>Conceitos Básicos.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pt-BR" dirty="0" smtClean="0">
                <a:solidFill>
                  <a:schemeClr val="dk1"/>
                </a:solidFill>
              </a:rPr>
              <a:t>Principais delineamentos para dados longitudinais.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pt-BR" dirty="0" smtClean="0">
                <a:solidFill>
                  <a:schemeClr val="dk1"/>
                </a:solidFill>
              </a:rPr>
              <a:t>Modelos lineares gerais para dados longitudinais.</a:t>
            </a:r>
            <a:endParaRPr dirty="0">
              <a:solidFill>
                <a:schemeClr val="dk1"/>
              </a:solidFill>
            </a:endParaRPr>
          </a:p>
          <a:p>
            <a:pPr lvl="0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</a:pPr>
            <a:r>
              <a:rPr lang="pt-BR" dirty="0">
                <a:solidFill>
                  <a:schemeClr val="dk1"/>
                </a:solidFill>
              </a:rPr>
              <a:t>Modelos lineares </a:t>
            </a:r>
            <a:r>
              <a:rPr lang="pt-BR" dirty="0" smtClean="0">
                <a:solidFill>
                  <a:schemeClr val="dk1"/>
                </a:solidFill>
              </a:rPr>
              <a:t>generalizados </a:t>
            </a:r>
            <a:r>
              <a:rPr lang="pt-BR" dirty="0">
                <a:solidFill>
                  <a:schemeClr val="dk1"/>
                </a:solidFill>
              </a:rPr>
              <a:t>para dados longitudinais</a:t>
            </a:r>
            <a:r>
              <a:rPr lang="pt-BR" dirty="0" smtClean="0">
                <a:solidFill>
                  <a:schemeClr val="dk1"/>
                </a:solidFill>
              </a:rPr>
              <a:t>.</a:t>
            </a:r>
          </a:p>
          <a:p>
            <a:pPr lvl="0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</a:pPr>
            <a:r>
              <a:rPr lang="pt-BR" dirty="0">
                <a:solidFill>
                  <a:schemeClr val="dk1"/>
                </a:solidFill>
              </a:rPr>
              <a:t>Modelos </a:t>
            </a:r>
            <a:r>
              <a:rPr lang="pt-BR" dirty="0" smtClean="0">
                <a:solidFill>
                  <a:schemeClr val="dk1"/>
                </a:solidFill>
              </a:rPr>
              <a:t>com efeitos aleatórios.</a:t>
            </a:r>
          </a:p>
          <a:p>
            <a:pPr lvl="0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</a:pPr>
            <a:r>
              <a:rPr lang="pt-BR" dirty="0" smtClean="0">
                <a:solidFill>
                  <a:schemeClr val="dk1"/>
                </a:solidFill>
              </a:rPr>
              <a:t>Aplicações.</a:t>
            </a:r>
          </a:p>
        </p:txBody>
      </p:sp>
      <p:sp>
        <p:nvSpPr>
          <p:cNvPr id="65" name="Google Shape;65;p14"/>
          <p:cNvSpPr txBox="1">
            <a:spLocks noGrp="1"/>
          </p:cNvSpPr>
          <p:nvPr>
            <p:ph type="sldNum" idx="12"/>
          </p:nvPr>
        </p:nvSpPr>
        <p:spPr>
          <a:xfrm>
            <a:off x="8414775" y="4703625"/>
            <a:ext cx="7293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</a:t>
            </a:fld>
            <a:r>
              <a:rPr lang="pt-BR" dirty="0"/>
              <a:t> </a:t>
            </a:r>
            <a:r>
              <a:rPr lang="pt-BR" dirty="0" smtClean="0"/>
              <a:t>/ 44</a:t>
            </a:r>
            <a:endParaRPr dirty="0"/>
          </a:p>
        </p:txBody>
      </p:sp>
      <p:sp>
        <p:nvSpPr>
          <p:cNvPr id="66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/>
              <a:t>Conteúdo - Aula 1</a:t>
            </a:r>
            <a:endParaRPr b="1"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311700" y="1256385"/>
            <a:ext cx="8520600" cy="30246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just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</a:pPr>
            <a:r>
              <a:rPr lang="pt-BR" dirty="0">
                <a:solidFill>
                  <a:schemeClr val="tx1"/>
                </a:solidFill>
              </a:rPr>
              <a:t>Conceitos Básicos</a:t>
            </a:r>
            <a:r>
              <a:rPr lang="pt-BR" dirty="0" smtClean="0">
                <a:solidFill>
                  <a:schemeClr val="tx1"/>
                </a:solidFill>
              </a:rPr>
              <a:t>.</a:t>
            </a:r>
          </a:p>
          <a:p>
            <a:pPr lvl="0" algn="just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</a:pPr>
            <a:r>
              <a:rPr lang="pt-BR" dirty="0" smtClean="0">
                <a:solidFill>
                  <a:schemeClr val="tx1"/>
                </a:solidFill>
              </a:rPr>
              <a:t>Delineamentos </a:t>
            </a:r>
            <a:r>
              <a:rPr lang="pt-BR" dirty="0">
                <a:solidFill>
                  <a:schemeClr val="tx1"/>
                </a:solidFill>
              </a:rPr>
              <a:t>para dados </a:t>
            </a:r>
            <a:r>
              <a:rPr lang="pt-BR" dirty="0" smtClean="0">
                <a:solidFill>
                  <a:schemeClr val="tx1"/>
                </a:solidFill>
              </a:rPr>
              <a:t>longitudinais.</a:t>
            </a:r>
          </a:p>
          <a:p>
            <a:pPr lvl="0" algn="just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</a:pPr>
            <a:r>
              <a:rPr lang="pt-BR" dirty="0">
                <a:solidFill>
                  <a:schemeClr val="tx1"/>
                </a:solidFill>
              </a:rPr>
              <a:t>Análise descritiva e medidas </a:t>
            </a:r>
            <a:r>
              <a:rPr lang="pt-BR" dirty="0" smtClean="0">
                <a:solidFill>
                  <a:schemeClr val="tx1"/>
                </a:solidFill>
              </a:rPr>
              <a:t>resumo.</a:t>
            </a:r>
          </a:p>
          <a:p>
            <a:pPr lvl="0" algn="just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</a:pPr>
            <a:r>
              <a:rPr lang="pt-BR" dirty="0" smtClean="0">
                <a:solidFill>
                  <a:schemeClr val="tx1"/>
                </a:solidFill>
              </a:rPr>
              <a:t>Exemplos.</a:t>
            </a:r>
          </a:p>
          <a:p>
            <a:pPr marL="0" lvl="0" indent="0" algn="l" rtl="0">
              <a:spcBef>
                <a:spcPts val="10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8414775" y="4703625"/>
            <a:ext cx="7293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</a:t>
            </a:fld>
            <a:r>
              <a:rPr lang="pt-BR" dirty="0"/>
              <a:t> / </a:t>
            </a:r>
            <a:r>
              <a:rPr lang="pt-BR" dirty="0" smtClean="0"/>
              <a:t>44</a:t>
            </a:r>
            <a:endParaRPr dirty="0"/>
          </a:p>
        </p:txBody>
      </p:sp>
      <p:sp>
        <p:nvSpPr>
          <p:cNvPr id="7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Objetivo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4</a:t>
            </a:fld>
            <a:r>
              <a:rPr lang="pt-BR" dirty="0" smtClean="0"/>
              <a:t> / </a:t>
            </a:r>
            <a:r>
              <a:rPr lang="pt-BR" dirty="0" smtClean="0"/>
              <a:t>44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grpSp>
        <p:nvGrpSpPr>
          <p:cNvPr id="12" name="Google Shape;116;p19"/>
          <p:cNvGrpSpPr/>
          <p:nvPr/>
        </p:nvGrpSpPr>
        <p:grpSpPr>
          <a:xfrm>
            <a:off x="302538" y="1931338"/>
            <a:ext cx="8538900" cy="852515"/>
            <a:chOff x="293075" y="1719211"/>
            <a:chExt cx="8538900" cy="1238400"/>
          </a:xfrm>
        </p:grpSpPr>
        <p:sp>
          <p:nvSpPr>
            <p:cNvPr id="13" name="Google Shape;117;p19"/>
            <p:cNvSpPr/>
            <p:nvPr/>
          </p:nvSpPr>
          <p:spPr>
            <a:xfrm>
              <a:off x="293075" y="1719211"/>
              <a:ext cx="101100" cy="12384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18;p19"/>
            <p:cNvSpPr/>
            <p:nvPr/>
          </p:nvSpPr>
          <p:spPr>
            <a:xfrm flipH="1">
              <a:off x="394175" y="1719661"/>
              <a:ext cx="8437800" cy="1237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114300" lvl="0" indent="0" algn="just">
                <a:buNone/>
              </a:pPr>
              <a:r>
                <a:rPr lang="pt-BR" sz="1800" dirty="0"/>
                <a:t>Interesse em modelar o comportamento de uma ou mais variáveis respostas medidas nas unidades de uma ou mais populações ao longo de alguma dimensão ordenada, por exemplo, o tempo.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8149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Observação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870364"/>
            <a:ext cx="8520600" cy="2698510"/>
          </a:xfrm>
        </p:spPr>
        <p:txBody>
          <a:bodyPr/>
          <a:lstStyle/>
          <a:p>
            <a:pPr marL="0" lvl="0" indent="0" algn="just">
              <a:buNone/>
            </a:pPr>
            <a:r>
              <a:rPr lang="pt-BR" dirty="0">
                <a:solidFill>
                  <a:schemeClr val="tx1"/>
                </a:solidFill>
              </a:rPr>
              <a:t>Embora o caso geral possa envolver várias variáveis respostas, </a:t>
            </a:r>
            <a:r>
              <a:rPr lang="pt-BR" dirty="0" smtClean="0">
                <a:solidFill>
                  <a:schemeClr val="tx1"/>
                </a:solidFill>
              </a:rPr>
              <a:t>abordamos </a:t>
            </a:r>
            <a:r>
              <a:rPr lang="pt-BR" dirty="0">
                <a:solidFill>
                  <a:schemeClr val="tx1"/>
                </a:solidFill>
              </a:rPr>
              <a:t>o caso </a:t>
            </a:r>
            <a:r>
              <a:rPr lang="pt-BR" dirty="0" err="1">
                <a:solidFill>
                  <a:schemeClr val="tx1"/>
                </a:solidFill>
              </a:rPr>
              <a:t>univariado</a:t>
            </a:r>
            <a:r>
              <a:rPr lang="pt-BR" dirty="0">
                <a:solidFill>
                  <a:schemeClr val="tx1"/>
                </a:solidFill>
              </a:rPr>
              <a:t>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5</a:t>
            </a:fld>
            <a:r>
              <a:rPr lang="pt-BR" dirty="0" smtClean="0"/>
              <a:t> / </a:t>
            </a:r>
            <a:r>
              <a:rPr lang="pt-BR" dirty="0" smtClean="0"/>
              <a:t>44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0134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987129"/>
            <a:ext cx="8520600" cy="2698510"/>
          </a:xfrm>
        </p:spPr>
        <p:txBody>
          <a:bodyPr/>
          <a:lstStyle/>
          <a:p>
            <a:pPr marL="114300" lvl="0" indent="0" algn="just">
              <a:buNone/>
            </a:pPr>
            <a:r>
              <a:rPr lang="pt-BR" sz="2400" b="1" dirty="0" smtClean="0">
                <a:solidFill>
                  <a:schemeClr val="tx1"/>
                </a:solidFill>
              </a:rPr>
              <a:t>Problema:</a:t>
            </a:r>
            <a:r>
              <a:rPr lang="pt-BR" dirty="0" smtClean="0">
                <a:solidFill>
                  <a:schemeClr val="tx1"/>
                </a:solidFill>
              </a:rPr>
              <a:t> </a:t>
            </a:r>
            <a:r>
              <a:rPr lang="pt-BR" sz="2400" dirty="0" smtClean="0">
                <a:solidFill>
                  <a:schemeClr val="tx1"/>
                </a:solidFill>
              </a:rPr>
              <a:t>Deseja-se </a:t>
            </a:r>
            <a:r>
              <a:rPr lang="pt-BR" sz="2400" dirty="0">
                <a:solidFill>
                  <a:schemeClr val="tx1"/>
                </a:solidFill>
              </a:rPr>
              <a:t>estudar variações na pressão sanguínea de </a:t>
            </a:r>
            <a:r>
              <a:rPr lang="pt-BR" sz="2400" dirty="0" smtClean="0">
                <a:solidFill>
                  <a:schemeClr val="tx1"/>
                </a:solidFill>
              </a:rPr>
              <a:t>indivíduos normais ou hipertensos.</a:t>
            </a:r>
            <a:endParaRPr lang="pt-BR" sz="2400" dirty="0" smtClean="0">
              <a:solidFill>
                <a:schemeClr val="tx1"/>
              </a:solidFill>
            </a:endParaRPr>
          </a:p>
          <a:p>
            <a:pPr marL="114300" lvl="0" indent="0" algn="just"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6</a:t>
            </a:fld>
            <a:r>
              <a:rPr lang="pt-BR" dirty="0" smtClean="0"/>
              <a:t> / </a:t>
            </a:r>
            <a:r>
              <a:rPr lang="pt-BR" dirty="0" smtClean="0"/>
              <a:t>44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grpSp>
        <p:nvGrpSpPr>
          <p:cNvPr id="7" name="Google Shape;116;p19"/>
          <p:cNvGrpSpPr/>
          <p:nvPr/>
        </p:nvGrpSpPr>
        <p:grpSpPr>
          <a:xfrm>
            <a:off x="2660071" y="2565189"/>
            <a:ext cx="4000500" cy="852515"/>
            <a:chOff x="293075" y="1719211"/>
            <a:chExt cx="8538900" cy="1238400"/>
          </a:xfrm>
        </p:grpSpPr>
        <p:sp>
          <p:nvSpPr>
            <p:cNvPr id="8" name="Google Shape;117;p19"/>
            <p:cNvSpPr/>
            <p:nvPr/>
          </p:nvSpPr>
          <p:spPr>
            <a:xfrm>
              <a:off x="293075" y="1719211"/>
              <a:ext cx="101100" cy="12384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18;p19"/>
            <p:cNvSpPr/>
            <p:nvPr/>
          </p:nvSpPr>
          <p:spPr>
            <a:xfrm flipH="1">
              <a:off x="394175" y="1719661"/>
              <a:ext cx="8437800" cy="1237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114300" lvl="0" indent="0" algn="ctr">
                <a:buNone/>
              </a:pPr>
              <a:r>
                <a:rPr lang="pt-BR" sz="2800" dirty="0"/>
                <a:t>Como proceder?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84951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Abordagem 1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620980"/>
            <a:ext cx="8520600" cy="1870365"/>
          </a:xfrm>
        </p:spPr>
        <p:txBody>
          <a:bodyPr>
            <a:noAutofit/>
          </a:bodyPr>
          <a:lstStyle/>
          <a:p>
            <a:pPr algn="just"/>
            <a:r>
              <a:rPr lang="pt-BR" sz="2000" dirty="0">
                <a:solidFill>
                  <a:schemeClr val="tx1"/>
                </a:solidFill>
              </a:rPr>
              <a:t>Uma abordagem envolve uma única </a:t>
            </a:r>
            <a:r>
              <a:rPr lang="pt-BR" sz="2000" dirty="0" smtClean="0">
                <a:solidFill>
                  <a:schemeClr val="tx1"/>
                </a:solidFill>
              </a:rPr>
              <a:t>observação </a:t>
            </a:r>
            <a:r>
              <a:rPr lang="pt-BR" sz="2000" dirty="0">
                <a:solidFill>
                  <a:schemeClr val="tx1"/>
                </a:solidFill>
              </a:rPr>
              <a:t>da variável resposta para cada um dos </a:t>
            </a:r>
            <a:r>
              <a:rPr lang="pt-BR" sz="2000" dirty="0" smtClean="0">
                <a:solidFill>
                  <a:schemeClr val="tx1"/>
                </a:solidFill>
              </a:rPr>
              <a:t>pacientes, </a:t>
            </a:r>
            <a:r>
              <a:rPr lang="pt-BR" sz="2000" dirty="0">
                <a:solidFill>
                  <a:schemeClr val="tx1"/>
                </a:solidFill>
              </a:rPr>
              <a:t>realizada </a:t>
            </a:r>
            <a:r>
              <a:rPr lang="pt-BR" sz="2000" dirty="0" smtClean="0">
                <a:solidFill>
                  <a:schemeClr val="tx1"/>
                </a:solidFill>
              </a:rPr>
              <a:t>em um </a:t>
            </a:r>
            <a:r>
              <a:rPr lang="pt-BR" sz="2000" dirty="0">
                <a:solidFill>
                  <a:schemeClr val="tx1"/>
                </a:solidFill>
              </a:rPr>
              <a:t>instante </a:t>
            </a:r>
            <a:r>
              <a:rPr lang="pt-BR" sz="2000" dirty="0" smtClean="0">
                <a:solidFill>
                  <a:schemeClr val="tx1"/>
                </a:solidFill>
              </a:rPr>
              <a:t>especificado</a:t>
            </a:r>
            <a:r>
              <a:rPr lang="pt-BR" sz="2000" dirty="0" smtClean="0">
                <a:solidFill>
                  <a:schemeClr val="tx1"/>
                </a:solidFill>
              </a:rPr>
              <a:t>;</a:t>
            </a:r>
          </a:p>
          <a:p>
            <a:pPr algn="just"/>
            <a:endParaRPr lang="pt-BR" sz="2000" dirty="0">
              <a:solidFill>
                <a:schemeClr val="tx1"/>
              </a:solidFill>
            </a:endParaRPr>
          </a:p>
          <a:p>
            <a:pPr algn="just"/>
            <a:r>
              <a:rPr lang="pt-BR" sz="2000" dirty="0" smtClean="0">
                <a:solidFill>
                  <a:schemeClr val="tx1"/>
                </a:solidFill>
              </a:rPr>
              <a:t>Neste </a:t>
            </a:r>
            <a:r>
              <a:rPr lang="pt-BR" sz="2000" dirty="0">
                <a:solidFill>
                  <a:schemeClr val="tx1"/>
                </a:solidFill>
              </a:rPr>
              <a:t>caso, os pacientes compõem a amostra da população de interesse (de indivíduos normais ou hipertensos, por exemplo).</a:t>
            </a:r>
          </a:p>
          <a:p>
            <a:endParaRPr lang="pt-BR" sz="200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7</a:t>
            </a:fld>
            <a:r>
              <a:rPr lang="pt-BR" dirty="0" smtClean="0"/>
              <a:t> / </a:t>
            </a:r>
            <a:r>
              <a:rPr lang="pt-BR" dirty="0" smtClean="0"/>
              <a:t>44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4414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Abordagem 2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932710"/>
            <a:ext cx="8520600" cy="1870365"/>
          </a:xfrm>
        </p:spPr>
        <p:txBody>
          <a:bodyPr>
            <a:normAutofit/>
          </a:bodyPr>
          <a:lstStyle/>
          <a:p>
            <a:pPr marL="114300" indent="0" algn="just">
              <a:buNone/>
            </a:pPr>
            <a:r>
              <a:rPr lang="pt-BR" sz="2000" dirty="0">
                <a:solidFill>
                  <a:schemeClr val="tx1"/>
                </a:solidFill>
              </a:rPr>
              <a:t>Uma </a:t>
            </a:r>
            <a:r>
              <a:rPr lang="pt-BR" sz="2000" dirty="0" smtClean="0">
                <a:solidFill>
                  <a:schemeClr val="tx1"/>
                </a:solidFill>
              </a:rPr>
              <a:t>outra abordagem </a:t>
            </a:r>
            <a:r>
              <a:rPr lang="pt-BR" sz="2000" dirty="0">
                <a:solidFill>
                  <a:schemeClr val="tx1"/>
                </a:solidFill>
              </a:rPr>
              <a:t>envolve </a:t>
            </a:r>
            <a:r>
              <a:rPr lang="pt-BR" sz="2000" dirty="0" smtClean="0">
                <a:solidFill>
                  <a:schemeClr val="tx1"/>
                </a:solidFill>
              </a:rPr>
              <a:t>várias observações </a:t>
            </a:r>
            <a:r>
              <a:rPr lang="pt-BR" sz="2000" dirty="0">
                <a:solidFill>
                  <a:schemeClr val="tx1"/>
                </a:solidFill>
              </a:rPr>
              <a:t>da variável </a:t>
            </a:r>
            <a:r>
              <a:rPr lang="pt-BR" sz="2000" dirty="0" smtClean="0">
                <a:solidFill>
                  <a:schemeClr val="tx1"/>
                </a:solidFill>
              </a:rPr>
              <a:t>resposta, realizadas em instantes </a:t>
            </a:r>
            <a:r>
              <a:rPr lang="pt-BR" sz="2000" dirty="0" smtClean="0">
                <a:solidFill>
                  <a:schemeClr val="tx1"/>
                </a:solidFill>
              </a:rPr>
              <a:t>diferentes, </a:t>
            </a:r>
            <a:r>
              <a:rPr lang="pt-BR" sz="2000" dirty="0">
                <a:solidFill>
                  <a:schemeClr val="tx1"/>
                </a:solidFill>
              </a:rPr>
              <a:t>para cada um dos </a:t>
            </a:r>
            <a:r>
              <a:rPr lang="pt-BR" sz="2000" dirty="0" smtClean="0">
                <a:solidFill>
                  <a:schemeClr val="tx1"/>
                </a:solidFill>
              </a:rPr>
              <a:t>pacientes.</a:t>
            </a:r>
            <a:endParaRPr lang="pt-BR" sz="2000" dirty="0" smtClean="0">
              <a:solidFill>
                <a:schemeClr val="tx1"/>
              </a:solidFill>
            </a:endParaRPr>
          </a:p>
          <a:p>
            <a:pPr algn="just"/>
            <a:endParaRPr lang="pt-BR" sz="2000" dirty="0"/>
          </a:p>
          <a:p>
            <a:pPr algn="just"/>
            <a:endParaRPr lang="pt-BR" dirty="0" smtClean="0"/>
          </a:p>
          <a:p>
            <a:pPr algn="just"/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8</a:t>
            </a:fld>
            <a:r>
              <a:rPr lang="pt-BR" dirty="0" smtClean="0"/>
              <a:t> / </a:t>
            </a:r>
            <a:r>
              <a:rPr lang="pt-BR" dirty="0" smtClean="0"/>
              <a:t>44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1763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620980"/>
            <a:ext cx="8520600" cy="1870365"/>
          </a:xfrm>
        </p:spPr>
        <p:txBody>
          <a:bodyPr>
            <a:normAutofit/>
          </a:bodyPr>
          <a:lstStyle/>
          <a:p>
            <a:pPr algn="just"/>
            <a:r>
              <a:rPr lang="pt-BR" sz="2400" b="1" dirty="0" smtClean="0">
                <a:solidFill>
                  <a:schemeClr val="tx1"/>
                </a:solidFill>
              </a:rPr>
              <a:t>Abordagem 1:</a:t>
            </a:r>
            <a:r>
              <a:rPr lang="pt-BR" sz="2400" dirty="0" smtClean="0">
                <a:solidFill>
                  <a:schemeClr val="tx1"/>
                </a:solidFill>
              </a:rPr>
              <a:t> Estudo transversal;</a:t>
            </a:r>
          </a:p>
          <a:p>
            <a:pPr algn="just"/>
            <a:endParaRPr lang="pt-BR" sz="2400" dirty="0" smtClean="0">
              <a:solidFill>
                <a:schemeClr val="tx1"/>
              </a:solidFill>
            </a:endParaRPr>
          </a:p>
          <a:p>
            <a:pPr algn="just"/>
            <a:endParaRPr lang="pt-BR" sz="2400" dirty="0">
              <a:solidFill>
                <a:schemeClr val="tx1"/>
              </a:solidFill>
            </a:endParaRPr>
          </a:p>
          <a:p>
            <a:pPr lvl="0" algn="just"/>
            <a:r>
              <a:rPr lang="pt-BR" sz="2400" b="1" dirty="0" smtClean="0">
                <a:solidFill>
                  <a:schemeClr val="tx1"/>
                </a:solidFill>
              </a:rPr>
              <a:t>Abordagem 2:</a:t>
            </a:r>
            <a:r>
              <a:rPr lang="pt-BR" sz="2400" dirty="0" smtClean="0">
                <a:solidFill>
                  <a:schemeClr val="tx1"/>
                </a:solidFill>
              </a:rPr>
              <a:t> Estudo longitudinal.</a:t>
            </a:r>
          </a:p>
          <a:p>
            <a:pPr algn="just"/>
            <a:endParaRPr lang="pt-BR" sz="2400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9</a:t>
            </a:fld>
            <a:r>
              <a:rPr lang="pt-BR" dirty="0" smtClean="0"/>
              <a:t> / </a:t>
            </a:r>
            <a:r>
              <a:rPr lang="pt-BR" dirty="0" smtClean="0"/>
              <a:t>44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130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852046"/>
            <a:ext cx="8520600" cy="2698510"/>
          </a:xfrm>
        </p:spPr>
        <p:txBody>
          <a:bodyPr>
            <a:noAutofit/>
          </a:bodyPr>
          <a:lstStyle/>
          <a:p>
            <a:pPr lvl="0" algn="just"/>
            <a:r>
              <a:rPr lang="pt-BR" sz="2000" dirty="0">
                <a:solidFill>
                  <a:schemeClr val="tx1"/>
                </a:solidFill>
              </a:rPr>
              <a:t>Variações temporais na pressão sanguínea medida num esquema longitudinal deveriam estar (pelo menos parcialmente) livres da influência dos hábitos de vida dos pacientes selecionados;</a:t>
            </a:r>
          </a:p>
          <a:p>
            <a:pPr algn="just"/>
            <a:endParaRPr lang="pt-BR" sz="2000" dirty="0" smtClean="0">
              <a:solidFill>
                <a:schemeClr val="tx1"/>
              </a:solidFill>
            </a:endParaRPr>
          </a:p>
          <a:p>
            <a:pPr algn="just"/>
            <a:r>
              <a:rPr lang="pt-BR" sz="2000" dirty="0" smtClean="0">
                <a:solidFill>
                  <a:schemeClr val="tx1"/>
                </a:solidFill>
              </a:rPr>
              <a:t>Isso </a:t>
            </a:r>
            <a:r>
              <a:rPr lang="pt-BR" sz="2000" dirty="0">
                <a:solidFill>
                  <a:schemeClr val="tx1"/>
                </a:solidFill>
              </a:rPr>
              <a:t>não aconteceria num estudo transversal, em que as flutuações cronológicas da pressão são avaliadas com base em diferentes </a:t>
            </a:r>
            <a:r>
              <a:rPr lang="pt-BR" sz="2000" dirty="0" smtClean="0">
                <a:solidFill>
                  <a:schemeClr val="tx1"/>
                </a:solidFill>
              </a:rPr>
              <a:t>indivíduos. Esta </a:t>
            </a:r>
            <a:r>
              <a:rPr lang="pt-BR" sz="2000" dirty="0">
                <a:solidFill>
                  <a:schemeClr val="tx1"/>
                </a:solidFill>
              </a:rPr>
              <a:t>característica </a:t>
            </a:r>
            <a:r>
              <a:rPr lang="pt-BR" sz="2000" dirty="0" smtClean="0">
                <a:solidFill>
                  <a:schemeClr val="tx1"/>
                </a:solidFill>
              </a:rPr>
              <a:t>é </a:t>
            </a:r>
            <a:r>
              <a:rPr lang="pt-BR" sz="2000" dirty="0">
                <a:solidFill>
                  <a:schemeClr val="tx1"/>
                </a:solidFill>
              </a:rPr>
              <a:t>de especial interesse nos casos em que a variabilidade </a:t>
            </a:r>
            <a:r>
              <a:rPr lang="pt-BR" sz="2000" dirty="0" err="1" smtClean="0">
                <a:solidFill>
                  <a:schemeClr val="tx1"/>
                </a:solidFill>
              </a:rPr>
              <a:t>interindivíduos</a:t>
            </a:r>
            <a:r>
              <a:rPr lang="pt-BR" sz="2000" dirty="0" smtClean="0">
                <a:solidFill>
                  <a:schemeClr val="tx1"/>
                </a:solidFill>
              </a:rPr>
              <a:t> </a:t>
            </a:r>
            <a:r>
              <a:rPr lang="pt-BR" sz="2000" dirty="0" smtClean="0">
                <a:solidFill>
                  <a:schemeClr val="tx1"/>
                </a:solidFill>
              </a:rPr>
              <a:t>é </a:t>
            </a:r>
            <a:r>
              <a:rPr lang="pt-BR" sz="2000" dirty="0">
                <a:solidFill>
                  <a:schemeClr val="tx1"/>
                </a:solidFill>
              </a:rPr>
              <a:t>maior do que a variabilidade </a:t>
            </a:r>
            <a:r>
              <a:rPr lang="pt-BR" sz="2000" dirty="0" err="1" smtClean="0">
                <a:solidFill>
                  <a:schemeClr val="tx1"/>
                </a:solidFill>
              </a:rPr>
              <a:t>intraindivíduos</a:t>
            </a:r>
            <a:r>
              <a:rPr lang="pt-BR" sz="2000" dirty="0" smtClean="0"/>
              <a:t>.</a:t>
            </a:r>
            <a:endParaRPr lang="pt-BR" sz="200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10</a:t>
            </a:fld>
            <a:r>
              <a:rPr lang="pt-BR" dirty="0" smtClean="0"/>
              <a:t> / </a:t>
            </a:r>
            <a:r>
              <a:rPr lang="pt-BR" dirty="0" smtClean="0"/>
              <a:t>44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8554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091039"/>
            <a:ext cx="8520600" cy="2698510"/>
          </a:xfrm>
        </p:spPr>
        <p:txBody>
          <a:bodyPr>
            <a:normAutofit fontScale="92500" lnSpcReduction="10000"/>
          </a:bodyPr>
          <a:lstStyle/>
          <a:p>
            <a:pPr lvl="0" algn="just"/>
            <a:r>
              <a:rPr lang="pt-BR" sz="2000" dirty="0">
                <a:solidFill>
                  <a:schemeClr val="tx1"/>
                </a:solidFill>
              </a:rPr>
              <a:t>A diferença básica entre </a:t>
            </a:r>
            <a:r>
              <a:rPr lang="pt-BR" sz="2000" dirty="0" smtClean="0">
                <a:solidFill>
                  <a:schemeClr val="tx1"/>
                </a:solidFill>
              </a:rPr>
              <a:t>os tipos de estudos mencionados </a:t>
            </a:r>
            <a:r>
              <a:rPr lang="pt-BR" sz="2000" dirty="0">
                <a:solidFill>
                  <a:schemeClr val="tx1"/>
                </a:solidFill>
              </a:rPr>
              <a:t>reside numa possível dependência (estatística) entre as observações </a:t>
            </a:r>
            <a:r>
              <a:rPr lang="pt-BR" sz="2000" dirty="0" err="1">
                <a:solidFill>
                  <a:schemeClr val="tx1"/>
                </a:solidFill>
              </a:rPr>
              <a:t>intraunidades</a:t>
            </a:r>
            <a:r>
              <a:rPr lang="pt-BR" sz="2000" dirty="0">
                <a:solidFill>
                  <a:schemeClr val="tx1"/>
                </a:solidFill>
              </a:rPr>
              <a:t> amostrais, presente apenas nos dados provenientes de estudos </a:t>
            </a:r>
            <a:r>
              <a:rPr lang="pt-BR" sz="2000" dirty="0" smtClean="0">
                <a:solidFill>
                  <a:schemeClr val="tx1"/>
                </a:solidFill>
              </a:rPr>
              <a:t>longitudinais;</a:t>
            </a:r>
            <a:endParaRPr lang="pt-BR" sz="2000" dirty="0">
              <a:solidFill>
                <a:schemeClr val="tx1"/>
              </a:solidFill>
            </a:endParaRPr>
          </a:p>
          <a:p>
            <a:pPr lvl="0">
              <a:buNone/>
            </a:pPr>
            <a:endParaRPr lang="pt-BR" sz="2000" dirty="0" smtClean="0">
              <a:solidFill>
                <a:schemeClr val="tx1"/>
              </a:solidFill>
            </a:endParaRPr>
          </a:p>
          <a:p>
            <a:pPr algn="just"/>
            <a:r>
              <a:rPr lang="pt-BR" sz="2000" dirty="0">
                <a:solidFill>
                  <a:schemeClr val="tx1"/>
                </a:solidFill>
              </a:rPr>
              <a:t>Em geral, as </a:t>
            </a:r>
            <a:r>
              <a:rPr lang="pt-BR" sz="2000" b="1" dirty="0">
                <a:solidFill>
                  <a:schemeClr val="tx1"/>
                </a:solidFill>
              </a:rPr>
              <a:t>observações </a:t>
            </a:r>
            <a:r>
              <a:rPr lang="pt-BR" sz="2000" b="1" dirty="0" err="1">
                <a:solidFill>
                  <a:schemeClr val="tx1"/>
                </a:solidFill>
              </a:rPr>
              <a:t>interunidades</a:t>
            </a:r>
            <a:r>
              <a:rPr lang="pt-BR" sz="2000" b="1" dirty="0">
                <a:solidFill>
                  <a:schemeClr val="tx1"/>
                </a:solidFill>
              </a:rPr>
              <a:t> amostrais são independentes </a:t>
            </a:r>
            <a:r>
              <a:rPr lang="pt-BR" sz="2000" dirty="0">
                <a:solidFill>
                  <a:schemeClr val="tx1"/>
                </a:solidFill>
              </a:rPr>
              <a:t>e as </a:t>
            </a:r>
            <a:r>
              <a:rPr lang="pt-BR" sz="2000" b="1" dirty="0">
                <a:solidFill>
                  <a:schemeClr val="tx1"/>
                </a:solidFill>
              </a:rPr>
              <a:t>observações </a:t>
            </a:r>
            <a:r>
              <a:rPr lang="pt-BR" sz="2000" b="1" dirty="0" err="1">
                <a:solidFill>
                  <a:schemeClr val="tx1"/>
                </a:solidFill>
              </a:rPr>
              <a:t>intraunidades</a:t>
            </a:r>
            <a:r>
              <a:rPr lang="pt-BR" sz="2000" b="1" dirty="0">
                <a:solidFill>
                  <a:schemeClr val="tx1"/>
                </a:solidFill>
              </a:rPr>
              <a:t> amostrais são dependentes</a:t>
            </a:r>
            <a:r>
              <a:rPr lang="pt-BR" sz="2000" dirty="0">
                <a:solidFill>
                  <a:schemeClr val="tx1"/>
                </a:solidFill>
              </a:rPr>
              <a:t>.   </a:t>
            </a:r>
          </a:p>
          <a:p>
            <a:pPr lvl="0">
              <a:buNone/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11</a:t>
            </a:fld>
            <a:r>
              <a:rPr lang="pt-BR" dirty="0" smtClean="0"/>
              <a:t> / </a:t>
            </a:r>
            <a:r>
              <a:rPr lang="pt-BR" dirty="0" smtClean="0"/>
              <a:t>44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6880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2036617"/>
            <a:ext cx="8520600" cy="2251699"/>
          </a:xfrm>
        </p:spPr>
        <p:txBody>
          <a:bodyPr>
            <a:normAutofit lnSpcReduction="10000"/>
          </a:bodyPr>
          <a:lstStyle/>
          <a:p>
            <a:pPr lvl="0"/>
            <a:endParaRPr lang="pt-BR" dirty="0"/>
          </a:p>
          <a:p>
            <a:pPr lvl="0" algn="just"/>
            <a:r>
              <a:rPr lang="pt-BR" dirty="0" smtClean="0">
                <a:solidFill>
                  <a:schemeClr val="tx1"/>
                </a:solidFill>
              </a:rPr>
              <a:t>Eles </a:t>
            </a:r>
            <a:r>
              <a:rPr lang="pt-BR" dirty="0">
                <a:solidFill>
                  <a:schemeClr val="tx1"/>
                </a:solidFill>
              </a:rPr>
              <a:t>permitem que a variável resposta seja observada em unidades amostrais sob níveis constantes de outras </a:t>
            </a:r>
            <a:r>
              <a:rPr lang="pt-BR" dirty="0" err="1">
                <a:solidFill>
                  <a:schemeClr val="tx1"/>
                </a:solidFill>
              </a:rPr>
              <a:t>covariáveis</a:t>
            </a:r>
            <a:r>
              <a:rPr lang="pt-BR" dirty="0">
                <a:solidFill>
                  <a:schemeClr val="tx1"/>
                </a:solidFill>
              </a:rPr>
              <a:t> que podem </a:t>
            </a:r>
            <a:r>
              <a:rPr lang="pt-BR" dirty="0" smtClean="0">
                <a:solidFill>
                  <a:schemeClr val="tx1"/>
                </a:solidFill>
              </a:rPr>
              <a:t>influenciá-la</a:t>
            </a:r>
            <a:r>
              <a:rPr lang="pt-BR" dirty="0">
                <a:solidFill>
                  <a:schemeClr val="tx1"/>
                </a:solidFill>
              </a:rPr>
              <a:t>;</a:t>
            </a:r>
            <a:endParaRPr lang="pt-BR" dirty="0" smtClean="0">
              <a:solidFill>
                <a:schemeClr val="tx1"/>
              </a:solidFill>
            </a:endParaRPr>
          </a:p>
          <a:p>
            <a:pPr lvl="0" algn="just"/>
            <a:endParaRPr lang="pt-BR" dirty="0">
              <a:solidFill>
                <a:schemeClr val="tx1"/>
              </a:solidFill>
            </a:endParaRPr>
          </a:p>
          <a:p>
            <a:pPr algn="just"/>
            <a:r>
              <a:rPr lang="pt-BR" dirty="0">
                <a:solidFill>
                  <a:schemeClr val="tx1"/>
                </a:solidFill>
              </a:rPr>
              <a:t>Além disso, planejamentos longitudinais proveem informações sobre variações individuais nos níveis da variável resposta.</a:t>
            </a:r>
          </a:p>
          <a:p>
            <a:pPr algn="just"/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12</a:t>
            </a:fld>
            <a:r>
              <a:rPr lang="pt-BR" dirty="0" smtClean="0"/>
              <a:t> / </a:t>
            </a:r>
            <a:r>
              <a:rPr lang="pt-BR" dirty="0" smtClean="0"/>
              <a:t>44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grpSp>
        <p:nvGrpSpPr>
          <p:cNvPr id="6" name="Google Shape;116;p19"/>
          <p:cNvGrpSpPr/>
          <p:nvPr/>
        </p:nvGrpSpPr>
        <p:grpSpPr>
          <a:xfrm>
            <a:off x="302538" y="602673"/>
            <a:ext cx="8538900" cy="1131689"/>
            <a:chOff x="293075" y="1719211"/>
            <a:chExt cx="8538900" cy="1238400"/>
          </a:xfrm>
        </p:grpSpPr>
        <p:sp>
          <p:nvSpPr>
            <p:cNvPr id="7" name="Google Shape;117;p19"/>
            <p:cNvSpPr/>
            <p:nvPr/>
          </p:nvSpPr>
          <p:spPr>
            <a:xfrm>
              <a:off x="293075" y="1719211"/>
              <a:ext cx="101100" cy="12384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18;p19"/>
            <p:cNvSpPr/>
            <p:nvPr/>
          </p:nvSpPr>
          <p:spPr>
            <a:xfrm flipH="1">
              <a:off x="394175" y="1719661"/>
              <a:ext cx="8437800" cy="1237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114300" algn="just"/>
              <a:r>
                <a:rPr lang="pt-BR" sz="1800" dirty="0"/>
                <a:t>Estudos longitudinais têm interesse especial quando o </a:t>
              </a:r>
              <a:r>
                <a:rPr lang="pt-BR" sz="1800" dirty="0" smtClean="0"/>
                <a:t>objetivo é </a:t>
              </a:r>
              <a:r>
                <a:rPr lang="pt-BR" sz="1800" dirty="0"/>
                <a:t>avaliar mudanças globais ou individuais ao longo do </a:t>
              </a:r>
              <a:r>
                <a:rPr lang="pt-BR" sz="1800" dirty="0" smtClean="0"/>
                <a:t>tempo.</a:t>
              </a:r>
              <a:endParaRPr lang="pt-BR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22744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1604307" y="59634"/>
            <a:ext cx="8520600" cy="7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chemeClr val="accent1"/>
                </a:solidFill>
              </a:rPr>
              <a:t>Tabela 1: </a:t>
            </a:r>
            <a:r>
              <a:rPr lang="pt-BR" sz="1600" dirty="0" smtClean="0">
                <a:solidFill>
                  <a:schemeClr val="dk1"/>
                </a:solidFill>
              </a:rPr>
              <a:t>Estrutura para disposição de dados longitudinais.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94" name="Google Shape;94;p17"/>
          <p:cNvSpPr txBox="1">
            <a:spLocks noGrp="1"/>
          </p:cNvSpPr>
          <p:nvPr>
            <p:ph type="sldNum" idx="12"/>
          </p:nvPr>
        </p:nvSpPr>
        <p:spPr>
          <a:xfrm>
            <a:off x="8414775" y="4703625"/>
            <a:ext cx="7293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13</a:t>
            </a:fld>
            <a:r>
              <a:rPr lang="pt-BR" dirty="0"/>
              <a:t> / </a:t>
            </a:r>
            <a:r>
              <a:rPr lang="pt-BR" dirty="0" smtClean="0"/>
              <a:t>44</a:t>
            </a:r>
            <a:endParaRPr dirty="0"/>
          </a:p>
        </p:txBody>
      </p:sp>
      <p:sp>
        <p:nvSpPr>
          <p:cNvPr id="96" name="Google Shape;96;p17"/>
          <p:cNvSpPr txBox="1">
            <a:spLocks noGrp="1"/>
          </p:cNvSpPr>
          <p:nvPr>
            <p:ph type="body" idx="1"/>
          </p:nvPr>
        </p:nvSpPr>
        <p:spPr>
          <a:xfrm>
            <a:off x="120711" y="4424676"/>
            <a:ext cx="8520600" cy="74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None/>
            </a:pPr>
            <a:r>
              <a:rPr lang="pt-BR" sz="1200" b="1" dirty="0">
                <a:solidFill>
                  <a:schemeClr val="dk1"/>
                </a:solidFill>
              </a:rPr>
              <a:t>Fonte: </a:t>
            </a:r>
            <a:r>
              <a:rPr lang="pt-BR" sz="1200" dirty="0">
                <a:solidFill>
                  <a:schemeClr val="dk1"/>
                </a:solidFill>
              </a:rPr>
              <a:t>https://www.ime.usp.br/~jmsinger/MAE0610/Singer&amp;Nobre&amp;Rocha2018jun.pdf</a:t>
            </a:r>
            <a:endParaRPr sz="1400" dirty="0">
              <a:solidFill>
                <a:schemeClr val="dk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5963" y="494851"/>
            <a:ext cx="4733968" cy="3905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987128"/>
            <a:ext cx="8520600" cy="3065326"/>
          </a:xfrm>
        </p:spPr>
        <p:txBody>
          <a:bodyPr>
            <a:normAutofit/>
          </a:bodyPr>
          <a:lstStyle/>
          <a:p>
            <a:pPr lvl="0" algn="just"/>
            <a:r>
              <a:rPr lang="pt-BR" dirty="0">
                <a:solidFill>
                  <a:schemeClr val="tx1"/>
                </a:solidFill>
              </a:rPr>
              <a:t>A maior desvantagem dos estudos longitudinais está relacionada com seu custo, pois em muitas situações exige-se um grande esforço para garantir a observação das unidades amostrais nos instantes pré-determinados e, em outras, o período de observação pode ser muito </a:t>
            </a:r>
            <a:r>
              <a:rPr lang="pt-BR" dirty="0" smtClean="0">
                <a:solidFill>
                  <a:schemeClr val="tx1"/>
                </a:solidFill>
              </a:rPr>
              <a:t>longo</a:t>
            </a:r>
            <a:r>
              <a:rPr lang="pt-BR" dirty="0" smtClean="0">
                <a:solidFill>
                  <a:schemeClr val="tx1"/>
                </a:solidFill>
              </a:rPr>
              <a:t>;</a:t>
            </a:r>
          </a:p>
          <a:p>
            <a:pPr lvl="0" algn="just"/>
            <a:endParaRPr lang="pt-BR" dirty="0">
              <a:solidFill>
                <a:schemeClr val="tx1"/>
              </a:solidFill>
            </a:endParaRPr>
          </a:p>
          <a:p>
            <a:pPr lvl="0">
              <a:buNone/>
            </a:pPr>
            <a:endParaRPr lang="pt-BR" dirty="0" smtClean="0">
              <a:solidFill>
                <a:schemeClr val="tx1"/>
              </a:solidFill>
            </a:endParaRPr>
          </a:p>
          <a:p>
            <a:pPr algn="just"/>
            <a:r>
              <a:rPr lang="pt-BR" dirty="0">
                <a:solidFill>
                  <a:schemeClr val="tx1"/>
                </a:solidFill>
              </a:rPr>
              <a:t>Aspectos técnicos também podem ser considerados como uma desvantagem, pois a análise estatística de dados longitudinais  é, em geral, mais difícil que a análise de dados obtidos em estudos transversais.</a:t>
            </a:r>
          </a:p>
          <a:p>
            <a:pPr lvl="0"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14</a:t>
            </a:fld>
            <a:r>
              <a:rPr lang="pt-BR" dirty="0" smtClean="0"/>
              <a:t> / </a:t>
            </a:r>
            <a:r>
              <a:rPr lang="pt-BR" dirty="0" smtClean="0"/>
              <a:t>44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222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53264" y="372288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Observações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288467"/>
            <a:ext cx="8520600" cy="3158842"/>
          </a:xfrm>
        </p:spPr>
        <p:txBody>
          <a:bodyPr>
            <a:normAutofit fontScale="92500" lnSpcReduction="20000"/>
          </a:bodyPr>
          <a:lstStyle/>
          <a:p>
            <a:pPr marL="285750" indent="-285750" algn="just">
              <a:lnSpc>
                <a:spcPct val="120000"/>
              </a:lnSpc>
            </a:pPr>
            <a:r>
              <a:rPr lang="pt-BR" sz="2100" dirty="0">
                <a:solidFill>
                  <a:schemeClr val="tx1"/>
                </a:solidFill>
              </a:rPr>
              <a:t>Estudos longitudinais constituem um caso especial daqueles conhecidos como medidas </a:t>
            </a:r>
            <a:r>
              <a:rPr lang="pt-BR" sz="2100" dirty="0" smtClean="0">
                <a:solidFill>
                  <a:schemeClr val="tx1"/>
                </a:solidFill>
              </a:rPr>
              <a:t>repetidas, em que d</a:t>
            </a:r>
            <a:r>
              <a:rPr lang="pt-BR" sz="2100" dirty="0" smtClean="0">
                <a:solidFill>
                  <a:schemeClr val="tx1"/>
                </a:solidFill>
              </a:rPr>
              <a:t>iferentes </a:t>
            </a:r>
            <a:r>
              <a:rPr lang="pt-BR" sz="2100" dirty="0">
                <a:solidFill>
                  <a:schemeClr val="tx1"/>
                </a:solidFill>
              </a:rPr>
              <a:t>tratamentos são aplicados numa mesma unidade </a:t>
            </a:r>
            <a:r>
              <a:rPr lang="pt-BR" sz="2100" dirty="0" smtClean="0">
                <a:solidFill>
                  <a:schemeClr val="tx1"/>
                </a:solidFill>
              </a:rPr>
              <a:t>experimental;</a:t>
            </a:r>
          </a:p>
          <a:p>
            <a:pPr marL="285750" indent="-285750" algn="just">
              <a:lnSpc>
                <a:spcPct val="120000"/>
              </a:lnSpc>
            </a:pPr>
            <a:endParaRPr lang="pt-BR" sz="2100" dirty="0">
              <a:solidFill>
                <a:schemeClr val="tx1"/>
              </a:solidFill>
            </a:endParaRPr>
          </a:p>
          <a:p>
            <a:pPr marL="285750" indent="-285750" algn="just">
              <a:lnSpc>
                <a:spcPct val="120000"/>
              </a:lnSpc>
            </a:pPr>
            <a:r>
              <a:rPr lang="pt-BR" sz="2100" dirty="0" smtClean="0">
                <a:solidFill>
                  <a:schemeClr val="tx1"/>
                </a:solidFill>
              </a:rPr>
              <a:t>Neste caso, o </a:t>
            </a:r>
            <a:r>
              <a:rPr lang="pt-BR" sz="2100" dirty="0">
                <a:solidFill>
                  <a:schemeClr val="tx1"/>
                </a:solidFill>
              </a:rPr>
              <a:t>estudo tem por objetivo a comparação dos diferentes tratamentos </a:t>
            </a:r>
            <a:r>
              <a:rPr lang="pt-BR" sz="2100" dirty="0" smtClean="0">
                <a:solidFill>
                  <a:schemeClr val="tx1"/>
                </a:solidFill>
              </a:rPr>
              <a:t>em que </a:t>
            </a:r>
            <a:r>
              <a:rPr lang="pt-BR" sz="2100" dirty="0">
                <a:solidFill>
                  <a:schemeClr val="tx1"/>
                </a:solidFill>
              </a:rPr>
              <a:t>um maior controle da variabilidade das unidades experimentais é obtido à medida que a resposta aos diferentes tratamentos é observada em cada unidade experimental. Em outras </a:t>
            </a:r>
            <a:r>
              <a:rPr lang="pt-BR" sz="2100" dirty="0" smtClean="0">
                <a:solidFill>
                  <a:schemeClr val="tx1"/>
                </a:solidFill>
              </a:rPr>
              <a:t>palavras, </a:t>
            </a:r>
            <a:r>
              <a:rPr lang="pt-BR" sz="2100" dirty="0">
                <a:solidFill>
                  <a:schemeClr val="tx1"/>
                </a:solidFill>
              </a:rPr>
              <a:t>nesta situação, cada unidade experimental é seu próprio controle.</a:t>
            </a:r>
            <a:endParaRPr lang="pt-BR" sz="2100" dirty="0" smtClean="0">
              <a:solidFill>
                <a:schemeClr val="tx1"/>
              </a:solidFill>
            </a:endParaRPr>
          </a:p>
          <a:p>
            <a:pPr lvl="0">
              <a:buNone/>
            </a:pPr>
            <a:endParaRPr lang="pt-BR" dirty="0"/>
          </a:p>
          <a:p>
            <a:pPr lvl="0"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15</a:t>
            </a:fld>
            <a:r>
              <a:rPr lang="pt-BR" dirty="0" smtClean="0"/>
              <a:t> / </a:t>
            </a:r>
            <a:r>
              <a:rPr lang="pt-BR" dirty="0" smtClean="0"/>
              <a:t>44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2639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319647"/>
            <a:ext cx="8520600" cy="2698510"/>
          </a:xfrm>
        </p:spPr>
        <p:txBody>
          <a:bodyPr>
            <a:normAutofit/>
          </a:bodyPr>
          <a:lstStyle/>
          <a:p>
            <a:pPr marL="114300" indent="0" algn="just">
              <a:buNone/>
            </a:pPr>
            <a:r>
              <a:rPr lang="pt-BR" dirty="0">
                <a:solidFill>
                  <a:schemeClr val="tx1"/>
                </a:solidFill>
              </a:rPr>
              <a:t>Em estudos longitudinais, os dados associados a cada unidade amostral </a:t>
            </a:r>
            <a:r>
              <a:rPr lang="pt-BR" dirty="0" smtClean="0">
                <a:solidFill>
                  <a:schemeClr val="tx1"/>
                </a:solidFill>
              </a:rPr>
              <a:t>podem ser </a:t>
            </a:r>
            <a:r>
              <a:rPr lang="pt-BR" dirty="0">
                <a:solidFill>
                  <a:schemeClr val="tx1"/>
                </a:solidFill>
              </a:rPr>
              <a:t>expressos na forma de um vetor cujos elementos são os valores da variável resposta (pressão sanguínea, por exemplo) em cada instante de observação e de uma matriz, cujos elementos correspondem aos valores das variáveis explicativas (ou independentes).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16</a:t>
            </a:fld>
            <a:r>
              <a:rPr lang="pt-BR" dirty="0" smtClean="0"/>
              <a:t> / </a:t>
            </a:r>
            <a:r>
              <a:rPr lang="pt-BR" dirty="0" smtClean="0"/>
              <a:t>44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170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402769"/>
            <a:ext cx="8520600" cy="2698510"/>
          </a:xfrm>
        </p:spPr>
        <p:txBody>
          <a:bodyPr>
            <a:normAutofit lnSpcReduction="10000"/>
          </a:bodyPr>
          <a:lstStyle/>
          <a:p>
            <a:pPr marL="114300" lvl="0" indent="0" algn="just">
              <a:buNone/>
            </a:pPr>
            <a:r>
              <a:rPr lang="pt-BR" dirty="0">
                <a:solidFill>
                  <a:schemeClr val="tx1"/>
                </a:solidFill>
              </a:rPr>
              <a:t>O vetor com as </a:t>
            </a:r>
            <a:r>
              <a:rPr lang="pt-BR" i="1" dirty="0">
                <a:solidFill>
                  <a:schemeClr val="tx1"/>
                </a:solidFill>
              </a:rPr>
              <a:t>m</a:t>
            </a:r>
            <a:r>
              <a:rPr lang="pt-BR" i="1" baseline="-8000" dirty="0" smtClean="0">
                <a:solidFill>
                  <a:schemeClr val="tx1"/>
                </a:solidFill>
              </a:rPr>
              <a:t>i</a:t>
            </a:r>
            <a:r>
              <a:rPr lang="pt-BR" dirty="0" smtClean="0">
                <a:solidFill>
                  <a:schemeClr val="tx1"/>
                </a:solidFill>
              </a:rPr>
              <a:t> </a:t>
            </a:r>
            <a:r>
              <a:rPr lang="pt-BR" dirty="0">
                <a:solidFill>
                  <a:schemeClr val="tx1"/>
                </a:solidFill>
              </a:rPr>
              <a:t>respostas para a </a:t>
            </a:r>
            <a:r>
              <a:rPr lang="pt-BR" i="1" dirty="0" smtClean="0">
                <a:solidFill>
                  <a:schemeClr val="tx1"/>
                </a:solidFill>
              </a:rPr>
              <a:t>i</a:t>
            </a:r>
            <a:r>
              <a:rPr lang="pt-BR" dirty="0" smtClean="0">
                <a:solidFill>
                  <a:schemeClr val="tx1"/>
                </a:solidFill>
              </a:rPr>
              <a:t>-</a:t>
            </a:r>
            <a:r>
              <a:rPr lang="pt-BR" dirty="0" err="1" smtClean="0">
                <a:solidFill>
                  <a:schemeClr val="tx1"/>
                </a:solidFill>
              </a:rPr>
              <a:t>ésima</a:t>
            </a:r>
            <a:r>
              <a:rPr lang="pt-BR" dirty="0" smtClean="0">
                <a:solidFill>
                  <a:schemeClr val="tx1"/>
                </a:solidFill>
              </a:rPr>
              <a:t> </a:t>
            </a:r>
            <a:r>
              <a:rPr lang="pt-BR" dirty="0">
                <a:solidFill>
                  <a:schemeClr val="tx1"/>
                </a:solidFill>
              </a:rPr>
              <a:t>unidade amostral, </a:t>
            </a:r>
            <a:r>
              <a:rPr lang="pt-BR" i="1" dirty="0">
                <a:solidFill>
                  <a:schemeClr val="tx1"/>
                </a:solidFill>
              </a:rPr>
              <a:t>i</a:t>
            </a:r>
            <a:r>
              <a:rPr lang="pt-BR" dirty="0">
                <a:solidFill>
                  <a:schemeClr val="tx1"/>
                </a:solidFill>
              </a:rPr>
              <a:t> = 1, …, </a:t>
            </a:r>
            <a:r>
              <a:rPr lang="pt-BR" i="1" dirty="0">
                <a:solidFill>
                  <a:schemeClr val="tx1"/>
                </a:solidFill>
              </a:rPr>
              <a:t>n</a:t>
            </a:r>
            <a:r>
              <a:rPr lang="pt-BR" dirty="0">
                <a:solidFill>
                  <a:schemeClr val="tx1"/>
                </a:solidFill>
              </a:rPr>
              <a:t>,  é conhecido como </a:t>
            </a:r>
            <a:r>
              <a:rPr lang="pt-BR" b="1" dirty="0">
                <a:solidFill>
                  <a:schemeClr val="tx1"/>
                </a:solidFill>
              </a:rPr>
              <a:t>perfil individual de resposta</a:t>
            </a:r>
            <a:r>
              <a:rPr lang="pt-BR" dirty="0">
                <a:solidFill>
                  <a:schemeClr val="tx1"/>
                </a:solidFill>
              </a:rPr>
              <a:t> (</a:t>
            </a:r>
            <a:r>
              <a:rPr lang="pt-BR" i="1" dirty="0">
                <a:solidFill>
                  <a:schemeClr val="tx1"/>
                </a:solidFill>
              </a:rPr>
              <a:t>individual response profile</a:t>
            </a:r>
            <a:r>
              <a:rPr lang="pt-BR" dirty="0">
                <a:solidFill>
                  <a:schemeClr val="tx1"/>
                </a:solidFill>
              </a:rPr>
              <a:t>, em inglês) e é expresso como</a:t>
            </a:r>
          </a:p>
          <a:p>
            <a:pPr lvl="0"/>
            <a:endParaRPr lang="pt-BR" dirty="0">
              <a:solidFill>
                <a:schemeClr val="tx1"/>
              </a:solidFill>
            </a:endParaRPr>
          </a:p>
          <a:p>
            <a:pPr marL="114300" lvl="0" indent="0">
              <a:buNone/>
            </a:pPr>
            <a:r>
              <a:rPr lang="pt-BR" i="1" dirty="0" smtClean="0">
                <a:solidFill>
                  <a:schemeClr val="tx1"/>
                </a:solidFill>
              </a:rPr>
              <a:t>                                           </a:t>
            </a:r>
            <a:r>
              <a:rPr lang="pt-BR" i="1" dirty="0" err="1" smtClean="0">
                <a:solidFill>
                  <a:schemeClr val="tx1"/>
                </a:solidFill>
              </a:rPr>
              <a:t>y</a:t>
            </a:r>
            <a:r>
              <a:rPr lang="pt-BR" i="1" baseline="-8000" dirty="0" err="1" smtClean="0">
                <a:solidFill>
                  <a:schemeClr val="tx1"/>
                </a:solidFill>
              </a:rPr>
              <a:t>i</a:t>
            </a:r>
            <a:r>
              <a:rPr lang="pt-BR" dirty="0" smtClean="0">
                <a:solidFill>
                  <a:schemeClr val="tx1"/>
                </a:solidFill>
              </a:rPr>
              <a:t> </a:t>
            </a:r>
            <a:r>
              <a:rPr lang="pt-BR" dirty="0">
                <a:solidFill>
                  <a:schemeClr val="tx1"/>
                </a:solidFill>
              </a:rPr>
              <a:t>= </a:t>
            </a:r>
            <a:r>
              <a:rPr lang="pt-BR" dirty="0" smtClean="0">
                <a:solidFill>
                  <a:schemeClr val="tx1"/>
                </a:solidFill>
              </a:rPr>
              <a:t>(y</a:t>
            </a:r>
            <a:r>
              <a:rPr lang="pt-BR" i="1" baseline="-8000" dirty="0" smtClean="0">
                <a:solidFill>
                  <a:schemeClr val="tx1"/>
                </a:solidFill>
              </a:rPr>
              <a:t>i1</a:t>
            </a:r>
            <a:r>
              <a:rPr lang="pt-BR" dirty="0">
                <a:solidFill>
                  <a:schemeClr val="tx1"/>
                </a:solidFill>
              </a:rPr>
              <a:t>, . . . , </a:t>
            </a:r>
            <a:r>
              <a:rPr lang="pt-BR" dirty="0" err="1" smtClean="0">
                <a:solidFill>
                  <a:schemeClr val="tx1"/>
                </a:solidFill>
              </a:rPr>
              <a:t>y</a:t>
            </a:r>
            <a:r>
              <a:rPr lang="pt-BR" i="1" baseline="-8000" dirty="0" err="1" smtClean="0">
                <a:solidFill>
                  <a:schemeClr val="tx1"/>
                </a:solidFill>
              </a:rPr>
              <a:t>i</a:t>
            </a:r>
            <a:r>
              <a:rPr lang="pt-BR" i="1" baseline="-8000" dirty="0" smtClean="0">
                <a:solidFill>
                  <a:schemeClr val="tx1"/>
                </a:solidFill>
              </a:rPr>
              <a:t> m</a:t>
            </a:r>
            <a:r>
              <a:rPr lang="pt-BR" sz="1600" i="1" baseline="-8000" dirty="0" smtClean="0">
                <a:solidFill>
                  <a:schemeClr val="tx1"/>
                </a:solidFill>
              </a:rPr>
              <a:t>i</a:t>
            </a:r>
            <a:r>
              <a:rPr lang="pt-BR" dirty="0" smtClean="0">
                <a:solidFill>
                  <a:schemeClr val="tx1"/>
                </a:solidFill>
              </a:rPr>
              <a:t>)</a:t>
            </a:r>
            <a:r>
              <a:rPr lang="pt-BR" baseline="33000" dirty="0" smtClean="0">
                <a:solidFill>
                  <a:schemeClr val="tx1"/>
                </a:solidFill>
              </a:rPr>
              <a:t>T</a:t>
            </a:r>
            <a:endParaRPr lang="pt-BR" baseline="33000" dirty="0">
              <a:solidFill>
                <a:schemeClr val="tx1"/>
              </a:solidFill>
            </a:endParaRPr>
          </a:p>
          <a:p>
            <a:pPr lvl="0"/>
            <a:endParaRPr lang="pt-BR" dirty="0">
              <a:solidFill>
                <a:schemeClr val="tx1"/>
              </a:solidFill>
            </a:endParaRPr>
          </a:p>
          <a:p>
            <a:pPr marL="114300" lvl="0" indent="0" algn="just">
              <a:buNone/>
            </a:pPr>
            <a:r>
              <a:rPr lang="pt-BR" dirty="0">
                <a:solidFill>
                  <a:schemeClr val="tx1"/>
                </a:solidFill>
              </a:rPr>
              <a:t>em que </a:t>
            </a:r>
            <a:r>
              <a:rPr lang="pt-BR" dirty="0" err="1" smtClean="0">
                <a:solidFill>
                  <a:schemeClr val="tx1"/>
                </a:solidFill>
              </a:rPr>
              <a:t>y</a:t>
            </a:r>
            <a:r>
              <a:rPr lang="pt-BR" i="1" baseline="-8000" dirty="0" err="1" smtClean="0">
                <a:solidFill>
                  <a:schemeClr val="tx1"/>
                </a:solidFill>
              </a:rPr>
              <a:t>ik</a:t>
            </a:r>
            <a:r>
              <a:rPr lang="pt-BR" dirty="0" smtClean="0">
                <a:solidFill>
                  <a:schemeClr val="tx1"/>
                </a:solidFill>
              </a:rPr>
              <a:t> </a:t>
            </a:r>
            <a:r>
              <a:rPr lang="pt-BR" dirty="0">
                <a:solidFill>
                  <a:schemeClr val="tx1"/>
                </a:solidFill>
              </a:rPr>
              <a:t>denota o valor de variável resposta para a </a:t>
            </a:r>
            <a:r>
              <a:rPr lang="pt-BR" i="1" dirty="0">
                <a:solidFill>
                  <a:schemeClr val="tx1"/>
                </a:solidFill>
              </a:rPr>
              <a:t>i</a:t>
            </a:r>
            <a:r>
              <a:rPr lang="pt-BR" dirty="0">
                <a:solidFill>
                  <a:schemeClr val="tx1"/>
                </a:solidFill>
              </a:rPr>
              <a:t>-</a:t>
            </a:r>
            <a:r>
              <a:rPr lang="pt-BR" dirty="0" err="1">
                <a:solidFill>
                  <a:schemeClr val="tx1"/>
                </a:solidFill>
              </a:rPr>
              <a:t>ésima</a:t>
            </a:r>
            <a:r>
              <a:rPr lang="pt-BR" dirty="0">
                <a:solidFill>
                  <a:schemeClr val="tx1"/>
                </a:solidFill>
              </a:rPr>
              <a:t> unidade amostral no </a:t>
            </a:r>
            <a:r>
              <a:rPr lang="pt-BR" i="1" dirty="0">
                <a:solidFill>
                  <a:schemeClr val="tx1"/>
                </a:solidFill>
              </a:rPr>
              <a:t>k</a:t>
            </a:r>
            <a:r>
              <a:rPr lang="pt-BR" dirty="0">
                <a:solidFill>
                  <a:schemeClr val="tx1"/>
                </a:solidFill>
              </a:rPr>
              <a:t>-</a:t>
            </a:r>
            <a:r>
              <a:rPr lang="pt-BR" dirty="0" err="1">
                <a:solidFill>
                  <a:schemeClr val="tx1"/>
                </a:solidFill>
              </a:rPr>
              <a:t>ésimo</a:t>
            </a:r>
            <a:r>
              <a:rPr lang="pt-BR" dirty="0">
                <a:solidFill>
                  <a:schemeClr val="tx1"/>
                </a:solidFill>
              </a:rPr>
              <a:t> instante de observação, </a:t>
            </a:r>
            <a:r>
              <a:rPr lang="pt-BR" i="1" dirty="0">
                <a:solidFill>
                  <a:schemeClr val="tx1"/>
                </a:solidFill>
              </a:rPr>
              <a:t>k</a:t>
            </a:r>
            <a:r>
              <a:rPr lang="pt-BR" dirty="0">
                <a:solidFill>
                  <a:schemeClr val="tx1"/>
                </a:solidFill>
              </a:rPr>
              <a:t> = 1, ..., </a:t>
            </a:r>
            <a:r>
              <a:rPr lang="pt-BR" dirty="0" smtClean="0">
                <a:solidFill>
                  <a:schemeClr val="tx1"/>
                </a:solidFill>
              </a:rPr>
              <a:t>m</a:t>
            </a:r>
            <a:r>
              <a:rPr lang="pt-BR" i="1" baseline="-8000" dirty="0" smtClean="0">
                <a:solidFill>
                  <a:schemeClr val="tx1"/>
                </a:solidFill>
              </a:rPr>
              <a:t>i</a:t>
            </a:r>
            <a:r>
              <a:rPr lang="pt-BR" dirty="0">
                <a:solidFill>
                  <a:schemeClr val="tx1"/>
                </a:solidFill>
              </a:rPr>
              <a:t>,</a:t>
            </a:r>
            <a:r>
              <a:rPr lang="pt-BR" i="1" baseline="-8000" dirty="0">
                <a:solidFill>
                  <a:schemeClr val="tx1"/>
                </a:solidFill>
              </a:rPr>
              <a:t> </a:t>
            </a:r>
            <a:r>
              <a:rPr lang="pt-BR" i="1" dirty="0">
                <a:solidFill>
                  <a:schemeClr val="tx1"/>
                </a:solidFill>
              </a:rPr>
              <a:t>i = 1, …, n</a:t>
            </a:r>
            <a:r>
              <a:rPr lang="pt-BR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17</a:t>
            </a:fld>
            <a:r>
              <a:rPr lang="pt-BR" dirty="0" smtClean="0"/>
              <a:t> / </a:t>
            </a:r>
            <a:r>
              <a:rPr lang="pt-BR" dirty="0" smtClean="0"/>
              <a:t>44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384437" y="44502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dirty="0" smtClean="0">
                <a:solidFill>
                  <a:schemeClr val="tx1"/>
                </a:solidFill>
              </a:rPr>
              <a:t>Perfil Individual </a:t>
            </a:r>
            <a:r>
              <a:rPr lang="pt-BR" dirty="0">
                <a:solidFill>
                  <a:schemeClr val="tx1"/>
                </a:solidFill>
              </a:rPr>
              <a:t>de </a:t>
            </a:r>
            <a:r>
              <a:rPr lang="pt-BR" dirty="0" smtClean="0">
                <a:solidFill>
                  <a:schemeClr val="tx1"/>
                </a:solidFill>
              </a:rPr>
              <a:t>Resposta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2455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766454"/>
            <a:ext cx="8520600" cy="2698510"/>
          </a:xfrm>
        </p:spPr>
        <p:txBody>
          <a:bodyPr>
            <a:normAutofit/>
          </a:bodyPr>
          <a:lstStyle/>
          <a:p>
            <a:pPr marL="114300" lvl="0" indent="0" algn="just">
              <a:buNone/>
            </a:pPr>
            <a:r>
              <a:rPr lang="pt-BR" sz="2400" dirty="0">
                <a:solidFill>
                  <a:schemeClr val="tx1"/>
                </a:solidFill>
              </a:rPr>
              <a:t>A natureza longitudinal desses perfis  é caracterizada por sua matriz de covariâncias </a:t>
            </a:r>
            <a:r>
              <a:rPr lang="el-GR" sz="2400" b="1" dirty="0" smtClean="0">
                <a:solidFill>
                  <a:schemeClr val="tx1"/>
                </a:solidFill>
              </a:rPr>
              <a:t>Ω</a:t>
            </a:r>
            <a:r>
              <a:rPr lang="pt-BR" sz="2400" i="1" baseline="-8000" dirty="0" smtClean="0">
                <a:solidFill>
                  <a:schemeClr val="tx1"/>
                </a:solidFill>
              </a:rPr>
              <a:t>i</a:t>
            </a:r>
            <a:r>
              <a:rPr lang="pt-BR" sz="2400" dirty="0">
                <a:solidFill>
                  <a:schemeClr val="tx1"/>
                </a:solidFill>
              </a:rPr>
              <a:t>, com dimensão </a:t>
            </a:r>
            <a:r>
              <a:rPr lang="pt-BR" sz="2400" i="1" dirty="0" smtClean="0">
                <a:solidFill>
                  <a:schemeClr val="tx1"/>
                </a:solidFill>
              </a:rPr>
              <a:t>m</a:t>
            </a:r>
            <a:r>
              <a:rPr lang="pt-BR" sz="2400" i="1" baseline="-8000" dirty="0" smtClean="0">
                <a:solidFill>
                  <a:schemeClr val="tx1"/>
                </a:solidFill>
              </a:rPr>
              <a:t>i</a:t>
            </a:r>
            <a:r>
              <a:rPr lang="pt-BR" sz="2400" i="1" dirty="0" smtClean="0">
                <a:solidFill>
                  <a:schemeClr val="tx1"/>
                </a:solidFill>
              </a:rPr>
              <a:t> </a:t>
            </a:r>
            <a:r>
              <a:rPr lang="pt-BR" sz="2400" i="1" dirty="0">
                <a:solidFill>
                  <a:schemeClr val="tx1"/>
                </a:solidFill>
              </a:rPr>
              <a:t>× </a:t>
            </a:r>
            <a:r>
              <a:rPr lang="pt-BR" sz="2400" i="1" dirty="0" smtClean="0">
                <a:solidFill>
                  <a:schemeClr val="tx1"/>
                </a:solidFill>
              </a:rPr>
              <a:t>m</a:t>
            </a:r>
            <a:r>
              <a:rPr lang="pt-BR" sz="2400" i="1" baseline="-8000" dirty="0" smtClean="0">
                <a:solidFill>
                  <a:schemeClr val="tx1"/>
                </a:solidFill>
              </a:rPr>
              <a:t>i</a:t>
            </a:r>
            <a:r>
              <a:rPr lang="pt-BR" sz="2400" dirty="0" smtClean="0">
                <a:solidFill>
                  <a:schemeClr val="tx1"/>
                </a:solidFill>
              </a:rPr>
              <a:t>,</a:t>
            </a:r>
            <a:r>
              <a:rPr lang="pt-BR" sz="2400" i="1" dirty="0" smtClean="0">
                <a:solidFill>
                  <a:schemeClr val="tx1"/>
                </a:solidFill>
              </a:rPr>
              <a:t> </a:t>
            </a:r>
            <a:r>
              <a:rPr lang="pt-BR" sz="2400" dirty="0" smtClean="0">
                <a:solidFill>
                  <a:schemeClr val="tx1"/>
                </a:solidFill>
              </a:rPr>
              <a:t>para </a:t>
            </a:r>
            <a:r>
              <a:rPr lang="pt-BR" sz="2400" dirty="0">
                <a:solidFill>
                  <a:schemeClr val="tx1"/>
                </a:solidFill>
              </a:rPr>
              <a:t>a qual alguma estrutura diferente de </a:t>
            </a:r>
            <a:r>
              <a:rPr lang="pt-BR" sz="2400" i="1" dirty="0">
                <a:solidFill>
                  <a:schemeClr val="tx1"/>
                </a:solidFill>
              </a:rPr>
              <a:t>σ</a:t>
            </a:r>
            <a:r>
              <a:rPr lang="pt-BR" sz="2400" i="1" baseline="33000" dirty="0">
                <a:solidFill>
                  <a:schemeClr val="tx1"/>
                </a:solidFill>
              </a:rPr>
              <a:t>2 </a:t>
            </a:r>
            <a:r>
              <a:rPr lang="pt-BR" sz="2400" b="1" i="1" dirty="0" err="1" smtClean="0">
                <a:solidFill>
                  <a:schemeClr val="tx1"/>
                </a:solidFill>
              </a:rPr>
              <a:t>I</a:t>
            </a:r>
            <a:r>
              <a:rPr lang="pt-BR" sz="2400" i="1" baseline="-25000" dirty="0" err="1" smtClean="0">
                <a:solidFill>
                  <a:schemeClr val="tx1"/>
                </a:solidFill>
              </a:rPr>
              <a:t>mi</a:t>
            </a:r>
            <a:r>
              <a:rPr lang="pt-BR" sz="2400" dirty="0" smtClean="0">
                <a:solidFill>
                  <a:schemeClr val="tx1"/>
                </a:solidFill>
              </a:rPr>
              <a:t> </a:t>
            </a:r>
            <a:r>
              <a:rPr lang="pt-BR" sz="2400" dirty="0">
                <a:solidFill>
                  <a:schemeClr val="tx1"/>
                </a:solidFill>
              </a:rPr>
              <a:t>é assumida.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18</a:t>
            </a:fld>
            <a:r>
              <a:rPr lang="pt-BR" dirty="0" smtClean="0"/>
              <a:t> / </a:t>
            </a:r>
            <a:r>
              <a:rPr lang="pt-BR" dirty="0" smtClean="0"/>
              <a:t>44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432927" y="451951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dirty="0" smtClean="0">
                <a:solidFill>
                  <a:schemeClr val="tx1"/>
                </a:solidFill>
              </a:rPr>
              <a:t>Perfil Individual de Resposta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14799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080648"/>
            <a:ext cx="8520600" cy="2698510"/>
          </a:xfrm>
        </p:spPr>
        <p:txBody>
          <a:bodyPr>
            <a:noAutofit/>
          </a:bodyPr>
          <a:lstStyle/>
          <a:p>
            <a:pPr marL="114300" lvl="0" indent="0" algn="just">
              <a:buNone/>
            </a:pPr>
            <a:r>
              <a:rPr lang="pt-BR" sz="2000" dirty="0">
                <a:solidFill>
                  <a:schemeClr val="tx1"/>
                </a:solidFill>
              </a:rPr>
              <a:t>A matriz </a:t>
            </a:r>
            <a:r>
              <a:rPr lang="pt-BR" sz="2000" i="1" dirty="0" smtClean="0">
                <a:solidFill>
                  <a:schemeClr val="tx1"/>
                </a:solidFill>
              </a:rPr>
              <a:t>m</a:t>
            </a:r>
            <a:r>
              <a:rPr lang="pt-BR" sz="2000" i="1" baseline="-8000" dirty="0" smtClean="0">
                <a:solidFill>
                  <a:schemeClr val="tx1"/>
                </a:solidFill>
              </a:rPr>
              <a:t>i</a:t>
            </a:r>
            <a:r>
              <a:rPr lang="pt-BR" sz="2000" i="1" dirty="0" smtClean="0">
                <a:solidFill>
                  <a:schemeClr val="tx1"/>
                </a:solidFill>
              </a:rPr>
              <a:t> </a:t>
            </a:r>
            <a:r>
              <a:rPr lang="pt-BR" sz="2000" i="1" dirty="0">
                <a:solidFill>
                  <a:schemeClr val="tx1"/>
                </a:solidFill>
              </a:rPr>
              <a:t>× </a:t>
            </a:r>
            <a:r>
              <a:rPr lang="pt-BR" sz="2000" i="1" dirty="0" smtClean="0">
                <a:solidFill>
                  <a:schemeClr val="tx1"/>
                </a:solidFill>
              </a:rPr>
              <a:t>p </a:t>
            </a:r>
            <a:r>
              <a:rPr lang="pt-BR" sz="2000" dirty="0">
                <a:solidFill>
                  <a:schemeClr val="tx1"/>
                </a:solidFill>
              </a:rPr>
              <a:t>com os valores </a:t>
            </a:r>
            <a:r>
              <a:rPr lang="pt-BR" sz="2000" dirty="0" smtClean="0">
                <a:solidFill>
                  <a:schemeClr val="tx1"/>
                </a:solidFill>
              </a:rPr>
              <a:t>de </a:t>
            </a:r>
            <a:r>
              <a:rPr lang="pt-BR" sz="2000" i="1" dirty="0" smtClean="0">
                <a:solidFill>
                  <a:schemeClr val="tx1"/>
                </a:solidFill>
              </a:rPr>
              <a:t>p</a:t>
            </a:r>
            <a:r>
              <a:rPr lang="pt-BR" sz="2000" dirty="0" smtClean="0">
                <a:solidFill>
                  <a:schemeClr val="tx1"/>
                </a:solidFill>
              </a:rPr>
              <a:t> </a:t>
            </a:r>
            <a:r>
              <a:rPr lang="pt-BR" sz="2000" dirty="0">
                <a:solidFill>
                  <a:schemeClr val="tx1"/>
                </a:solidFill>
              </a:rPr>
              <a:t>variáveis explicativas pode ser expressa como</a:t>
            </a:r>
          </a:p>
          <a:p>
            <a:pPr marL="114300" lvl="0" indent="0" algn="just">
              <a:buNone/>
            </a:pPr>
            <a:endParaRPr lang="pt-BR" sz="2000" b="1" i="1" dirty="0" smtClean="0">
              <a:solidFill>
                <a:schemeClr val="tx1"/>
              </a:solidFill>
            </a:endParaRPr>
          </a:p>
          <a:p>
            <a:pPr marL="114300" lvl="0" indent="0" algn="just">
              <a:buNone/>
            </a:pPr>
            <a:r>
              <a:rPr lang="pt-BR" sz="2000" b="1" i="1" dirty="0" smtClean="0">
                <a:solidFill>
                  <a:schemeClr val="tx1"/>
                </a:solidFill>
              </a:rPr>
              <a:t>                                          X</a:t>
            </a:r>
            <a:r>
              <a:rPr lang="pt-BR" sz="2000" i="1" baseline="-8000" dirty="0" smtClean="0">
                <a:solidFill>
                  <a:schemeClr val="tx1"/>
                </a:solidFill>
              </a:rPr>
              <a:t>i</a:t>
            </a:r>
            <a:r>
              <a:rPr lang="pt-BR" sz="2000" dirty="0" smtClean="0">
                <a:solidFill>
                  <a:schemeClr val="tx1"/>
                </a:solidFill>
              </a:rPr>
              <a:t> </a:t>
            </a:r>
            <a:r>
              <a:rPr lang="pt-BR" sz="2000" dirty="0">
                <a:solidFill>
                  <a:schemeClr val="tx1"/>
                </a:solidFill>
              </a:rPr>
              <a:t>= (</a:t>
            </a:r>
            <a:r>
              <a:rPr lang="pt-BR" sz="2000" b="1" i="1" dirty="0">
                <a:solidFill>
                  <a:schemeClr val="tx1"/>
                </a:solidFill>
              </a:rPr>
              <a:t>x</a:t>
            </a:r>
            <a:r>
              <a:rPr lang="pt-BR" sz="2000" i="1" baseline="-8000" dirty="0">
                <a:solidFill>
                  <a:schemeClr val="tx1"/>
                </a:solidFill>
              </a:rPr>
              <a:t>i1</a:t>
            </a:r>
            <a:r>
              <a:rPr lang="pt-BR" sz="2000" dirty="0">
                <a:solidFill>
                  <a:schemeClr val="tx1"/>
                </a:solidFill>
              </a:rPr>
              <a:t>, </a:t>
            </a:r>
            <a:r>
              <a:rPr lang="pt-BR" sz="2000" dirty="0" smtClean="0">
                <a:solidFill>
                  <a:schemeClr val="tx1"/>
                </a:solidFill>
              </a:rPr>
              <a:t>..., </a:t>
            </a:r>
            <a:r>
              <a:rPr lang="pt-BR" sz="2000" b="1" i="1" dirty="0" err="1" smtClean="0">
                <a:solidFill>
                  <a:schemeClr val="tx1"/>
                </a:solidFill>
              </a:rPr>
              <a:t>x</a:t>
            </a:r>
            <a:r>
              <a:rPr lang="pt-BR" sz="2000" i="1" baseline="-8000" dirty="0" err="1" smtClean="0">
                <a:solidFill>
                  <a:schemeClr val="tx1"/>
                </a:solidFill>
              </a:rPr>
              <a:t>ip</a:t>
            </a:r>
            <a:r>
              <a:rPr lang="pt-BR" sz="2000" dirty="0" smtClean="0">
                <a:solidFill>
                  <a:schemeClr val="tx1"/>
                </a:solidFill>
              </a:rPr>
              <a:t>)</a:t>
            </a:r>
            <a:r>
              <a:rPr lang="pt-BR" sz="2000" baseline="33000" dirty="0" smtClean="0">
                <a:solidFill>
                  <a:schemeClr val="tx1"/>
                </a:solidFill>
              </a:rPr>
              <a:t>T</a:t>
            </a:r>
            <a:r>
              <a:rPr lang="pt-BR" sz="2000" dirty="0" smtClean="0">
                <a:solidFill>
                  <a:schemeClr val="tx1"/>
                </a:solidFill>
              </a:rPr>
              <a:t>,</a:t>
            </a:r>
            <a:endParaRPr lang="pt-BR" sz="2000" dirty="0">
              <a:solidFill>
                <a:schemeClr val="tx1"/>
              </a:solidFill>
            </a:endParaRPr>
          </a:p>
          <a:p>
            <a:pPr lvl="0" algn="just"/>
            <a:endParaRPr lang="pt-BR" sz="2000" dirty="0">
              <a:solidFill>
                <a:schemeClr val="tx1"/>
              </a:solidFill>
            </a:endParaRPr>
          </a:p>
          <a:p>
            <a:pPr marL="114300" lvl="0" indent="0" algn="just">
              <a:buNone/>
            </a:pPr>
            <a:r>
              <a:rPr lang="pt-BR" sz="2000" dirty="0">
                <a:solidFill>
                  <a:schemeClr val="tx1"/>
                </a:solidFill>
              </a:rPr>
              <a:t>em que </a:t>
            </a:r>
            <a:r>
              <a:rPr lang="pt-BR" sz="2000" b="1" i="1" dirty="0" err="1">
                <a:solidFill>
                  <a:schemeClr val="tx1"/>
                </a:solidFill>
              </a:rPr>
              <a:t>x</a:t>
            </a:r>
            <a:r>
              <a:rPr lang="pt-BR" sz="2000" i="1" baseline="-8000" dirty="0" err="1">
                <a:solidFill>
                  <a:schemeClr val="tx1"/>
                </a:solidFill>
              </a:rPr>
              <a:t>ij</a:t>
            </a:r>
            <a:r>
              <a:rPr lang="pt-BR" sz="2000" dirty="0">
                <a:solidFill>
                  <a:schemeClr val="tx1"/>
                </a:solidFill>
              </a:rPr>
              <a:t> = (</a:t>
            </a:r>
            <a:r>
              <a:rPr lang="pt-BR" sz="2000" i="1" dirty="0">
                <a:solidFill>
                  <a:schemeClr val="tx1"/>
                </a:solidFill>
              </a:rPr>
              <a:t>x</a:t>
            </a:r>
            <a:r>
              <a:rPr lang="pt-BR" sz="2000" i="1" baseline="-8000" dirty="0">
                <a:solidFill>
                  <a:schemeClr val="tx1"/>
                </a:solidFill>
              </a:rPr>
              <a:t>ij1</a:t>
            </a:r>
            <a:r>
              <a:rPr lang="pt-BR" sz="2000" dirty="0">
                <a:solidFill>
                  <a:schemeClr val="tx1"/>
                </a:solidFill>
              </a:rPr>
              <a:t>, </a:t>
            </a:r>
            <a:r>
              <a:rPr lang="pt-BR" sz="2000" dirty="0" smtClean="0">
                <a:solidFill>
                  <a:schemeClr val="tx1"/>
                </a:solidFill>
              </a:rPr>
              <a:t>..., </a:t>
            </a:r>
            <a:r>
              <a:rPr lang="pt-BR" sz="2000" i="1" dirty="0" err="1" smtClean="0">
                <a:solidFill>
                  <a:schemeClr val="tx1"/>
                </a:solidFill>
              </a:rPr>
              <a:t>x</a:t>
            </a:r>
            <a:r>
              <a:rPr lang="pt-BR" sz="2000" i="1" baseline="-8000" dirty="0" err="1" smtClean="0">
                <a:solidFill>
                  <a:schemeClr val="tx1"/>
                </a:solidFill>
              </a:rPr>
              <a:t>ijmi</a:t>
            </a:r>
            <a:r>
              <a:rPr lang="pt-BR" sz="2000" dirty="0">
                <a:solidFill>
                  <a:schemeClr val="tx1"/>
                </a:solidFill>
              </a:rPr>
              <a:t>) com </a:t>
            </a:r>
            <a:r>
              <a:rPr lang="pt-BR" sz="2000" i="1" dirty="0" err="1">
                <a:solidFill>
                  <a:schemeClr val="tx1"/>
                </a:solidFill>
              </a:rPr>
              <a:t>x</a:t>
            </a:r>
            <a:r>
              <a:rPr lang="pt-BR" sz="2000" i="1" baseline="-8000" dirty="0" err="1">
                <a:solidFill>
                  <a:schemeClr val="tx1"/>
                </a:solidFill>
              </a:rPr>
              <a:t>ijk</a:t>
            </a:r>
            <a:r>
              <a:rPr lang="pt-BR" sz="2000" dirty="0">
                <a:solidFill>
                  <a:schemeClr val="tx1"/>
                </a:solidFill>
              </a:rPr>
              <a:t> representando o valor da </a:t>
            </a:r>
            <a:r>
              <a:rPr lang="pt-BR" sz="2000" i="1" dirty="0">
                <a:solidFill>
                  <a:schemeClr val="tx1"/>
                </a:solidFill>
              </a:rPr>
              <a:t>j</a:t>
            </a:r>
            <a:r>
              <a:rPr lang="pt-BR" sz="2000" dirty="0">
                <a:solidFill>
                  <a:schemeClr val="tx1"/>
                </a:solidFill>
              </a:rPr>
              <a:t>-</a:t>
            </a:r>
            <a:r>
              <a:rPr lang="pt-BR" sz="2000" dirty="0" err="1">
                <a:solidFill>
                  <a:schemeClr val="tx1"/>
                </a:solidFill>
              </a:rPr>
              <a:t>ésima</a:t>
            </a:r>
            <a:r>
              <a:rPr lang="pt-BR" sz="2000" dirty="0">
                <a:solidFill>
                  <a:schemeClr val="tx1"/>
                </a:solidFill>
              </a:rPr>
              <a:t> variável independente, </a:t>
            </a:r>
            <a:r>
              <a:rPr lang="pt-BR" sz="2000" i="1" dirty="0">
                <a:solidFill>
                  <a:schemeClr val="tx1"/>
                </a:solidFill>
              </a:rPr>
              <a:t>j</a:t>
            </a:r>
            <a:r>
              <a:rPr lang="pt-BR" sz="2000" dirty="0">
                <a:solidFill>
                  <a:schemeClr val="tx1"/>
                </a:solidFill>
              </a:rPr>
              <a:t> = 1</a:t>
            </a:r>
            <a:r>
              <a:rPr lang="pt-BR" sz="2000" dirty="0" smtClean="0">
                <a:solidFill>
                  <a:schemeClr val="tx1"/>
                </a:solidFill>
              </a:rPr>
              <a:t>, ..., </a:t>
            </a:r>
            <a:r>
              <a:rPr lang="pt-BR" sz="2000" i="1" dirty="0" smtClean="0">
                <a:solidFill>
                  <a:schemeClr val="tx1"/>
                </a:solidFill>
              </a:rPr>
              <a:t>p</a:t>
            </a:r>
            <a:r>
              <a:rPr lang="pt-BR" sz="2000" dirty="0" smtClean="0">
                <a:solidFill>
                  <a:schemeClr val="tx1"/>
                </a:solidFill>
              </a:rPr>
              <a:t>, </a:t>
            </a:r>
            <a:r>
              <a:rPr lang="pt-BR" sz="2000" dirty="0">
                <a:solidFill>
                  <a:schemeClr val="tx1"/>
                </a:solidFill>
              </a:rPr>
              <a:t>para a </a:t>
            </a:r>
            <a:r>
              <a:rPr lang="pt-BR" sz="2000" i="1" dirty="0">
                <a:solidFill>
                  <a:schemeClr val="tx1"/>
                </a:solidFill>
              </a:rPr>
              <a:t>i</a:t>
            </a:r>
            <a:r>
              <a:rPr lang="pt-BR" sz="2000" dirty="0">
                <a:solidFill>
                  <a:schemeClr val="tx1"/>
                </a:solidFill>
              </a:rPr>
              <a:t>-</a:t>
            </a:r>
            <a:r>
              <a:rPr lang="pt-BR" sz="2000" dirty="0" err="1">
                <a:solidFill>
                  <a:schemeClr val="tx1"/>
                </a:solidFill>
              </a:rPr>
              <a:t>ésima</a:t>
            </a:r>
            <a:r>
              <a:rPr lang="pt-BR" sz="2000" dirty="0">
                <a:solidFill>
                  <a:schemeClr val="tx1"/>
                </a:solidFill>
              </a:rPr>
              <a:t> unidade amostral observada no </a:t>
            </a:r>
            <a:r>
              <a:rPr lang="pt-BR" sz="2000" i="1" dirty="0">
                <a:solidFill>
                  <a:schemeClr val="tx1"/>
                </a:solidFill>
              </a:rPr>
              <a:t>k</a:t>
            </a:r>
            <a:r>
              <a:rPr lang="pt-BR" sz="2000" dirty="0">
                <a:solidFill>
                  <a:schemeClr val="tx1"/>
                </a:solidFill>
              </a:rPr>
              <a:t>-</a:t>
            </a:r>
            <a:r>
              <a:rPr lang="pt-BR" sz="2000" dirty="0" err="1">
                <a:solidFill>
                  <a:schemeClr val="tx1"/>
                </a:solidFill>
              </a:rPr>
              <a:t>ésimo</a:t>
            </a:r>
            <a:r>
              <a:rPr lang="pt-BR" sz="2000" dirty="0">
                <a:solidFill>
                  <a:schemeClr val="tx1"/>
                </a:solidFill>
              </a:rPr>
              <a:t> instante, </a:t>
            </a:r>
            <a:r>
              <a:rPr lang="pt-BR" sz="2000" i="1" dirty="0">
                <a:solidFill>
                  <a:schemeClr val="tx1"/>
                </a:solidFill>
              </a:rPr>
              <a:t>k</a:t>
            </a:r>
            <a:r>
              <a:rPr lang="pt-BR" sz="2000" dirty="0">
                <a:solidFill>
                  <a:schemeClr val="tx1"/>
                </a:solidFill>
              </a:rPr>
              <a:t> = 1, ..., </a:t>
            </a:r>
            <a:r>
              <a:rPr lang="pt-BR" sz="2000" i="1" dirty="0">
                <a:solidFill>
                  <a:schemeClr val="tx1"/>
                </a:solidFill>
              </a:rPr>
              <a:t>m</a:t>
            </a:r>
            <a:r>
              <a:rPr lang="pt-BR" sz="2000" i="1" baseline="-8000" dirty="0" smtClean="0">
                <a:solidFill>
                  <a:schemeClr val="tx1"/>
                </a:solidFill>
              </a:rPr>
              <a:t>i</a:t>
            </a:r>
            <a:r>
              <a:rPr lang="pt-BR" sz="2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19</a:t>
            </a:fld>
            <a:r>
              <a:rPr lang="pt-BR" dirty="0" smtClean="0"/>
              <a:t> / </a:t>
            </a:r>
            <a:r>
              <a:rPr lang="pt-BR" dirty="0" smtClean="0"/>
              <a:t>44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463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4828" y="268378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Exemplo 1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080648"/>
            <a:ext cx="8520600" cy="2698510"/>
          </a:xfrm>
        </p:spPr>
        <p:txBody>
          <a:bodyPr>
            <a:normAutofit/>
          </a:bodyPr>
          <a:lstStyle/>
          <a:p>
            <a:pPr lvl="0" algn="just"/>
            <a:r>
              <a:rPr lang="pt-BR" dirty="0" smtClean="0">
                <a:solidFill>
                  <a:schemeClr val="tx1"/>
                </a:solidFill>
              </a:rPr>
              <a:t>Considere </a:t>
            </a:r>
            <a:r>
              <a:rPr lang="pt-BR" dirty="0" smtClean="0">
                <a:solidFill>
                  <a:schemeClr val="tx1"/>
                </a:solidFill>
              </a:rPr>
              <a:t>os F</a:t>
            </a:r>
            <a:r>
              <a:rPr lang="pt-BR" dirty="0" smtClean="0">
                <a:solidFill>
                  <a:schemeClr val="tx1"/>
                </a:solidFill>
              </a:rPr>
              <a:t>atores </a:t>
            </a:r>
            <a:r>
              <a:rPr lang="pt-BR" i="1" dirty="0">
                <a:solidFill>
                  <a:schemeClr val="tx1"/>
                </a:solidFill>
              </a:rPr>
              <a:t>X </a:t>
            </a:r>
            <a:r>
              <a:rPr lang="pt-BR" dirty="0" smtClean="0">
                <a:solidFill>
                  <a:schemeClr val="tx1"/>
                </a:solidFill>
              </a:rPr>
              <a:t>(0: Método de Ensino A;1: </a:t>
            </a:r>
            <a:r>
              <a:rPr lang="pt-BR" dirty="0">
                <a:solidFill>
                  <a:schemeClr val="tx1"/>
                </a:solidFill>
              </a:rPr>
              <a:t>Método de Ensino</a:t>
            </a:r>
            <a:r>
              <a:rPr lang="pt-BR" dirty="0" smtClean="0">
                <a:solidFill>
                  <a:schemeClr val="tx1"/>
                </a:solidFill>
              </a:rPr>
              <a:t> B) </a:t>
            </a:r>
            <a:r>
              <a:rPr lang="pt-BR" dirty="0" smtClean="0">
                <a:solidFill>
                  <a:schemeClr val="tx1"/>
                </a:solidFill>
              </a:rPr>
              <a:t>e </a:t>
            </a:r>
            <a:r>
              <a:rPr lang="pt-BR" i="1" dirty="0">
                <a:solidFill>
                  <a:schemeClr val="tx1"/>
                </a:solidFill>
              </a:rPr>
              <a:t>W </a:t>
            </a:r>
            <a:r>
              <a:rPr lang="pt-BR" dirty="0" smtClean="0">
                <a:solidFill>
                  <a:schemeClr val="tx1"/>
                </a:solidFill>
              </a:rPr>
              <a:t>(0 se feminino ; 1 se masculino)</a:t>
            </a:r>
            <a:r>
              <a:rPr lang="pt-BR" dirty="0" smtClean="0">
                <a:solidFill>
                  <a:schemeClr val="tx1"/>
                </a:solidFill>
              </a:rPr>
              <a:t>, </a:t>
            </a:r>
            <a:r>
              <a:rPr lang="pt-BR" dirty="0" smtClean="0">
                <a:solidFill>
                  <a:schemeClr val="tx1"/>
                </a:solidFill>
              </a:rPr>
              <a:t>e as variáveis contínuas </a:t>
            </a:r>
            <a:r>
              <a:rPr lang="pt-BR" i="1" dirty="0" smtClean="0">
                <a:solidFill>
                  <a:schemeClr val="tx1"/>
                </a:solidFill>
              </a:rPr>
              <a:t>V</a:t>
            </a:r>
            <a:r>
              <a:rPr lang="pt-BR" dirty="0" smtClean="0">
                <a:solidFill>
                  <a:schemeClr val="tx1"/>
                </a:solidFill>
              </a:rPr>
              <a:t> </a:t>
            </a:r>
            <a:r>
              <a:rPr lang="pt-BR" dirty="0" smtClean="0">
                <a:solidFill>
                  <a:schemeClr val="tx1"/>
                </a:solidFill>
              </a:rPr>
              <a:t>e </a:t>
            </a:r>
            <a:r>
              <a:rPr lang="pt-BR" i="1" dirty="0" smtClean="0">
                <a:solidFill>
                  <a:schemeClr val="tx1"/>
                </a:solidFill>
              </a:rPr>
              <a:t>Z, </a:t>
            </a:r>
            <a:r>
              <a:rPr lang="pt-BR" dirty="0" smtClean="0">
                <a:solidFill>
                  <a:schemeClr val="tx1"/>
                </a:solidFill>
              </a:rPr>
              <a:t>que indicam, respectivamente, a </a:t>
            </a:r>
            <a:r>
              <a:rPr lang="pt-BR" dirty="0">
                <a:solidFill>
                  <a:schemeClr val="tx1"/>
                </a:solidFill>
              </a:rPr>
              <a:t>idade </a:t>
            </a:r>
            <a:r>
              <a:rPr lang="pt-BR" dirty="0" smtClean="0">
                <a:solidFill>
                  <a:schemeClr val="tx1"/>
                </a:solidFill>
              </a:rPr>
              <a:t>e o número </a:t>
            </a:r>
            <a:r>
              <a:rPr lang="pt-BR" i="1" dirty="0" smtClean="0">
                <a:solidFill>
                  <a:schemeClr val="tx1"/>
                </a:solidFill>
              </a:rPr>
              <a:t>de </a:t>
            </a:r>
            <a:r>
              <a:rPr lang="pt-BR" i="1" dirty="0">
                <a:solidFill>
                  <a:schemeClr val="tx1"/>
                </a:solidFill>
              </a:rPr>
              <a:t>horas dedicadas ao estudo num certo </a:t>
            </a:r>
            <a:r>
              <a:rPr lang="pt-BR" i="1" dirty="0" smtClean="0">
                <a:solidFill>
                  <a:schemeClr val="tx1"/>
                </a:solidFill>
              </a:rPr>
              <a:t>período</a:t>
            </a:r>
            <a:r>
              <a:rPr lang="pt-BR" dirty="0" smtClean="0">
                <a:solidFill>
                  <a:schemeClr val="tx1"/>
                </a:solidFill>
              </a:rPr>
              <a:t>;</a:t>
            </a:r>
            <a:endParaRPr lang="pt-BR" dirty="0" smtClean="0">
              <a:solidFill>
                <a:schemeClr val="tx1"/>
              </a:solidFill>
            </a:endParaRPr>
          </a:p>
          <a:p>
            <a:pPr lvl="0" algn="just"/>
            <a:endParaRPr lang="pt-BR" dirty="0">
              <a:solidFill>
                <a:schemeClr val="tx1"/>
              </a:solidFill>
            </a:endParaRPr>
          </a:p>
          <a:p>
            <a:pPr lvl="0" algn="just"/>
            <a:r>
              <a:rPr lang="pt-BR" dirty="0" smtClean="0">
                <a:solidFill>
                  <a:schemeClr val="tx1"/>
                </a:solidFill>
              </a:rPr>
              <a:t>A matriz </a:t>
            </a:r>
            <a:r>
              <a:rPr lang="pt-BR" dirty="0">
                <a:solidFill>
                  <a:schemeClr val="tx1"/>
                </a:solidFill>
              </a:rPr>
              <a:t>associada a </a:t>
            </a:r>
            <a:r>
              <a:rPr lang="pt-BR" dirty="0" smtClean="0">
                <a:solidFill>
                  <a:schemeClr val="tx1"/>
                </a:solidFill>
              </a:rPr>
              <a:t>um indivíduo com </a:t>
            </a:r>
            <a:r>
              <a:rPr lang="pt-BR" dirty="0">
                <a:solidFill>
                  <a:schemeClr val="tx1"/>
                </a:solidFill>
              </a:rPr>
              <a:t>14 anos submetida ao </a:t>
            </a:r>
            <a:r>
              <a:rPr lang="pt-BR" dirty="0" smtClean="0">
                <a:solidFill>
                  <a:schemeClr val="tx1"/>
                </a:solidFill>
              </a:rPr>
              <a:t>método </a:t>
            </a:r>
            <a:r>
              <a:rPr lang="pt-BR" dirty="0">
                <a:solidFill>
                  <a:schemeClr val="tx1"/>
                </a:solidFill>
              </a:rPr>
              <a:t>de ensino B </a:t>
            </a:r>
            <a:r>
              <a:rPr lang="pt-BR" dirty="0" smtClean="0">
                <a:solidFill>
                  <a:schemeClr val="tx1"/>
                </a:solidFill>
              </a:rPr>
              <a:t>é</a:t>
            </a:r>
          </a:p>
          <a:p>
            <a:pPr lvl="0" algn="just"/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20</a:t>
            </a:fld>
            <a:r>
              <a:rPr lang="pt-BR" dirty="0" smtClean="0"/>
              <a:t> / </a:t>
            </a:r>
            <a:r>
              <a:rPr lang="pt-BR" dirty="0" smtClean="0"/>
              <a:t>44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236" y="3283527"/>
            <a:ext cx="3260717" cy="13915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4054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1700" y="320333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Observação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246910"/>
            <a:ext cx="8520600" cy="3231573"/>
          </a:xfrm>
        </p:spPr>
        <p:txBody>
          <a:bodyPr>
            <a:normAutofit fontScale="85000" lnSpcReduction="20000"/>
          </a:bodyPr>
          <a:lstStyle/>
          <a:p>
            <a:pPr marL="114300" lvl="0" indent="0" algn="just">
              <a:buNone/>
            </a:pPr>
            <a:r>
              <a:rPr lang="pt-BR" sz="2200" dirty="0">
                <a:solidFill>
                  <a:schemeClr val="tx1"/>
                </a:solidFill>
              </a:rPr>
              <a:t>É</a:t>
            </a:r>
            <a:r>
              <a:rPr lang="pt-BR" sz="2200" dirty="0" smtClean="0">
                <a:solidFill>
                  <a:schemeClr val="tx1"/>
                </a:solidFill>
              </a:rPr>
              <a:t> comum concatenar </a:t>
            </a:r>
            <a:r>
              <a:rPr lang="pt-BR" sz="2200" dirty="0">
                <a:solidFill>
                  <a:schemeClr val="tx1"/>
                </a:solidFill>
              </a:rPr>
              <a:t>os perfis de resposta e as matrizes de </a:t>
            </a:r>
            <a:r>
              <a:rPr lang="pt-BR" sz="2200" dirty="0" smtClean="0">
                <a:solidFill>
                  <a:schemeClr val="tx1"/>
                </a:solidFill>
              </a:rPr>
              <a:t>variáveis </a:t>
            </a:r>
            <a:r>
              <a:rPr lang="pt-BR" sz="2200" dirty="0">
                <a:solidFill>
                  <a:schemeClr val="tx1"/>
                </a:solidFill>
              </a:rPr>
              <a:t>explicativas </a:t>
            </a:r>
            <a:r>
              <a:rPr lang="pt-BR" sz="2200" dirty="0" smtClean="0">
                <a:solidFill>
                  <a:schemeClr val="tx1"/>
                </a:solidFill>
              </a:rPr>
              <a:t>individuais, </a:t>
            </a:r>
            <a:r>
              <a:rPr lang="pt-BR" sz="2200" dirty="0">
                <a:solidFill>
                  <a:schemeClr val="tx1"/>
                </a:solidFill>
              </a:rPr>
              <a:t>respectivamente, na forma de um </a:t>
            </a:r>
            <a:r>
              <a:rPr lang="pt-BR" sz="2200" dirty="0" smtClean="0">
                <a:solidFill>
                  <a:schemeClr val="tx1"/>
                </a:solidFill>
              </a:rPr>
              <a:t>vetor </a:t>
            </a:r>
          </a:p>
          <a:p>
            <a:pPr marL="114300" lvl="0" indent="0" algn="just">
              <a:buNone/>
            </a:pPr>
            <a:endParaRPr lang="pt-BR" sz="2200" dirty="0" smtClean="0">
              <a:solidFill>
                <a:schemeClr val="tx1"/>
              </a:solidFill>
            </a:endParaRPr>
          </a:p>
          <a:p>
            <a:pPr lvl="0" algn="just"/>
            <a:endParaRPr lang="pt-BR" sz="2200" dirty="0" smtClean="0">
              <a:solidFill>
                <a:schemeClr val="tx1"/>
              </a:solidFill>
            </a:endParaRPr>
          </a:p>
          <a:p>
            <a:pPr marL="114300" lvl="0" indent="0" algn="ctr">
              <a:buNone/>
            </a:pPr>
            <a:r>
              <a:rPr lang="pt-BR" sz="2200" b="1" i="1" dirty="0" smtClean="0">
                <a:solidFill>
                  <a:schemeClr val="tx1"/>
                </a:solidFill>
              </a:rPr>
              <a:t>y</a:t>
            </a:r>
            <a:r>
              <a:rPr lang="pt-BR" sz="2200" dirty="0" smtClean="0">
                <a:solidFill>
                  <a:schemeClr val="tx1"/>
                </a:solidFill>
              </a:rPr>
              <a:t> </a:t>
            </a:r>
            <a:r>
              <a:rPr lang="pt-BR" sz="2200" dirty="0">
                <a:solidFill>
                  <a:schemeClr val="tx1"/>
                </a:solidFill>
              </a:rPr>
              <a:t>= (</a:t>
            </a:r>
            <a:r>
              <a:rPr lang="pt-BR" sz="2200" b="1" i="1" dirty="0">
                <a:solidFill>
                  <a:schemeClr val="tx1"/>
                </a:solidFill>
              </a:rPr>
              <a:t>y</a:t>
            </a:r>
            <a:r>
              <a:rPr lang="pt-BR" sz="2200" i="1" baseline="-8000" dirty="0">
                <a:solidFill>
                  <a:schemeClr val="tx1"/>
                </a:solidFill>
              </a:rPr>
              <a:t>1</a:t>
            </a:r>
            <a:r>
              <a:rPr lang="pt-BR" sz="2200" i="1" baseline="33000" dirty="0">
                <a:solidFill>
                  <a:schemeClr val="tx1"/>
                </a:solidFill>
              </a:rPr>
              <a:t>T</a:t>
            </a:r>
            <a:r>
              <a:rPr lang="pt-BR" sz="2200" dirty="0">
                <a:solidFill>
                  <a:schemeClr val="tx1"/>
                </a:solidFill>
              </a:rPr>
              <a:t>, ..., </a:t>
            </a:r>
            <a:r>
              <a:rPr lang="pt-BR" sz="2200" b="1" i="1" dirty="0" err="1" smtClean="0">
                <a:solidFill>
                  <a:schemeClr val="tx1"/>
                </a:solidFill>
              </a:rPr>
              <a:t>y</a:t>
            </a:r>
            <a:r>
              <a:rPr lang="pt-BR" sz="2200" i="1" baseline="-8000" dirty="0" err="1" smtClean="0">
                <a:solidFill>
                  <a:schemeClr val="tx1"/>
                </a:solidFill>
              </a:rPr>
              <a:t>n</a:t>
            </a:r>
            <a:r>
              <a:rPr lang="pt-BR" sz="2200" i="1" baseline="33000" dirty="0" err="1" smtClean="0">
                <a:solidFill>
                  <a:schemeClr val="tx1"/>
                </a:solidFill>
              </a:rPr>
              <a:t>T</a:t>
            </a:r>
            <a:r>
              <a:rPr lang="pt-BR" sz="2200" dirty="0" smtClean="0">
                <a:solidFill>
                  <a:schemeClr val="tx1"/>
                </a:solidFill>
              </a:rPr>
              <a:t>)</a:t>
            </a:r>
            <a:r>
              <a:rPr lang="pt-BR" sz="2200" baseline="33000" dirty="0" smtClean="0">
                <a:solidFill>
                  <a:schemeClr val="tx1"/>
                </a:solidFill>
              </a:rPr>
              <a:t>T</a:t>
            </a:r>
          </a:p>
          <a:p>
            <a:pPr marL="114300" lvl="0" indent="0" algn="ctr">
              <a:buNone/>
            </a:pPr>
            <a:endParaRPr lang="pt-BR" sz="2200" baseline="33000" dirty="0">
              <a:solidFill>
                <a:schemeClr val="tx1"/>
              </a:solidFill>
            </a:endParaRPr>
          </a:p>
          <a:p>
            <a:pPr marL="114300" lvl="0" indent="0" algn="ctr">
              <a:buNone/>
            </a:pPr>
            <a:endParaRPr lang="pt-BR" sz="2200" baseline="33000" dirty="0" smtClean="0">
              <a:solidFill>
                <a:schemeClr val="tx1"/>
              </a:solidFill>
            </a:endParaRPr>
          </a:p>
          <a:p>
            <a:pPr lvl="0" algn="just"/>
            <a:endParaRPr lang="pt-BR" sz="2200" dirty="0">
              <a:solidFill>
                <a:schemeClr val="tx1"/>
              </a:solidFill>
            </a:endParaRPr>
          </a:p>
          <a:p>
            <a:pPr marL="114300" lvl="0" indent="0" algn="just">
              <a:buNone/>
            </a:pPr>
            <a:r>
              <a:rPr lang="pt-BR" sz="2200" dirty="0" smtClean="0">
                <a:solidFill>
                  <a:schemeClr val="tx1"/>
                </a:solidFill>
              </a:rPr>
              <a:t>e de uma matriz</a:t>
            </a:r>
            <a:endParaRPr lang="pt-BR" sz="2200" dirty="0">
              <a:solidFill>
                <a:schemeClr val="tx1"/>
              </a:solidFill>
            </a:endParaRPr>
          </a:p>
          <a:p>
            <a:pPr marL="114300" lvl="0" indent="0" algn="ctr">
              <a:buNone/>
            </a:pPr>
            <a:endParaRPr lang="pt-BR" sz="2200" baseline="33000" dirty="0" smtClean="0">
              <a:solidFill>
                <a:schemeClr val="tx1"/>
              </a:solidFill>
            </a:endParaRPr>
          </a:p>
          <a:p>
            <a:pPr marL="114300" lvl="0" indent="0" algn="ctr">
              <a:buNone/>
            </a:pPr>
            <a:endParaRPr lang="pt-BR" sz="2200" baseline="33000" dirty="0">
              <a:solidFill>
                <a:schemeClr val="tx1"/>
              </a:solidFill>
            </a:endParaRPr>
          </a:p>
          <a:p>
            <a:pPr marL="114300" lvl="0" indent="0" algn="ctr">
              <a:buNone/>
            </a:pPr>
            <a:r>
              <a:rPr lang="pt-BR" sz="2200" b="1" dirty="0" smtClean="0">
                <a:solidFill>
                  <a:schemeClr val="tx1"/>
                </a:solidFill>
              </a:rPr>
              <a:t>   X</a:t>
            </a:r>
            <a:r>
              <a:rPr lang="pt-BR" sz="2200" dirty="0" smtClean="0">
                <a:solidFill>
                  <a:schemeClr val="tx1"/>
                </a:solidFill>
              </a:rPr>
              <a:t> </a:t>
            </a:r>
            <a:r>
              <a:rPr lang="pt-BR" sz="2200" dirty="0">
                <a:solidFill>
                  <a:schemeClr val="tx1"/>
                </a:solidFill>
              </a:rPr>
              <a:t>= (</a:t>
            </a:r>
            <a:r>
              <a:rPr lang="pt-BR" sz="2200" b="1" i="1" dirty="0">
                <a:solidFill>
                  <a:schemeClr val="tx1"/>
                </a:solidFill>
              </a:rPr>
              <a:t>X</a:t>
            </a:r>
            <a:r>
              <a:rPr lang="pt-BR" sz="2200" i="1" baseline="-8000" dirty="0">
                <a:solidFill>
                  <a:schemeClr val="tx1"/>
                </a:solidFill>
              </a:rPr>
              <a:t>1</a:t>
            </a:r>
            <a:r>
              <a:rPr lang="pt-BR" sz="2200" baseline="33000" dirty="0">
                <a:solidFill>
                  <a:schemeClr val="tx1"/>
                </a:solidFill>
              </a:rPr>
              <a:t>T</a:t>
            </a:r>
            <a:r>
              <a:rPr lang="pt-BR" sz="2200" dirty="0">
                <a:solidFill>
                  <a:schemeClr val="tx1"/>
                </a:solidFill>
              </a:rPr>
              <a:t>, …, </a:t>
            </a:r>
            <a:r>
              <a:rPr lang="pt-BR" sz="2200" b="1" i="1" dirty="0" err="1" smtClean="0">
                <a:solidFill>
                  <a:schemeClr val="tx1"/>
                </a:solidFill>
              </a:rPr>
              <a:t>X</a:t>
            </a:r>
            <a:r>
              <a:rPr lang="pt-BR" sz="2200" i="1" baseline="-8000" dirty="0" err="1" smtClean="0">
                <a:solidFill>
                  <a:schemeClr val="tx1"/>
                </a:solidFill>
              </a:rPr>
              <a:t>n</a:t>
            </a:r>
            <a:r>
              <a:rPr lang="pt-BR" sz="2200" baseline="33000" dirty="0" err="1" smtClean="0">
                <a:solidFill>
                  <a:schemeClr val="tx1"/>
                </a:solidFill>
              </a:rPr>
              <a:t>T</a:t>
            </a:r>
            <a:r>
              <a:rPr lang="pt-BR" sz="2200" dirty="0" smtClean="0">
                <a:solidFill>
                  <a:schemeClr val="tx1"/>
                </a:solidFill>
              </a:rPr>
              <a:t>)</a:t>
            </a:r>
            <a:r>
              <a:rPr lang="pt-BR" sz="2200" baseline="33000" dirty="0" smtClean="0">
                <a:solidFill>
                  <a:schemeClr val="tx1"/>
                </a:solidFill>
              </a:rPr>
              <a:t>T</a:t>
            </a:r>
            <a:r>
              <a:rPr lang="pt-BR" sz="2200" dirty="0" smtClean="0">
                <a:solidFill>
                  <a:schemeClr val="tx1"/>
                </a:solidFill>
              </a:rPr>
              <a:t>.</a:t>
            </a:r>
            <a:endParaRPr lang="pt-BR" sz="2200" dirty="0">
              <a:solidFill>
                <a:schemeClr val="tx1"/>
              </a:solidFill>
            </a:endParaRPr>
          </a:p>
          <a:p>
            <a:pPr lvl="0"/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21</a:t>
            </a:fld>
            <a:r>
              <a:rPr lang="pt-BR" dirty="0" smtClean="0"/>
              <a:t> / </a:t>
            </a:r>
            <a:r>
              <a:rPr lang="pt-BR" dirty="0" smtClean="0"/>
              <a:t>44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08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620980"/>
            <a:ext cx="8520600" cy="2698510"/>
          </a:xfrm>
        </p:spPr>
        <p:txBody>
          <a:bodyPr>
            <a:normAutofit/>
          </a:bodyPr>
          <a:lstStyle/>
          <a:p>
            <a:pPr marL="114300" lvl="0" indent="0" algn="just">
              <a:buNone/>
            </a:pPr>
            <a:r>
              <a:rPr lang="pt-BR" dirty="0">
                <a:solidFill>
                  <a:schemeClr val="tx1"/>
                </a:solidFill>
              </a:rPr>
              <a:t>Quando o esquema de coleta de dados determina que todas as unidades amostrais devem ser observadas nos mesmos instantes (igualmente espaçados ou não), dizemos que o </a:t>
            </a:r>
            <a:r>
              <a:rPr lang="pt-BR" b="1" dirty="0">
                <a:solidFill>
                  <a:schemeClr val="tx1"/>
                </a:solidFill>
              </a:rPr>
              <a:t>planejamento é balanceado com relação ao tempo</a:t>
            </a:r>
            <a:r>
              <a:rPr lang="pt-BR" dirty="0">
                <a:solidFill>
                  <a:schemeClr val="tx1"/>
                </a:solidFill>
              </a:rPr>
              <a:t>.</a:t>
            </a:r>
          </a:p>
          <a:p>
            <a:pPr lvl="0"/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22</a:t>
            </a:fld>
            <a:r>
              <a:rPr lang="pt-BR" dirty="0" smtClean="0"/>
              <a:t> / </a:t>
            </a:r>
            <a:r>
              <a:rPr lang="pt-BR" dirty="0" smtClean="0"/>
              <a:t>44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5343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652153"/>
            <a:ext cx="8520600" cy="2698510"/>
          </a:xfrm>
        </p:spPr>
        <p:txBody>
          <a:bodyPr>
            <a:normAutofit/>
          </a:bodyPr>
          <a:lstStyle/>
          <a:p>
            <a:pPr marL="114300" lvl="0" indent="0" algn="just">
              <a:buNone/>
            </a:pPr>
            <a:r>
              <a:rPr lang="pt-BR" dirty="0">
                <a:solidFill>
                  <a:schemeClr val="tx1"/>
                </a:solidFill>
              </a:rPr>
              <a:t>Quando os dados </a:t>
            </a:r>
            <a:r>
              <a:rPr lang="pt-BR" dirty="0" smtClean="0">
                <a:solidFill>
                  <a:schemeClr val="tx1"/>
                </a:solidFill>
              </a:rPr>
              <a:t>são </a:t>
            </a:r>
            <a:r>
              <a:rPr lang="pt-BR" dirty="0">
                <a:solidFill>
                  <a:schemeClr val="tx1"/>
                </a:solidFill>
              </a:rPr>
              <a:t>balanceados em </a:t>
            </a:r>
            <a:r>
              <a:rPr lang="pt-BR" dirty="0" smtClean="0">
                <a:solidFill>
                  <a:schemeClr val="tx1"/>
                </a:solidFill>
              </a:rPr>
              <a:t>relação </a:t>
            </a:r>
            <a:r>
              <a:rPr lang="pt-BR" dirty="0">
                <a:solidFill>
                  <a:schemeClr val="tx1"/>
                </a:solidFill>
              </a:rPr>
              <a:t>ao tempo (com </a:t>
            </a:r>
            <a:r>
              <a:rPr lang="pt-BR" i="1" dirty="0">
                <a:solidFill>
                  <a:schemeClr val="tx1"/>
                </a:solidFill>
              </a:rPr>
              <a:t>m</a:t>
            </a:r>
            <a:r>
              <a:rPr lang="pt-BR" i="1" baseline="-25000" dirty="0">
                <a:solidFill>
                  <a:schemeClr val="tx1"/>
                </a:solidFill>
              </a:rPr>
              <a:t>i</a:t>
            </a:r>
            <a:r>
              <a:rPr lang="pt-BR" dirty="0">
                <a:solidFill>
                  <a:schemeClr val="tx1"/>
                </a:solidFill>
              </a:rPr>
              <a:t> = </a:t>
            </a:r>
            <a:r>
              <a:rPr lang="pt-BR" i="1" dirty="0">
                <a:solidFill>
                  <a:schemeClr val="tx1"/>
                </a:solidFill>
              </a:rPr>
              <a:t>m</a:t>
            </a:r>
            <a:r>
              <a:rPr lang="pt-BR" dirty="0">
                <a:solidFill>
                  <a:schemeClr val="tx1"/>
                </a:solidFill>
              </a:rPr>
              <a:t>) e </a:t>
            </a:r>
            <a:r>
              <a:rPr lang="pt-BR" dirty="0" smtClean="0">
                <a:solidFill>
                  <a:schemeClr val="tx1"/>
                </a:solidFill>
              </a:rPr>
              <a:t>não há </a:t>
            </a:r>
            <a:r>
              <a:rPr lang="pt-BR" dirty="0" err="1" smtClean="0">
                <a:solidFill>
                  <a:schemeClr val="tx1"/>
                </a:solidFill>
              </a:rPr>
              <a:t>covariáveis</a:t>
            </a:r>
            <a:r>
              <a:rPr lang="pt-BR" dirty="0" smtClean="0">
                <a:solidFill>
                  <a:schemeClr val="tx1"/>
                </a:solidFill>
              </a:rPr>
              <a:t> contínuas e nem </a:t>
            </a:r>
            <a:r>
              <a:rPr lang="pt-BR" dirty="0" err="1" smtClean="0">
                <a:solidFill>
                  <a:schemeClr val="tx1"/>
                </a:solidFill>
              </a:rPr>
              <a:t>covariáveis</a:t>
            </a:r>
            <a:r>
              <a:rPr lang="pt-BR" dirty="0" smtClean="0">
                <a:solidFill>
                  <a:schemeClr val="tx1"/>
                </a:solidFill>
              </a:rPr>
              <a:t> </a:t>
            </a:r>
            <a:r>
              <a:rPr lang="pt-BR" dirty="0">
                <a:solidFill>
                  <a:schemeClr val="tx1"/>
                </a:solidFill>
              </a:rPr>
              <a:t>dependentes do tempo, </a:t>
            </a:r>
            <a:r>
              <a:rPr lang="pt-BR" dirty="0" smtClean="0">
                <a:solidFill>
                  <a:schemeClr val="tx1"/>
                </a:solidFill>
              </a:rPr>
              <a:t>também é possível apresentá-los no </a:t>
            </a:r>
            <a:r>
              <a:rPr lang="pt-BR" dirty="0">
                <a:solidFill>
                  <a:schemeClr val="tx1"/>
                </a:solidFill>
              </a:rPr>
              <a:t>formato da Tabela </a:t>
            </a:r>
            <a:r>
              <a:rPr lang="pt-BR" dirty="0" smtClean="0">
                <a:solidFill>
                  <a:schemeClr val="tx1"/>
                </a:solidFill>
              </a:rPr>
              <a:t>2.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23</a:t>
            </a:fld>
            <a:r>
              <a:rPr lang="pt-BR" dirty="0" smtClean="0"/>
              <a:t> / </a:t>
            </a:r>
            <a:r>
              <a:rPr lang="pt-BR" dirty="0" smtClean="0"/>
              <a:t>44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6871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24</a:t>
            </a:fld>
            <a:r>
              <a:rPr lang="pt-BR" dirty="0" smtClean="0"/>
              <a:t> / </a:t>
            </a:r>
            <a:r>
              <a:rPr lang="pt-BR" dirty="0" smtClean="0"/>
              <a:t>44</a:t>
            </a:r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464" y="51954"/>
            <a:ext cx="3470563" cy="4747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8" name="Google Shape;93;p17"/>
          <p:cNvSpPr txBox="1">
            <a:spLocks noGrp="1"/>
          </p:cNvSpPr>
          <p:nvPr>
            <p:ph type="body" idx="1"/>
          </p:nvPr>
        </p:nvSpPr>
        <p:spPr>
          <a:xfrm>
            <a:off x="236661" y="316840"/>
            <a:ext cx="9351080" cy="7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buNone/>
            </a:pPr>
            <a:r>
              <a:rPr lang="pt-BR" sz="1600" b="1" dirty="0">
                <a:solidFill>
                  <a:schemeClr val="accent1"/>
                </a:solidFill>
              </a:rPr>
              <a:t>Tabela </a:t>
            </a:r>
            <a:r>
              <a:rPr lang="pt-BR" sz="1600" b="1" dirty="0" smtClean="0">
                <a:solidFill>
                  <a:schemeClr val="accent1"/>
                </a:solidFill>
              </a:rPr>
              <a:t>2: </a:t>
            </a:r>
            <a:r>
              <a:rPr lang="pt-BR" sz="1600" dirty="0"/>
              <a:t>Estrutura para disposição de dados </a:t>
            </a:r>
            <a:endParaRPr lang="pt-BR" sz="1600" dirty="0" smtClean="0"/>
          </a:p>
          <a:p>
            <a:pPr marL="0" lvl="0" indent="0" algn="just">
              <a:buNone/>
            </a:pPr>
            <a:r>
              <a:rPr lang="pt-BR" sz="1600" dirty="0" smtClean="0"/>
              <a:t>longitudinais </a:t>
            </a:r>
            <a:r>
              <a:rPr lang="pt-BR" sz="1600" dirty="0"/>
              <a:t>balanceados em relação ao tempo</a:t>
            </a:r>
            <a:r>
              <a:rPr lang="pt-BR" sz="1600" dirty="0" smtClean="0"/>
              <a:t>.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6" name="Google Shape;96;p17"/>
          <p:cNvSpPr txBox="1">
            <a:spLocks/>
          </p:cNvSpPr>
          <p:nvPr/>
        </p:nvSpPr>
        <p:spPr>
          <a:xfrm>
            <a:off x="342849" y="1571698"/>
            <a:ext cx="4234964" cy="7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pt-BR" sz="1200" b="1" dirty="0" smtClean="0">
                <a:solidFill>
                  <a:schemeClr val="dk1"/>
                </a:solidFill>
              </a:rPr>
              <a:t>Fonte: </a:t>
            </a:r>
            <a:r>
              <a:rPr lang="pt-BR" sz="1200" dirty="0" smtClean="0">
                <a:solidFill>
                  <a:schemeClr val="dk1"/>
                </a:solidFill>
              </a:rPr>
              <a:t>https://www.ime.usp.br/~jmsinger/MAE0610/Singer&amp;Nobre&amp;Rocha2018jun.pdf</a:t>
            </a:r>
            <a:endParaRPr lang="pt-BR" sz="14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6744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53264" y="299551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Exemplo 2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122211"/>
            <a:ext cx="8520600" cy="3304315"/>
          </a:xfrm>
        </p:spPr>
        <p:txBody>
          <a:bodyPr>
            <a:normAutofit fontScale="92500" lnSpcReduction="20000"/>
          </a:bodyPr>
          <a:lstStyle/>
          <a:p>
            <a:pPr marL="93663" lvl="0" indent="-11113" algn="just">
              <a:buNone/>
            </a:pPr>
            <a:r>
              <a:rPr lang="pt-BR" sz="2200" dirty="0" smtClean="0">
                <a:solidFill>
                  <a:schemeClr val="tx1"/>
                </a:solidFill>
              </a:rPr>
              <a:t>Considere que o fator </a:t>
            </a:r>
            <a:r>
              <a:rPr lang="pt-BR" sz="2200" i="1" dirty="0" smtClean="0">
                <a:solidFill>
                  <a:schemeClr val="tx1"/>
                </a:solidFill>
              </a:rPr>
              <a:t>X</a:t>
            </a:r>
            <a:r>
              <a:rPr lang="pt-BR" sz="2200" dirty="0" smtClean="0">
                <a:solidFill>
                  <a:schemeClr val="tx1"/>
                </a:solidFill>
              </a:rPr>
              <a:t> possui três níveis e o fator </a:t>
            </a:r>
            <a:r>
              <a:rPr lang="pt-BR" sz="2200" i="1" dirty="0" smtClean="0">
                <a:solidFill>
                  <a:schemeClr val="tx1"/>
                </a:solidFill>
              </a:rPr>
              <a:t>W</a:t>
            </a:r>
            <a:r>
              <a:rPr lang="pt-BR" sz="2200" dirty="0" smtClean="0">
                <a:solidFill>
                  <a:schemeClr val="tx1"/>
                </a:solidFill>
              </a:rPr>
              <a:t>, dois níveis</a:t>
            </a:r>
            <a:r>
              <a:rPr lang="pt-BR" sz="2200" dirty="0" smtClean="0">
                <a:solidFill>
                  <a:schemeClr val="tx1"/>
                </a:solidFill>
              </a:rPr>
              <a:t>. Então, </a:t>
            </a:r>
            <a:r>
              <a:rPr lang="pt-BR" sz="2200" i="1" dirty="0" err="1">
                <a:solidFill>
                  <a:schemeClr val="tx1"/>
                </a:solidFill>
              </a:rPr>
              <a:t>y</a:t>
            </a:r>
            <a:r>
              <a:rPr lang="pt-BR" sz="2200" i="1" baseline="-25000" dirty="0" err="1" smtClean="0">
                <a:solidFill>
                  <a:schemeClr val="tx1"/>
                </a:solidFill>
              </a:rPr>
              <a:t>hijk</a:t>
            </a:r>
            <a:r>
              <a:rPr lang="pt-BR" sz="2200" dirty="0" smtClean="0">
                <a:solidFill>
                  <a:schemeClr val="tx1"/>
                </a:solidFill>
              </a:rPr>
              <a:t> corresponde ao valor da variável </a:t>
            </a:r>
            <a:r>
              <a:rPr lang="pt-BR" sz="2200" dirty="0">
                <a:solidFill>
                  <a:schemeClr val="tx1"/>
                </a:solidFill>
              </a:rPr>
              <a:t>resposta para</a:t>
            </a:r>
            <a:r>
              <a:rPr lang="pt-BR" sz="2200" i="1" dirty="0">
                <a:solidFill>
                  <a:schemeClr val="tx1"/>
                </a:solidFill>
              </a:rPr>
              <a:t> </a:t>
            </a:r>
            <a:r>
              <a:rPr lang="pt-BR" sz="2200" i="1" dirty="0" smtClean="0">
                <a:solidFill>
                  <a:schemeClr val="tx1"/>
                </a:solidFill>
              </a:rPr>
              <a:t>j</a:t>
            </a:r>
            <a:r>
              <a:rPr lang="pt-BR" sz="2200" dirty="0" smtClean="0">
                <a:solidFill>
                  <a:schemeClr val="tx1"/>
                </a:solidFill>
              </a:rPr>
              <a:t>-</a:t>
            </a:r>
            <a:r>
              <a:rPr lang="pt-BR" sz="2200" dirty="0" err="1">
                <a:solidFill>
                  <a:schemeClr val="tx1"/>
                </a:solidFill>
              </a:rPr>
              <a:t>é</a:t>
            </a:r>
            <a:r>
              <a:rPr lang="pt-BR" sz="2200" dirty="0" err="1" smtClean="0">
                <a:solidFill>
                  <a:schemeClr val="tx1"/>
                </a:solidFill>
              </a:rPr>
              <a:t>sima</a:t>
            </a:r>
            <a:r>
              <a:rPr lang="pt-BR" sz="2200" dirty="0" smtClean="0">
                <a:solidFill>
                  <a:schemeClr val="tx1"/>
                </a:solidFill>
              </a:rPr>
              <a:t> </a:t>
            </a:r>
            <a:r>
              <a:rPr lang="pt-BR" sz="2200" dirty="0">
                <a:solidFill>
                  <a:schemeClr val="tx1"/>
                </a:solidFill>
              </a:rPr>
              <a:t>unidade amostral submetida ao </a:t>
            </a:r>
            <a:r>
              <a:rPr lang="pt-BR" sz="2200" i="1" dirty="0" smtClean="0">
                <a:solidFill>
                  <a:schemeClr val="tx1"/>
                </a:solidFill>
              </a:rPr>
              <a:t>h</a:t>
            </a:r>
            <a:r>
              <a:rPr lang="pt-BR" sz="2200" dirty="0" smtClean="0">
                <a:solidFill>
                  <a:schemeClr val="tx1"/>
                </a:solidFill>
              </a:rPr>
              <a:t>-</a:t>
            </a:r>
            <a:r>
              <a:rPr lang="pt-BR" sz="2200" dirty="0" err="1">
                <a:solidFill>
                  <a:schemeClr val="tx1"/>
                </a:solidFill>
              </a:rPr>
              <a:t>é</a:t>
            </a:r>
            <a:r>
              <a:rPr lang="pt-BR" sz="2200" dirty="0" err="1" smtClean="0">
                <a:solidFill>
                  <a:schemeClr val="tx1"/>
                </a:solidFill>
              </a:rPr>
              <a:t>simo</a:t>
            </a:r>
            <a:r>
              <a:rPr lang="pt-BR" sz="2200" dirty="0" smtClean="0">
                <a:solidFill>
                  <a:schemeClr val="tx1"/>
                </a:solidFill>
              </a:rPr>
              <a:t> nível do fator </a:t>
            </a:r>
            <a:r>
              <a:rPr lang="pt-BR" sz="2200" i="1" dirty="0">
                <a:solidFill>
                  <a:schemeClr val="tx1"/>
                </a:solidFill>
              </a:rPr>
              <a:t>X</a:t>
            </a:r>
            <a:r>
              <a:rPr lang="pt-BR" sz="2200" dirty="0">
                <a:solidFill>
                  <a:schemeClr val="tx1"/>
                </a:solidFill>
              </a:rPr>
              <a:t>, </a:t>
            </a:r>
            <a:r>
              <a:rPr lang="pt-BR" sz="2200" i="1" dirty="0" smtClean="0">
                <a:solidFill>
                  <a:schemeClr val="tx1"/>
                </a:solidFill>
              </a:rPr>
              <a:t>i</a:t>
            </a:r>
            <a:r>
              <a:rPr lang="pt-BR" sz="2200" dirty="0" smtClean="0">
                <a:solidFill>
                  <a:schemeClr val="tx1"/>
                </a:solidFill>
              </a:rPr>
              <a:t>-</a:t>
            </a:r>
            <a:r>
              <a:rPr lang="pt-BR" sz="2200" dirty="0" err="1">
                <a:solidFill>
                  <a:schemeClr val="tx1"/>
                </a:solidFill>
              </a:rPr>
              <a:t>é</a:t>
            </a:r>
            <a:r>
              <a:rPr lang="pt-BR" sz="2200" dirty="0" err="1" smtClean="0">
                <a:solidFill>
                  <a:schemeClr val="tx1"/>
                </a:solidFill>
              </a:rPr>
              <a:t>simo</a:t>
            </a:r>
            <a:r>
              <a:rPr lang="pt-BR" sz="2200" dirty="0" smtClean="0">
                <a:solidFill>
                  <a:schemeClr val="tx1"/>
                </a:solidFill>
              </a:rPr>
              <a:t> nível </a:t>
            </a:r>
            <a:r>
              <a:rPr lang="pt-BR" sz="2200" dirty="0">
                <a:solidFill>
                  <a:schemeClr val="tx1"/>
                </a:solidFill>
              </a:rPr>
              <a:t>do fator </a:t>
            </a:r>
            <a:r>
              <a:rPr lang="pt-BR" sz="2200" i="1" dirty="0">
                <a:solidFill>
                  <a:schemeClr val="tx1"/>
                </a:solidFill>
              </a:rPr>
              <a:t>W</a:t>
            </a:r>
            <a:r>
              <a:rPr lang="pt-BR" sz="2200" dirty="0">
                <a:solidFill>
                  <a:schemeClr val="tx1"/>
                </a:solidFill>
              </a:rPr>
              <a:t> no tempo </a:t>
            </a:r>
            <a:r>
              <a:rPr lang="pt-BR" sz="2200" i="1" dirty="0">
                <a:solidFill>
                  <a:schemeClr val="tx1"/>
                </a:solidFill>
              </a:rPr>
              <a:t>k</a:t>
            </a:r>
            <a:r>
              <a:rPr lang="pt-BR" sz="2200" dirty="0">
                <a:solidFill>
                  <a:schemeClr val="tx1"/>
                </a:solidFill>
              </a:rPr>
              <a:t>, </a:t>
            </a:r>
            <a:r>
              <a:rPr lang="pt-BR" sz="2200" i="1" dirty="0">
                <a:solidFill>
                  <a:schemeClr val="tx1"/>
                </a:solidFill>
              </a:rPr>
              <a:t>h</a:t>
            </a:r>
            <a:r>
              <a:rPr lang="pt-BR" sz="2200" dirty="0">
                <a:solidFill>
                  <a:schemeClr val="tx1"/>
                </a:solidFill>
              </a:rPr>
              <a:t> = 1, </a:t>
            </a:r>
            <a:r>
              <a:rPr lang="pt-BR" sz="2200" dirty="0" smtClean="0">
                <a:solidFill>
                  <a:schemeClr val="tx1"/>
                </a:solidFill>
              </a:rPr>
              <a:t>2, 3</a:t>
            </a:r>
            <a:r>
              <a:rPr lang="pt-BR" sz="2200" dirty="0">
                <a:solidFill>
                  <a:schemeClr val="tx1"/>
                </a:solidFill>
              </a:rPr>
              <a:t>, </a:t>
            </a:r>
            <a:r>
              <a:rPr lang="pt-BR" sz="2200" i="1" dirty="0">
                <a:solidFill>
                  <a:schemeClr val="tx1"/>
                </a:solidFill>
              </a:rPr>
              <a:t>i</a:t>
            </a:r>
            <a:r>
              <a:rPr lang="pt-BR" sz="2200" dirty="0">
                <a:solidFill>
                  <a:schemeClr val="tx1"/>
                </a:solidFill>
              </a:rPr>
              <a:t> = 1, </a:t>
            </a:r>
            <a:r>
              <a:rPr lang="pt-BR" sz="2200" dirty="0" smtClean="0">
                <a:solidFill>
                  <a:schemeClr val="tx1"/>
                </a:solidFill>
              </a:rPr>
              <a:t>2, </a:t>
            </a:r>
            <a:r>
              <a:rPr lang="pt-BR" sz="2200" i="1" dirty="0">
                <a:solidFill>
                  <a:schemeClr val="tx1"/>
                </a:solidFill>
              </a:rPr>
              <a:t>j</a:t>
            </a:r>
            <a:r>
              <a:rPr lang="pt-BR" sz="2200" dirty="0">
                <a:solidFill>
                  <a:schemeClr val="tx1"/>
                </a:solidFill>
              </a:rPr>
              <a:t> = 1, </a:t>
            </a:r>
            <a:r>
              <a:rPr lang="pt-BR" sz="2200" dirty="0" smtClean="0">
                <a:solidFill>
                  <a:schemeClr val="tx1"/>
                </a:solidFill>
              </a:rPr>
              <a:t>..., </a:t>
            </a:r>
            <a:r>
              <a:rPr lang="pt-BR" sz="2200" dirty="0" err="1">
                <a:solidFill>
                  <a:schemeClr val="tx1"/>
                </a:solidFill>
              </a:rPr>
              <a:t>n</a:t>
            </a:r>
            <a:r>
              <a:rPr lang="pt-BR" sz="2200" baseline="-25000" dirty="0" err="1">
                <a:solidFill>
                  <a:schemeClr val="tx1"/>
                </a:solidFill>
              </a:rPr>
              <a:t>hi</a:t>
            </a:r>
            <a:r>
              <a:rPr lang="pt-BR" sz="2200" dirty="0">
                <a:solidFill>
                  <a:schemeClr val="tx1"/>
                </a:solidFill>
              </a:rPr>
              <a:t> </a:t>
            </a:r>
            <a:r>
              <a:rPr lang="pt-BR" sz="2200" dirty="0" smtClean="0">
                <a:solidFill>
                  <a:schemeClr val="tx1"/>
                </a:solidFill>
              </a:rPr>
              <a:t>e </a:t>
            </a:r>
            <a:r>
              <a:rPr lang="pt-BR" sz="2200" i="1" dirty="0" smtClean="0">
                <a:solidFill>
                  <a:schemeClr val="tx1"/>
                </a:solidFill>
              </a:rPr>
              <a:t>k</a:t>
            </a:r>
            <a:r>
              <a:rPr lang="pt-BR" sz="2200" dirty="0" smtClean="0">
                <a:solidFill>
                  <a:schemeClr val="tx1"/>
                </a:solidFill>
              </a:rPr>
              <a:t> </a:t>
            </a:r>
            <a:r>
              <a:rPr lang="pt-BR" sz="2200" dirty="0">
                <a:solidFill>
                  <a:schemeClr val="tx1"/>
                </a:solidFill>
              </a:rPr>
              <a:t>= 1</a:t>
            </a:r>
            <a:r>
              <a:rPr lang="pt-BR" sz="2200" dirty="0" smtClean="0">
                <a:solidFill>
                  <a:schemeClr val="tx1"/>
                </a:solidFill>
              </a:rPr>
              <a:t>, ..., </a:t>
            </a:r>
            <a:r>
              <a:rPr lang="pt-BR" sz="2200" i="1" dirty="0" smtClean="0">
                <a:solidFill>
                  <a:schemeClr val="tx1"/>
                </a:solidFill>
              </a:rPr>
              <a:t>m</a:t>
            </a:r>
            <a:r>
              <a:rPr lang="pt-BR" sz="2200" dirty="0" smtClean="0">
                <a:solidFill>
                  <a:schemeClr val="tx1"/>
                </a:solidFill>
              </a:rPr>
              <a:t>;</a:t>
            </a:r>
            <a:endParaRPr lang="pt-BR" sz="2200" dirty="0" smtClean="0">
              <a:solidFill>
                <a:schemeClr val="tx1"/>
              </a:solidFill>
            </a:endParaRPr>
          </a:p>
          <a:p>
            <a:pPr lvl="0">
              <a:buNone/>
            </a:pPr>
            <a:endParaRPr lang="pt-BR" sz="2200" i="1" dirty="0">
              <a:solidFill>
                <a:schemeClr val="tx1"/>
              </a:solidFill>
            </a:endParaRPr>
          </a:p>
          <a:p>
            <a:r>
              <a:rPr lang="pt-BR" sz="2200" dirty="0" smtClean="0">
                <a:solidFill>
                  <a:schemeClr val="tx1"/>
                </a:solidFill>
              </a:rPr>
              <a:t>Perfis </a:t>
            </a:r>
            <a:r>
              <a:rPr lang="pt-BR" sz="2200" dirty="0">
                <a:solidFill>
                  <a:schemeClr val="tx1"/>
                </a:solidFill>
              </a:rPr>
              <a:t>de </a:t>
            </a:r>
            <a:r>
              <a:rPr lang="pt-BR" sz="2200" dirty="0" smtClean="0">
                <a:solidFill>
                  <a:schemeClr val="tx1"/>
                </a:solidFill>
              </a:rPr>
              <a:t>resposta: </a:t>
            </a:r>
            <a:r>
              <a:rPr lang="pt-BR" sz="2200" i="1" dirty="0" err="1" smtClean="0">
                <a:solidFill>
                  <a:schemeClr val="tx1"/>
                </a:solidFill>
              </a:rPr>
              <a:t>y</a:t>
            </a:r>
            <a:r>
              <a:rPr lang="pt-BR" sz="2200" i="1" baseline="-25000" dirty="0" err="1" smtClean="0">
                <a:solidFill>
                  <a:schemeClr val="tx1"/>
                </a:solidFill>
              </a:rPr>
              <a:t>hij</a:t>
            </a:r>
            <a:r>
              <a:rPr lang="pt-BR" sz="2200" baseline="-25000" dirty="0" smtClean="0">
                <a:solidFill>
                  <a:schemeClr val="tx1"/>
                </a:solidFill>
              </a:rPr>
              <a:t> </a:t>
            </a:r>
            <a:r>
              <a:rPr lang="pt-BR" sz="2200" dirty="0">
                <a:solidFill>
                  <a:schemeClr val="tx1"/>
                </a:solidFill>
              </a:rPr>
              <a:t>= (</a:t>
            </a:r>
            <a:r>
              <a:rPr lang="pt-BR" sz="2200" i="1" dirty="0">
                <a:solidFill>
                  <a:schemeClr val="tx1"/>
                </a:solidFill>
              </a:rPr>
              <a:t>y</a:t>
            </a:r>
            <a:r>
              <a:rPr lang="pt-BR" sz="2200" i="1" baseline="-25000" dirty="0">
                <a:solidFill>
                  <a:schemeClr val="tx1"/>
                </a:solidFill>
              </a:rPr>
              <a:t>hij1</a:t>
            </a:r>
            <a:r>
              <a:rPr lang="pt-BR" sz="2200" dirty="0">
                <a:solidFill>
                  <a:schemeClr val="tx1"/>
                </a:solidFill>
              </a:rPr>
              <a:t>, </a:t>
            </a:r>
            <a:r>
              <a:rPr lang="pt-BR" sz="2200" i="1" dirty="0">
                <a:solidFill>
                  <a:schemeClr val="tx1"/>
                </a:solidFill>
              </a:rPr>
              <a:t>y</a:t>
            </a:r>
            <a:r>
              <a:rPr lang="pt-BR" sz="2200" i="1" baseline="-25000" dirty="0">
                <a:solidFill>
                  <a:schemeClr val="tx1"/>
                </a:solidFill>
              </a:rPr>
              <a:t>hij2</a:t>
            </a:r>
            <a:r>
              <a:rPr lang="pt-BR" sz="2200" dirty="0">
                <a:solidFill>
                  <a:schemeClr val="tx1"/>
                </a:solidFill>
              </a:rPr>
              <a:t>, </a:t>
            </a:r>
            <a:r>
              <a:rPr lang="pt-BR" sz="2200" dirty="0" smtClean="0">
                <a:solidFill>
                  <a:schemeClr val="tx1"/>
                </a:solidFill>
              </a:rPr>
              <a:t>..., </a:t>
            </a:r>
            <a:r>
              <a:rPr lang="pt-BR" sz="2200" i="1" dirty="0" err="1" smtClean="0">
                <a:solidFill>
                  <a:schemeClr val="tx1"/>
                </a:solidFill>
              </a:rPr>
              <a:t>y</a:t>
            </a:r>
            <a:r>
              <a:rPr lang="pt-BR" sz="2200" i="1" baseline="-25000" dirty="0" err="1" smtClean="0">
                <a:solidFill>
                  <a:schemeClr val="tx1"/>
                </a:solidFill>
              </a:rPr>
              <a:t>hijm</a:t>
            </a:r>
            <a:r>
              <a:rPr lang="pt-BR" sz="2200" dirty="0" smtClean="0">
                <a:solidFill>
                  <a:schemeClr val="tx1"/>
                </a:solidFill>
              </a:rPr>
              <a:t>)</a:t>
            </a:r>
            <a:r>
              <a:rPr lang="pt-BR" sz="2200" baseline="30000" dirty="0" smtClean="0">
                <a:solidFill>
                  <a:schemeClr val="tx1"/>
                </a:solidFill>
              </a:rPr>
              <a:t>T</a:t>
            </a:r>
            <a:r>
              <a:rPr lang="pt-BR" sz="2200" dirty="0" smtClean="0">
                <a:solidFill>
                  <a:schemeClr val="tx1"/>
                </a:solidFill>
              </a:rPr>
              <a:t>;</a:t>
            </a:r>
          </a:p>
          <a:p>
            <a:pPr lvl="0">
              <a:buNone/>
            </a:pPr>
            <a:endParaRPr lang="pt-BR" sz="2200" dirty="0">
              <a:solidFill>
                <a:schemeClr val="tx1"/>
              </a:solidFill>
            </a:endParaRPr>
          </a:p>
          <a:p>
            <a:r>
              <a:rPr lang="pt-BR" sz="2200" b="1" i="1" dirty="0">
                <a:solidFill>
                  <a:schemeClr val="tx1"/>
                </a:solidFill>
              </a:rPr>
              <a:t>Y</a:t>
            </a:r>
            <a:r>
              <a:rPr lang="pt-BR" sz="2200" dirty="0">
                <a:solidFill>
                  <a:schemeClr val="tx1"/>
                </a:solidFill>
              </a:rPr>
              <a:t> = (</a:t>
            </a:r>
            <a:r>
              <a:rPr lang="pt-BR" sz="2200" i="1" dirty="0">
                <a:solidFill>
                  <a:schemeClr val="tx1"/>
                </a:solidFill>
              </a:rPr>
              <a:t>y</a:t>
            </a:r>
            <a:r>
              <a:rPr lang="pt-BR" sz="2200" i="1" baseline="-8000" dirty="0">
                <a:solidFill>
                  <a:schemeClr val="tx1"/>
                </a:solidFill>
              </a:rPr>
              <a:t>111</a:t>
            </a:r>
            <a:r>
              <a:rPr lang="pt-BR" sz="2200" dirty="0">
                <a:solidFill>
                  <a:schemeClr val="tx1"/>
                </a:solidFill>
              </a:rPr>
              <a:t>, </a:t>
            </a:r>
            <a:r>
              <a:rPr lang="pt-BR" sz="2200" i="1" dirty="0">
                <a:solidFill>
                  <a:schemeClr val="tx1"/>
                </a:solidFill>
              </a:rPr>
              <a:t>y</a:t>
            </a:r>
            <a:r>
              <a:rPr lang="pt-BR" sz="2200" i="1" baseline="-8000" dirty="0">
                <a:solidFill>
                  <a:schemeClr val="tx1"/>
                </a:solidFill>
              </a:rPr>
              <a:t>112</a:t>
            </a:r>
            <a:r>
              <a:rPr lang="pt-BR" sz="2200" dirty="0">
                <a:solidFill>
                  <a:schemeClr val="tx1"/>
                </a:solidFill>
              </a:rPr>
              <a:t>, …, </a:t>
            </a:r>
            <a:r>
              <a:rPr lang="pt-BR" sz="2200" i="1" dirty="0" smtClean="0">
                <a:solidFill>
                  <a:schemeClr val="tx1"/>
                </a:solidFill>
              </a:rPr>
              <a:t>y</a:t>
            </a:r>
            <a:r>
              <a:rPr lang="pt-BR" sz="2200" i="1" baseline="-8000" dirty="0" smtClean="0">
                <a:solidFill>
                  <a:schemeClr val="tx1"/>
                </a:solidFill>
              </a:rPr>
              <a:t>11 n11</a:t>
            </a:r>
            <a:r>
              <a:rPr lang="pt-BR" sz="2200" dirty="0" smtClean="0">
                <a:solidFill>
                  <a:schemeClr val="tx1"/>
                </a:solidFill>
              </a:rPr>
              <a:t>,..., </a:t>
            </a:r>
            <a:r>
              <a:rPr lang="pt-BR" sz="2200" i="1" dirty="0">
                <a:solidFill>
                  <a:schemeClr val="tx1"/>
                </a:solidFill>
              </a:rPr>
              <a:t>y</a:t>
            </a:r>
            <a:r>
              <a:rPr lang="pt-BR" sz="2200" i="1" baseline="-8000" dirty="0">
                <a:solidFill>
                  <a:schemeClr val="tx1"/>
                </a:solidFill>
              </a:rPr>
              <a:t>321</a:t>
            </a:r>
            <a:r>
              <a:rPr lang="pt-BR" sz="2200" dirty="0">
                <a:solidFill>
                  <a:schemeClr val="tx1"/>
                </a:solidFill>
              </a:rPr>
              <a:t>, </a:t>
            </a:r>
            <a:r>
              <a:rPr lang="pt-BR" sz="2200" i="1" dirty="0">
                <a:solidFill>
                  <a:schemeClr val="tx1"/>
                </a:solidFill>
              </a:rPr>
              <a:t>y</a:t>
            </a:r>
            <a:r>
              <a:rPr lang="pt-BR" sz="2200" i="1" baseline="-8000" dirty="0">
                <a:solidFill>
                  <a:schemeClr val="tx1"/>
                </a:solidFill>
              </a:rPr>
              <a:t>322</a:t>
            </a:r>
            <a:r>
              <a:rPr lang="pt-BR" sz="2200" dirty="0">
                <a:solidFill>
                  <a:schemeClr val="tx1"/>
                </a:solidFill>
              </a:rPr>
              <a:t>, …, </a:t>
            </a:r>
            <a:r>
              <a:rPr lang="pt-BR" sz="2200" i="1" dirty="0" smtClean="0">
                <a:solidFill>
                  <a:schemeClr val="tx1"/>
                </a:solidFill>
              </a:rPr>
              <a:t>y</a:t>
            </a:r>
            <a:r>
              <a:rPr lang="pt-BR" sz="2200" i="1" baseline="-8000" dirty="0" smtClean="0">
                <a:solidFill>
                  <a:schemeClr val="tx1"/>
                </a:solidFill>
              </a:rPr>
              <a:t>32 n32</a:t>
            </a:r>
            <a:r>
              <a:rPr lang="pt-BR" sz="2200" dirty="0" smtClean="0">
                <a:solidFill>
                  <a:schemeClr val="tx1"/>
                </a:solidFill>
              </a:rPr>
              <a:t>)</a:t>
            </a:r>
            <a:r>
              <a:rPr lang="pt-BR" sz="2200" baseline="33000" dirty="0" smtClean="0">
                <a:solidFill>
                  <a:schemeClr val="tx1"/>
                </a:solidFill>
              </a:rPr>
              <a:t>T</a:t>
            </a:r>
            <a:r>
              <a:rPr lang="pt-BR" sz="2200" dirty="0" smtClean="0">
                <a:solidFill>
                  <a:schemeClr val="tx1"/>
                </a:solidFill>
              </a:rPr>
              <a:t>;</a:t>
            </a:r>
          </a:p>
          <a:p>
            <a:endParaRPr lang="pt-BR" sz="2200" dirty="0">
              <a:solidFill>
                <a:schemeClr val="tx1"/>
              </a:solidFill>
            </a:endParaRPr>
          </a:p>
          <a:p>
            <a:r>
              <a:rPr lang="pt-BR" sz="2200" b="1" dirty="0">
                <a:solidFill>
                  <a:schemeClr val="tx1"/>
                </a:solidFill>
              </a:rPr>
              <a:t>X</a:t>
            </a:r>
            <a:r>
              <a:rPr lang="pt-BR" sz="2200" dirty="0">
                <a:solidFill>
                  <a:schemeClr val="tx1"/>
                </a:solidFill>
              </a:rPr>
              <a:t> = diagonal(</a:t>
            </a:r>
            <a:r>
              <a:rPr lang="pt-BR" sz="2200" b="1" i="1" dirty="0">
                <a:solidFill>
                  <a:schemeClr val="tx1"/>
                </a:solidFill>
              </a:rPr>
              <a:t>X</a:t>
            </a:r>
            <a:r>
              <a:rPr lang="pt-BR" sz="2200" i="1" baseline="-8000" dirty="0">
                <a:solidFill>
                  <a:schemeClr val="tx1"/>
                </a:solidFill>
              </a:rPr>
              <a:t>11</a:t>
            </a:r>
            <a:r>
              <a:rPr lang="pt-BR" sz="2200" dirty="0">
                <a:solidFill>
                  <a:schemeClr val="tx1"/>
                </a:solidFill>
              </a:rPr>
              <a:t>, </a:t>
            </a:r>
            <a:r>
              <a:rPr lang="pt-BR" sz="2200" b="1" i="1" dirty="0">
                <a:solidFill>
                  <a:schemeClr val="tx1"/>
                </a:solidFill>
              </a:rPr>
              <a:t>X</a:t>
            </a:r>
            <a:r>
              <a:rPr lang="pt-BR" sz="2200" i="1" baseline="-8000" dirty="0">
                <a:solidFill>
                  <a:schemeClr val="tx1"/>
                </a:solidFill>
              </a:rPr>
              <a:t>12</a:t>
            </a:r>
            <a:r>
              <a:rPr lang="pt-BR" sz="2200" dirty="0">
                <a:solidFill>
                  <a:schemeClr val="tx1"/>
                </a:solidFill>
              </a:rPr>
              <a:t>, </a:t>
            </a:r>
            <a:r>
              <a:rPr lang="pt-BR" sz="2200" b="1" i="1" dirty="0">
                <a:solidFill>
                  <a:schemeClr val="tx1"/>
                </a:solidFill>
              </a:rPr>
              <a:t>X</a:t>
            </a:r>
            <a:r>
              <a:rPr lang="pt-BR" sz="2200" i="1" baseline="-8000" dirty="0">
                <a:solidFill>
                  <a:schemeClr val="tx1"/>
                </a:solidFill>
              </a:rPr>
              <a:t>21</a:t>
            </a:r>
            <a:r>
              <a:rPr lang="pt-BR" sz="2200" dirty="0">
                <a:solidFill>
                  <a:schemeClr val="tx1"/>
                </a:solidFill>
              </a:rPr>
              <a:t>, </a:t>
            </a:r>
            <a:r>
              <a:rPr lang="pt-BR" sz="2200" b="1" i="1" dirty="0">
                <a:solidFill>
                  <a:schemeClr val="tx1"/>
                </a:solidFill>
              </a:rPr>
              <a:t>X</a:t>
            </a:r>
            <a:r>
              <a:rPr lang="pt-BR" sz="2200" i="1" baseline="-8000" dirty="0">
                <a:solidFill>
                  <a:schemeClr val="tx1"/>
                </a:solidFill>
              </a:rPr>
              <a:t>22</a:t>
            </a:r>
            <a:r>
              <a:rPr lang="pt-BR" sz="2200" dirty="0">
                <a:solidFill>
                  <a:schemeClr val="tx1"/>
                </a:solidFill>
              </a:rPr>
              <a:t>, </a:t>
            </a:r>
            <a:r>
              <a:rPr lang="pt-BR" sz="2200" b="1" i="1" dirty="0">
                <a:solidFill>
                  <a:schemeClr val="tx1"/>
                </a:solidFill>
              </a:rPr>
              <a:t>X</a:t>
            </a:r>
            <a:r>
              <a:rPr lang="pt-BR" sz="2200" i="1" baseline="-8000" dirty="0">
                <a:solidFill>
                  <a:schemeClr val="tx1"/>
                </a:solidFill>
              </a:rPr>
              <a:t>31</a:t>
            </a:r>
            <a:r>
              <a:rPr lang="pt-BR" sz="2200" dirty="0">
                <a:solidFill>
                  <a:schemeClr val="tx1"/>
                </a:solidFill>
              </a:rPr>
              <a:t>, </a:t>
            </a:r>
            <a:r>
              <a:rPr lang="pt-BR" sz="2200" b="1" i="1" dirty="0">
                <a:solidFill>
                  <a:schemeClr val="tx1"/>
                </a:solidFill>
              </a:rPr>
              <a:t>X</a:t>
            </a:r>
            <a:r>
              <a:rPr lang="pt-BR" sz="2200" i="1" baseline="-8000" dirty="0">
                <a:solidFill>
                  <a:schemeClr val="tx1"/>
                </a:solidFill>
              </a:rPr>
              <a:t>32</a:t>
            </a:r>
            <a:r>
              <a:rPr lang="pt-BR" sz="2200" dirty="0" smtClean="0">
                <a:solidFill>
                  <a:schemeClr val="tx1"/>
                </a:solidFill>
              </a:rPr>
              <a:t>).</a:t>
            </a:r>
            <a:endParaRPr lang="pt-BR" sz="2200" dirty="0">
              <a:solidFill>
                <a:schemeClr val="tx1"/>
              </a:solidFill>
            </a:endParaRPr>
          </a:p>
          <a:p>
            <a:pPr lvl="0"/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25</a:t>
            </a:fld>
            <a:r>
              <a:rPr lang="pt-BR" dirty="0" smtClean="0"/>
              <a:t> / </a:t>
            </a:r>
            <a:r>
              <a:rPr lang="pt-BR" dirty="0" smtClean="0"/>
              <a:t>44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7855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74046" y="44502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Exemplo 3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620980"/>
            <a:ext cx="8520600" cy="2698510"/>
          </a:xfrm>
        </p:spPr>
        <p:txBody>
          <a:bodyPr>
            <a:normAutofit/>
          </a:bodyPr>
          <a:lstStyle/>
          <a:p>
            <a:pPr marL="114300" indent="0" algn="just">
              <a:buNone/>
            </a:pPr>
            <a:r>
              <a:rPr lang="pt-BR" dirty="0">
                <a:solidFill>
                  <a:schemeClr val="tx1"/>
                </a:solidFill>
              </a:rPr>
              <a:t>Um estudo foi realizado para avaliar o efeito do uso contínuo de uma solução para bochecho no pH da placa bacteriana dentária. Com essa finalidade, o pH da placa dentária retirada de 21 voluntários antes e depois do uso de uma solução para bochecho foi avaliado ao longo de 60 minutos após a adição de sacarose ao meio em que as unidades experimentais foram colocadas (Grande, Oliveira, Singer, Santos &amp; Nicolau, 1998).</a:t>
            </a:r>
          </a:p>
          <a:p>
            <a:pPr lvl="0"/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26</a:t>
            </a:fld>
            <a:r>
              <a:rPr lang="pt-BR" dirty="0" smtClean="0"/>
              <a:t> / </a:t>
            </a:r>
            <a:r>
              <a:rPr lang="pt-BR" dirty="0" smtClean="0"/>
              <a:t>44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3637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27</a:t>
            </a:fld>
            <a:r>
              <a:rPr lang="pt-BR" dirty="0" smtClean="0"/>
              <a:t> / </a:t>
            </a:r>
            <a:r>
              <a:rPr lang="pt-BR" dirty="0" smtClean="0"/>
              <a:t>44</a:t>
            </a:r>
            <a:endParaRPr lang="pt-B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7801" y="249956"/>
            <a:ext cx="3954172" cy="4284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Google Shape;103;p18"/>
          <p:cNvSpPr txBox="1">
            <a:spLocks noGrp="1"/>
          </p:cNvSpPr>
          <p:nvPr>
            <p:ph type="body" idx="1"/>
          </p:nvPr>
        </p:nvSpPr>
        <p:spPr>
          <a:xfrm>
            <a:off x="221318" y="-54827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None/>
            </a:pPr>
            <a:r>
              <a:rPr lang="pt-BR" sz="1600" b="1" dirty="0" smtClean="0">
                <a:solidFill>
                  <a:schemeClr val="accent1"/>
                </a:solidFill>
              </a:rPr>
              <a:t>Tabela </a:t>
            </a:r>
            <a:r>
              <a:rPr lang="pt-BR" sz="1600" b="1" dirty="0" smtClean="0">
                <a:solidFill>
                  <a:schemeClr val="accent1"/>
                </a:solidFill>
              </a:rPr>
              <a:t>3: </a:t>
            </a:r>
            <a:r>
              <a:rPr lang="pt-BR" sz="1600" dirty="0" err="1"/>
              <a:t>Ph</a:t>
            </a:r>
            <a:r>
              <a:rPr lang="pt-BR" sz="1600" dirty="0"/>
              <a:t> da placa bacteriana dentária</a:t>
            </a:r>
            <a:r>
              <a:rPr lang="pt-BR" sz="1600" dirty="0" smtClean="0">
                <a:solidFill>
                  <a:schemeClr val="dk1"/>
                </a:solidFill>
              </a:rPr>
              <a:t>.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9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6" name="Google Shape;96;p17"/>
          <p:cNvSpPr txBox="1">
            <a:spLocks/>
          </p:cNvSpPr>
          <p:nvPr/>
        </p:nvSpPr>
        <p:spPr>
          <a:xfrm>
            <a:off x="23889" y="4481150"/>
            <a:ext cx="8520600" cy="7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pt-BR" sz="1200" b="1" dirty="0" smtClean="0">
                <a:solidFill>
                  <a:schemeClr val="dk1"/>
                </a:solidFill>
              </a:rPr>
              <a:t>Fonte: </a:t>
            </a:r>
            <a:r>
              <a:rPr lang="pt-BR" sz="1200" dirty="0" smtClean="0">
                <a:solidFill>
                  <a:schemeClr val="dk1"/>
                </a:solidFill>
              </a:rPr>
              <a:t>https://www.ime.usp.br/~jmsinger/MAE0610/Singer&amp;Nobre&amp;Rocha2018jun.pdf</a:t>
            </a:r>
            <a:endParaRPr lang="pt-BR" sz="14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4316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28</a:t>
            </a:fld>
            <a:r>
              <a:rPr lang="pt-BR" dirty="0" smtClean="0"/>
              <a:t> / </a:t>
            </a:r>
            <a:r>
              <a:rPr lang="pt-BR" dirty="0" smtClean="0"/>
              <a:t>44</a:t>
            </a:r>
            <a:endParaRPr lang="pt-B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3594" y="289300"/>
            <a:ext cx="4085805" cy="4337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Google Shape;103;p18"/>
          <p:cNvSpPr txBox="1">
            <a:spLocks noGrp="1"/>
          </p:cNvSpPr>
          <p:nvPr>
            <p:ph type="body" idx="1"/>
          </p:nvPr>
        </p:nvSpPr>
        <p:spPr>
          <a:xfrm>
            <a:off x="221318" y="-44436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None/>
            </a:pPr>
            <a:r>
              <a:rPr lang="pt-BR" sz="1600" b="1" dirty="0">
                <a:solidFill>
                  <a:schemeClr val="accent1"/>
                </a:solidFill>
              </a:rPr>
              <a:t>T</a:t>
            </a:r>
            <a:r>
              <a:rPr lang="pt-BR" sz="1600" b="1" dirty="0" smtClean="0">
                <a:solidFill>
                  <a:schemeClr val="accent1"/>
                </a:solidFill>
              </a:rPr>
              <a:t>abela </a:t>
            </a:r>
            <a:r>
              <a:rPr lang="pt-BR" sz="1600" b="1" dirty="0" smtClean="0">
                <a:solidFill>
                  <a:schemeClr val="accent1"/>
                </a:solidFill>
              </a:rPr>
              <a:t>4: </a:t>
            </a:r>
            <a:r>
              <a:rPr lang="pt-BR" sz="1600" dirty="0" err="1"/>
              <a:t>Ph</a:t>
            </a:r>
            <a:r>
              <a:rPr lang="pt-BR" sz="1600" dirty="0"/>
              <a:t> da placa bacteriana </a:t>
            </a:r>
            <a:r>
              <a:rPr lang="pt-BR" sz="1600" dirty="0" smtClean="0"/>
              <a:t>dentária (continuação)</a:t>
            </a:r>
            <a:r>
              <a:rPr lang="pt-BR" sz="1600" dirty="0" smtClean="0">
                <a:solidFill>
                  <a:schemeClr val="dk1"/>
                </a:solidFill>
              </a:rPr>
              <a:t>.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8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6" name="Google Shape;96;p17"/>
          <p:cNvSpPr txBox="1">
            <a:spLocks/>
          </p:cNvSpPr>
          <p:nvPr/>
        </p:nvSpPr>
        <p:spPr>
          <a:xfrm>
            <a:off x="169363" y="4501932"/>
            <a:ext cx="8520600" cy="7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pt-BR" sz="1200" b="1" dirty="0" smtClean="0">
                <a:solidFill>
                  <a:schemeClr val="dk1"/>
                </a:solidFill>
              </a:rPr>
              <a:t>Fonte: </a:t>
            </a:r>
            <a:r>
              <a:rPr lang="pt-BR" sz="1200" dirty="0" smtClean="0">
                <a:solidFill>
                  <a:schemeClr val="dk1"/>
                </a:solidFill>
              </a:rPr>
              <a:t>https://www.ime.usp.br/~jmsinger/MAE0610/Singer&amp;Nobre&amp;Rocha2018jun.pdf</a:t>
            </a:r>
            <a:endParaRPr lang="pt-BR" sz="14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3881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402769"/>
            <a:ext cx="8520600" cy="2698510"/>
          </a:xfrm>
        </p:spPr>
        <p:txBody>
          <a:bodyPr>
            <a:normAutofit/>
          </a:bodyPr>
          <a:lstStyle/>
          <a:p>
            <a:pPr marL="114300" lvl="0" indent="0" algn="just">
              <a:buNone/>
            </a:pPr>
            <a:r>
              <a:rPr lang="pt-BR" dirty="0">
                <a:solidFill>
                  <a:schemeClr val="tx1"/>
                </a:solidFill>
              </a:rPr>
              <a:t>Este é um estudo balanceado em relação ao tempo e com dados balanceados, em que à existência de dois fatores </a:t>
            </a:r>
            <a:r>
              <a:rPr lang="pt-BR" dirty="0" err="1">
                <a:solidFill>
                  <a:schemeClr val="tx1"/>
                </a:solidFill>
              </a:rPr>
              <a:t>intraunidades</a:t>
            </a:r>
            <a:r>
              <a:rPr lang="pt-BR" dirty="0">
                <a:solidFill>
                  <a:schemeClr val="tx1"/>
                </a:solidFill>
              </a:rPr>
              <a:t> de investigação: período de avaliação com dois níveis (antes e depois do uso da solução para bochecho) e tempo após a adição de sacarose com 7 níveis (0, 5, 10, 15, 30, 45 e 60 minutos).</a:t>
            </a:r>
          </a:p>
          <a:p>
            <a:pPr lvl="0"/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29</a:t>
            </a:fld>
            <a:r>
              <a:rPr lang="pt-BR" dirty="0" smtClean="0"/>
              <a:t> / </a:t>
            </a:r>
            <a:r>
              <a:rPr lang="pt-BR" dirty="0" smtClean="0"/>
              <a:t>44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5736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4828" y="44502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Exemplo 4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880755"/>
            <a:ext cx="8520600" cy="2698510"/>
          </a:xfrm>
        </p:spPr>
        <p:txBody>
          <a:bodyPr>
            <a:normAutofit/>
          </a:bodyPr>
          <a:lstStyle/>
          <a:p>
            <a:pPr marL="114300" indent="0" algn="just">
              <a:buNone/>
            </a:pPr>
            <a:r>
              <a:rPr lang="pt-BR" sz="2000" dirty="0">
                <a:solidFill>
                  <a:schemeClr val="tx1"/>
                </a:solidFill>
              </a:rPr>
              <a:t>Um estudo foi realizado para avaliar o efeito da ingestão de sódio na pressão arterial de pacientes hipertensos (Singer &amp; Magalhães, 1998).</a:t>
            </a:r>
          </a:p>
          <a:p>
            <a:pPr lvl="0"/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30</a:t>
            </a:fld>
            <a:r>
              <a:rPr lang="pt-BR" dirty="0" smtClean="0"/>
              <a:t> / </a:t>
            </a:r>
            <a:r>
              <a:rPr lang="pt-BR" dirty="0" smtClean="0"/>
              <a:t>44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0923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31</a:t>
            </a:fld>
            <a:r>
              <a:rPr lang="pt-BR" dirty="0" smtClean="0"/>
              <a:t> / </a:t>
            </a:r>
            <a:r>
              <a:rPr lang="pt-BR" dirty="0" smtClean="0"/>
              <a:t>44</a:t>
            </a:r>
            <a:endParaRPr lang="pt-BR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932" y="768928"/>
            <a:ext cx="6374354" cy="3313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Google Shape;103;p18"/>
          <p:cNvSpPr txBox="1">
            <a:spLocks noGrp="1"/>
          </p:cNvSpPr>
          <p:nvPr>
            <p:ph type="body" idx="1"/>
          </p:nvPr>
        </p:nvSpPr>
        <p:spPr>
          <a:xfrm>
            <a:off x="221318" y="204948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None/>
            </a:pPr>
            <a:r>
              <a:rPr lang="pt-BR" sz="1600" b="1" dirty="0" smtClean="0">
                <a:solidFill>
                  <a:schemeClr val="accent1"/>
                </a:solidFill>
              </a:rPr>
              <a:t>Tabela </a:t>
            </a:r>
            <a:r>
              <a:rPr lang="pt-BR" sz="1600" b="1" dirty="0" smtClean="0">
                <a:solidFill>
                  <a:schemeClr val="accent1"/>
                </a:solidFill>
              </a:rPr>
              <a:t>5: </a:t>
            </a:r>
            <a:r>
              <a:rPr lang="pt-BR" sz="1600" dirty="0"/>
              <a:t>Pressão arterial sistólica (em </a:t>
            </a:r>
            <a:r>
              <a:rPr lang="pt-BR" sz="1600" dirty="0" smtClean="0"/>
              <a:t>mmHg)</a:t>
            </a:r>
            <a:r>
              <a:rPr lang="pt-BR" sz="1600" dirty="0" smtClean="0">
                <a:solidFill>
                  <a:schemeClr val="dk1"/>
                </a:solidFill>
              </a:rPr>
              <a:t>.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8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7" name="Google Shape;96;p17"/>
          <p:cNvSpPr txBox="1">
            <a:spLocks/>
          </p:cNvSpPr>
          <p:nvPr/>
        </p:nvSpPr>
        <p:spPr>
          <a:xfrm>
            <a:off x="335619" y="4252548"/>
            <a:ext cx="8520600" cy="7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pt-BR" sz="1200" b="1" dirty="0" smtClean="0">
                <a:solidFill>
                  <a:schemeClr val="dk1"/>
                </a:solidFill>
              </a:rPr>
              <a:t>Fonte: </a:t>
            </a:r>
            <a:r>
              <a:rPr lang="pt-BR" sz="1200" dirty="0" smtClean="0">
                <a:solidFill>
                  <a:schemeClr val="dk1"/>
                </a:solidFill>
              </a:rPr>
              <a:t>https://www.ime.usp.br/~jmsinger/MAE0610/Singer&amp;Nobre&amp;Rocha2018jun.pdf</a:t>
            </a:r>
            <a:endParaRPr lang="pt-BR" sz="14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6002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267686"/>
            <a:ext cx="8520600" cy="2698510"/>
          </a:xfrm>
        </p:spPr>
        <p:txBody>
          <a:bodyPr>
            <a:normAutofit/>
          </a:bodyPr>
          <a:lstStyle/>
          <a:p>
            <a:pPr marL="0" lvl="0" indent="0" algn="just">
              <a:buNone/>
            </a:pPr>
            <a:r>
              <a:rPr lang="pt-BR" sz="2000" dirty="0">
                <a:solidFill>
                  <a:schemeClr val="tx1"/>
                </a:solidFill>
              </a:rPr>
              <a:t>Este  é um estudo com medidas repetidas, planejamento balanceado em relação ao “tempo” e dados completos. Há apenas um nível (hipertensos) para o único fator (tratamento) </a:t>
            </a:r>
            <a:r>
              <a:rPr lang="pt-BR" sz="2000" dirty="0" err="1">
                <a:solidFill>
                  <a:schemeClr val="tx1"/>
                </a:solidFill>
              </a:rPr>
              <a:t>interunidades</a:t>
            </a:r>
            <a:r>
              <a:rPr lang="pt-BR" sz="2000" dirty="0">
                <a:solidFill>
                  <a:schemeClr val="tx1"/>
                </a:solidFill>
              </a:rPr>
              <a:t> de investigação e dois níveis (baixo teor de sódio e alto teor de sódio) associados ao único fator (tipo de dieta) </a:t>
            </a:r>
            <a:r>
              <a:rPr lang="pt-BR" sz="2000" dirty="0" err="1">
                <a:solidFill>
                  <a:schemeClr val="tx1"/>
                </a:solidFill>
              </a:rPr>
              <a:t>intraunidades</a:t>
            </a:r>
            <a:r>
              <a:rPr lang="pt-BR" sz="2000" dirty="0">
                <a:solidFill>
                  <a:schemeClr val="tx1"/>
                </a:solidFill>
              </a:rPr>
              <a:t> de investigação.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32</a:t>
            </a:fld>
            <a:r>
              <a:rPr lang="pt-BR" dirty="0" smtClean="0"/>
              <a:t> / </a:t>
            </a:r>
            <a:r>
              <a:rPr lang="pt-BR" dirty="0" smtClean="0"/>
              <a:t>44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1548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36392" y="44502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Exemplo 5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620980"/>
            <a:ext cx="8520600" cy="2698510"/>
          </a:xfrm>
        </p:spPr>
        <p:txBody>
          <a:bodyPr>
            <a:normAutofit/>
          </a:bodyPr>
          <a:lstStyle/>
          <a:p>
            <a:pPr marL="114300" lvl="0" indent="0" algn="just">
              <a:buNone/>
            </a:pPr>
            <a:r>
              <a:rPr lang="pt-BR" sz="2000" dirty="0">
                <a:solidFill>
                  <a:schemeClr val="tx1"/>
                </a:solidFill>
              </a:rPr>
              <a:t>Um estudo foi realizado para avaliar o efeito de dois adesivos </a:t>
            </a:r>
            <a:r>
              <a:rPr lang="pt-BR" sz="2000" dirty="0" err="1">
                <a:solidFill>
                  <a:schemeClr val="tx1"/>
                </a:solidFill>
              </a:rPr>
              <a:t>dentinários</a:t>
            </a:r>
            <a:r>
              <a:rPr lang="pt-BR" sz="2000" dirty="0">
                <a:solidFill>
                  <a:schemeClr val="tx1"/>
                </a:solidFill>
              </a:rPr>
              <a:t> (Single Bond) e (Prime </a:t>
            </a:r>
            <a:r>
              <a:rPr lang="pt-BR" sz="2000" dirty="0" err="1">
                <a:solidFill>
                  <a:schemeClr val="tx1"/>
                </a:solidFill>
              </a:rPr>
              <a:t>bond</a:t>
            </a:r>
            <a:r>
              <a:rPr lang="pt-BR" sz="2000" dirty="0">
                <a:solidFill>
                  <a:schemeClr val="tx1"/>
                </a:solidFill>
              </a:rPr>
              <a:t> NT) e de duas condições de aplicação (dentina seca ou  úmida) na variação (</a:t>
            </a:r>
            <a:r>
              <a:rPr lang="pt-BR" sz="2000" dirty="0" err="1">
                <a:solidFill>
                  <a:schemeClr val="tx1"/>
                </a:solidFill>
              </a:rPr>
              <a:t>pré</a:t>
            </a:r>
            <a:r>
              <a:rPr lang="pt-BR" sz="2000" dirty="0">
                <a:solidFill>
                  <a:schemeClr val="tx1"/>
                </a:solidFill>
              </a:rPr>
              <a:t> e pós-operatória) da sensibilidade </a:t>
            </a:r>
            <a:r>
              <a:rPr lang="pt-BR" sz="2000" dirty="0" err="1">
                <a:solidFill>
                  <a:schemeClr val="tx1"/>
                </a:solidFill>
              </a:rPr>
              <a:t>dentinária</a:t>
            </a:r>
            <a:r>
              <a:rPr lang="pt-BR" sz="2000" dirty="0">
                <a:solidFill>
                  <a:schemeClr val="tx1"/>
                </a:solidFill>
              </a:rPr>
              <a:t> (presente ou ausente) de pacientes submetidos a um certo tipo de tratamento odontológico (Singer &amp; Polli, 2004).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33</a:t>
            </a:fld>
            <a:r>
              <a:rPr lang="pt-BR" dirty="0" smtClean="0"/>
              <a:t> / </a:t>
            </a:r>
            <a:r>
              <a:rPr lang="pt-BR" dirty="0" smtClean="0"/>
              <a:t>44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9161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766454"/>
            <a:ext cx="8520600" cy="2698510"/>
          </a:xfrm>
        </p:spPr>
        <p:txBody>
          <a:bodyPr>
            <a:normAutofit/>
          </a:bodyPr>
          <a:lstStyle/>
          <a:p>
            <a:pPr marL="114300" lvl="0" indent="0" algn="just">
              <a:buNone/>
            </a:pPr>
            <a:r>
              <a:rPr lang="pt-BR" sz="2000" dirty="0">
                <a:solidFill>
                  <a:schemeClr val="tx1"/>
                </a:solidFill>
              </a:rPr>
              <a:t>Deseja-se verificar se há </a:t>
            </a:r>
            <a:r>
              <a:rPr lang="pt-BR" sz="2000" dirty="0" smtClean="0">
                <a:solidFill>
                  <a:schemeClr val="tx1"/>
                </a:solidFill>
              </a:rPr>
              <a:t>mudança </a:t>
            </a:r>
            <a:r>
              <a:rPr lang="pt-BR" sz="2000" dirty="0">
                <a:solidFill>
                  <a:schemeClr val="tx1"/>
                </a:solidFill>
              </a:rPr>
              <a:t>na distribuição da sensibilidade </a:t>
            </a:r>
            <a:r>
              <a:rPr lang="pt-BR" sz="2000" dirty="0" err="1">
                <a:solidFill>
                  <a:schemeClr val="tx1"/>
                </a:solidFill>
              </a:rPr>
              <a:t>dentinária</a:t>
            </a:r>
            <a:r>
              <a:rPr lang="pt-BR" sz="2000" dirty="0">
                <a:solidFill>
                  <a:schemeClr val="tx1"/>
                </a:solidFill>
              </a:rPr>
              <a:t> após a restauração e se o resultado depende do tipo de adesivo e da condição da dentina durante a sua aplicação.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34</a:t>
            </a:fld>
            <a:r>
              <a:rPr lang="pt-BR" dirty="0" smtClean="0"/>
              <a:t> / </a:t>
            </a:r>
            <a:r>
              <a:rPr lang="pt-BR" dirty="0" smtClean="0"/>
              <a:t>44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7210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body" idx="1"/>
          </p:nvPr>
        </p:nvSpPr>
        <p:spPr>
          <a:xfrm>
            <a:off x="346010" y="90647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chemeClr val="accent1"/>
                </a:solidFill>
              </a:rPr>
              <a:t>Tabela </a:t>
            </a:r>
            <a:r>
              <a:rPr lang="pt-BR" sz="1600" b="1" dirty="0" smtClean="0">
                <a:solidFill>
                  <a:schemeClr val="accent1"/>
                </a:solidFill>
              </a:rPr>
              <a:t>6: </a:t>
            </a:r>
            <a:r>
              <a:rPr lang="pt-BR" sz="1600" dirty="0" smtClean="0">
                <a:solidFill>
                  <a:schemeClr val="tx1"/>
                </a:solidFill>
              </a:rPr>
              <a:t>Sensibilidade </a:t>
            </a:r>
            <a:r>
              <a:rPr lang="pt-BR" sz="1600" dirty="0" err="1" smtClean="0">
                <a:solidFill>
                  <a:schemeClr val="tx1"/>
                </a:solidFill>
              </a:rPr>
              <a:t>dentinária</a:t>
            </a:r>
            <a:r>
              <a:rPr lang="pt-BR" sz="1600" dirty="0" smtClean="0">
                <a:solidFill>
                  <a:schemeClr val="tx1"/>
                </a:solidFill>
              </a:rPr>
              <a:t> </a:t>
            </a:r>
            <a:r>
              <a:rPr lang="pt-BR" sz="1600" dirty="0" err="1" smtClean="0">
                <a:solidFill>
                  <a:schemeClr val="tx1"/>
                </a:solidFill>
              </a:rPr>
              <a:t>pré</a:t>
            </a:r>
            <a:r>
              <a:rPr lang="pt-BR" sz="1600" dirty="0" smtClean="0">
                <a:solidFill>
                  <a:schemeClr val="tx1"/>
                </a:solidFill>
              </a:rPr>
              <a:t> e pós-operatória.</a:t>
            </a:r>
            <a:endParaRPr sz="1600" dirty="0">
              <a:solidFill>
                <a:schemeClr val="tx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104" name="Google Shape;104;p18"/>
          <p:cNvSpPr txBox="1">
            <a:spLocks noGrp="1"/>
          </p:cNvSpPr>
          <p:nvPr>
            <p:ph type="sldNum" idx="12"/>
          </p:nvPr>
        </p:nvSpPr>
        <p:spPr>
          <a:xfrm>
            <a:off x="8414775" y="4703625"/>
            <a:ext cx="7293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35</a:t>
            </a:fld>
            <a:r>
              <a:rPr lang="pt-BR" dirty="0"/>
              <a:t> / </a:t>
            </a:r>
            <a:r>
              <a:rPr lang="pt-BR" dirty="0" smtClean="0"/>
              <a:t>44</a:t>
            </a:r>
            <a:endParaRPr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975" y="564563"/>
            <a:ext cx="6010275" cy="384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7" name="Google Shape;96;p17"/>
          <p:cNvSpPr txBox="1">
            <a:spLocks/>
          </p:cNvSpPr>
          <p:nvPr/>
        </p:nvSpPr>
        <p:spPr>
          <a:xfrm>
            <a:off x="397965" y="4418804"/>
            <a:ext cx="8520600" cy="7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pt-BR" sz="1200" b="1" dirty="0" smtClean="0">
                <a:solidFill>
                  <a:schemeClr val="dk1"/>
                </a:solidFill>
              </a:rPr>
              <a:t>Fonte: </a:t>
            </a:r>
            <a:r>
              <a:rPr lang="pt-BR" sz="1200" dirty="0" smtClean="0">
                <a:solidFill>
                  <a:schemeClr val="dk1"/>
                </a:solidFill>
              </a:rPr>
              <a:t>https://www.ime.usp.br/~jmsinger/MAE0610/Singer&amp;Nobre&amp;Rocha2018jun.pdf</a:t>
            </a:r>
            <a:endParaRPr lang="pt-BR" sz="1400" dirty="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330032"/>
            <a:ext cx="8520600" cy="2698510"/>
          </a:xfrm>
        </p:spPr>
        <p:txBody>
          <a:bodyPr>
            <a:normAutofit/>
          </a:bodyPr>
          <a:lstStyle/>
          <a:p>
            <a:pPr marL="114300" lvl="0" indent="0" algn="just">
              <a:buNone/>
            </a:pPr>
            <a:r>
              <a:rPr lang="pt-BR" sz="2000" dirty="0">
                <a:solidFill>
                  <a:schemeClr val="tx1"/>
                </a:solidFill>
              </a:rPr>
              <a:t>Neste exemplo, além do aspecto categorizado da resposta (Sensibilidade </a:t>
            </a:r>
            <a:r>
              <a:rPr lang="pt-BR" sz="2000" dirty="0" err="1">
                <a:solidFill>
                  <a:schemeClr val="tx1"/>
                </a:solidFill>
              </a:rPr>
              <a:t>dentinária</a:t>
            </a:r>
            <a:r>
              <a:rPr lang="pt-BR" sz="2000" dirty="0">
                <a:solidFill>
                  <a:schemeClr val="tx1"/>
                </a:solidFill>
              </a:rPr>
              <a:t>) podemos salientar a presença de dois fatores </a:t>
            </a:r>
            <a:r>
              <a:rPr lang="pt-BR" sz="2000" dirty="0" err="1">
                <a:solidFill>
                  <a:schemeClr val="tx1"/>
                </a:solidFill>
              </a:rPr>
              <a:t>interunidades</a:t>
            </a:r>
            <a:r>
              <a:rPr lang="pt-BR" sz="2000" dirty="0">
                <a:solidFill>
                  <a:schemeClr val="tx1"/>
                </a:solidFill>
              </a:rPr>
              <a:t> amostrais (Material, com </a:t>
            </a:r>
            <a:r>
              <a:rPr lang="pt-BR" sz="2000" dirty="0" smtClean="0">
                <a:solidFill>
                  <a:schemeClr val="tx1"/>
                </a:solidFill>
              </a:rPr>
              <a:t>dois </a:t>
            </a:r>
            <a:r>
              <a:rPr lang="pt-BR" sz="2000" dirty="0">
                <a:solidFill>
                  <a:schemeClr val="tx1"/>
                </a:solidFill>
              </a:rPr>
              <a:t>níveis) e Dentina (seca ou  úmida) e de um fator </a:t>
            </a:r>
            <a:r>
              <a:rPr lang="pt-BR" sz="2000" dirty="0" err="1">
                <a:solidFill>
                  <a:schemeClr val="tx1"/>
                </a:solidFill>
              </a:rPr>
              <a:t>intraunidades</a:t>
            </a:r>
            <a:r>
              <a:rPr lang="pt-BR" sz="2000" dirty="0">
                <a:solidFill>
                  <a:schemeClr val="tx1"/>
                </a:solidFill>
              </a:rPr>
              <a:t> amostrais (Presença de sensibilidade </a:t>
            </a:r>
            <a:r>
              <a:rPr lang="pt-BR" sz="2000" dirty="0" err="1">
                <a:solidFill>
                  <a:schemeClr val="tx1"/>
                </a:solidFill>
              </a:rPr>
              <a:t>dentinária</a:t>
            </a:r>
            <a:r>
              <a:rPr lang="pt-BR" sz="2000" dirty="0">
                <a:solidFill>
                  <a:schemeClr val="tx1"/>
                </a:solidFill>
              </a:rPr>
              <a:t>) com dois níveis (</a:t>
            </a:r>
            <a:r>
              <a:rPr lang="pt-BR" sz="2000" dirty="0" err="1">
                <a:solidFill>
                  <a:schemeClr val="tx1"/>
                </a:solidFill>
              </a:rPr>
              <a:t>pré</a:t>
            </a:r>
            <a:r>
              <a:rPr lang="pt-BR" sz="2000" dirty="0">
                <a:solidFill>
                  <a:schemeClr val="tx1"/>
                </a:solidFill>
              </a:rPr>
              <a:t> e pós-operatória).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36</a:t>
            </a:fld>
            <a:r>
              <a:rPr lang="pt-BR" dirty="0" smtClean="0"/>
              <a:t> / </a:t>
            </a:r>
            <a:r>
              <a:rPr lang="pt-BR" dirty="0" smtClean="0"/>
              <a:t>44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199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88347" y="28916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dirty="0"/>
              <a:t>Análise descritiva e medidas resumo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215731"/>
            <a:ext cx="8520600" cy="2698510"/>
          </a:xfrm>
        </p:spPr>
        <p:txBody>
          <a:bodyPr>
            <a:noAutofit/>
          </a:bodyPr>
          <a:lstStyle/>
          <a:p>
            <a:pPr lvl="0" algn="just"/>
            <a:r>
              <a:rPr lang="pt-BR" dirty="0">
                <a:solidFill>
                  <a:schemeClr val="tx1"/>
                </a:solidFill>
              </a:rPr>
              <a:t>A principal característica que distingue dados longitudinais de dados transversais é a possível correlação entre as observações realizadas na mesma unidade amostral. Para avaliar essa característica, várias técnicas descritivas podem ser </a:t>
            </a:r>
            <a:r>
              <a:rPr lang="pt-BR" dirty="0" smtClean="0">
                <a:solidFill>
                  <a:schemeClr val="tx1"/>
                </a:solidFill>
              </a:rPr>
              <a:t>utilizadas;</a:t>
            </a:r>
            <a:endParaRPr lang="pt-BR" dirty="0">
              <a:solidFill>
                <a:schemeClr val="tx1"/>
              </a:solidFill>
            </a:endParaRPr>
          </a:p>
          <a:p>
            <a:pPr lvl="0"/>
            <a:endParaRPr lang="pt-BR" dirty="0">
              <a:solidFill>
                <a:schemeClr val="tx1"/>
              </a:solidFill>
            </a:endParaRPr>
          </a:p>
          <a:p>
            <a:pPr lvl="0" algn="just"/>
            <a:r>
              <a:rPr lang="pt-BR" dirty="0">
                <a:solidFill>
                  <a:schemeClr val="tx1"/>
                </a:solidFill>
              </a:rPr>
              <a:t>Para dados balanceados em relação ao tempo (especialmente quando não há  ou há poucas observações omissas), a mais simples delas corresponde a gráficos de dispersão entre as respostas observadas em dois instantes diferentes. Em geral, esses gráficos são dispostos em forma de matriz.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37</a:t>
            </a:fld>
            <a:r>
              <a:rPr lang="pt-BR" dirty="0" smtClean="0"/>
              <a:t> / </a:t>
            </a:r>
            <a:r>
              <a:rPr lang="pt-BR" dirty="0" smtClean="0"/>
              <a:t>44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444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body" idx="1"/>
          </p:nvPr>
        </p:nvSpPr>
        <p:spPr>
          <a:xfrm>
            <a:off x="325228" y="7519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chemeClr val="accent1"/>
                </a:solidFill>
              </a:rPr>
              <a:t>Figura 1: </a:t>
            </a:r>
            <a:r>
              <a:rPr lang="pt-BR" sz="1600" dirty="0" smtClean="0">
                <a:solidFill>
                  <a:schemeClr val="tx1"/>
                </a:solidFill>
              </a:rPr>
              <a:t>Gráficos de dispersão.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104" name="Google Shape;104;p18"/>
          <p:cNvSpPr txBox="1">
            <a:spLocks noGrp="1"/>
          </p:cNvSpPr>
          <p:nvPr>
            <p:ph type="sldNum" idx="12"/>
          </p:nvPr>
        </p:nvSpPr>
        <p:spPr>
          <a:xfrm>
            <a:off x="8414775" y="4703625"/>
            <a:ext cx="7293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38</a:t>
            </a:fld>
            <a:r>
              <a:rPr lang="pt-BR" dirty="0"/>
              <a:t> / </a:t>
            </a:r>
            <a:r>
              <a:rPr lang="pt-BR" dirty="0" smtClean="0"/>
              <a:t>44</a:t>
            </a:r>
            <a:endParaRPr dirty="0"/>
          </a:p>
        </p:txBody>
      </p:sp>
      <p:sp>
        <p:nvSpPr>
          <p:cNvPr id="10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7" name="Google Shape;96;p17"/>
          <p:cNvSpPr txBox="1">
            <a:spLocks/>
          </p:cNvSpPr>
          <p:nvPr/>
        </p:nvSpPr>
        <p:spPr>
          <a:xfrm>
            <a:off x="397965" y="4418804"/>
            <a:ext cx="8520600" cy="7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pt-BR" sz="1200" b="1" dirty="0" smtClean="0">
                <a:solidFill>
                  <a:schemeClr val="dk1"/>
                </a:solidFill>
              </a:rPr>
              <a:t>Fonte: </a:t>
            </a:r>
            <a:r>
              <a:rPr lang="pt-BR" sz="1200" dirty="0" smtClean="0">
                <a:solidFill>
                  <a:schemeClr val="dk1"/>
                </a:solidFill>
              </a:rPr>
              <a:t>https://www.ime.usp.br/~jmsinger/MAE0610/Singer&amp;Nobre&amp;Rocha2018jun.pdf</a:t>
            </a:r>
            <a:endParaRPr lang="pt-BR" sz="1400" dirty="0">
              <a:solidFill>
                <a:schemeClr val="dk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724" y="421506"/>
            <a:ext cx="4111769" cy="4054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4577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174167"/>
            <a:ext cx="8520600" cy="2698510"/>
          </a:xfrm>
        </p:spPr>
        <p:txBody>
          <a:bodyPr>
            <a:noAutofit/>
          </a:bodyPr>
          <a:lstStyle/>
          <a:p>
            <a:pPr marL="114300" lvl="0" indent="0" algn="just">
              <a:buNone/>
            </a:pPr>
            <a:r>
              <a:rPr lang="pt-BR" dirty="0">
                <a:solidFill>
                  <a:schemeClr val="tx1"/>
                </a:solidFill>
              </a:rPr>
              <a:t>Uma </a:t>
            </a:r>
            <a:r>
              <a:rPr lang="pt-BR" dirty="0" smtClean="0">
                <a:solidFill>
                  <a:schemeClr val="tx1"/>
                </a:solidFill>
              </a:rPr>
              <a:t>quantificação </a:t>
            </a:r>
            <a:r>
              <a:rPr lang="pt-BR" dirty="0">
                <a:solidFill>
                  <a:schemeClr val="tx1"/>
                </a:solidFill>
              </a:rPr>
              <a:t>da intensidade </a:t>
            </a:r>
            <a:r>
              <a:rPr lang="pt-BR" dirty="0" smtClean="0">
                <a:solidFill>
                  <a:schemeClr val="tx1"/>
                </a:solidFill>
              </a:rPr>
              <a:t>das correlações </a:t>
            </a:r>
            <a:r>
              <a:rPr lang="pt-BR" dirty="0">
                <a:solidFill>
                  <a:schemeClr val="tx1"/>
                </a:solidFill>
              </a:rPr>
              <a:t>pode ser obtida </a:t>
            </a:r>
            <a:r>
              <a:rPr lang="pt-BR" dirty="0" smtClean="0">
                <a:solidFill>
                  <a:schemeClr val="tx1"/>
                </a:solidFill>
              </a:rPr>
              <a:t>pela </a:t>
            </a:r>
            <a:r>
              <a:rPr lang="pt-BR" dirty="0">
                <a:solidFill>
                  <a:schemeClr val="tx1"/>
                </a:solidFill>
              </a:rPr>
              <a:t>matriz de </a:t>
            </a:r>
            <a:r>
              <a:rPr lang="pt-BR" dirty="0" smtClean="0">
                <a:solidFill>
                  <a:schemeClr val="tx1"/>
                </a:solidFill>
              </a:rPr>
              <a:t>correlações amostrais</a:t>
            </a:r>
            <a:r>
              <a:rPr lang="pt-BR" dirty="0">
                <a:solidFill>
                  <a:schemeClr val="tx1"/>
                </a:solidFill>
              </a:rPr>
              <a:t>. 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39</a:t>
            </a:fld>
            <a:r>
              <a:rPr lang="pt-BR" dirty="0" smtClean="0"/>
              <a:t> / </a:t>
            </a:r>
            <a:r>
              <a:rPr lang="pt-BR" dirty="0" smtClean="0"/>
              <a:t>44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415610" y="33072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dirty="0" smtClean="0"/>
              <a:t>Análise descritiva e medidas resumo</a:t>
            </a:r>
            <a:endParaRPr lang="pt-B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508" y="2161308"/>
            <a:ext cx="5504182" cy="2360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27503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65" y="361897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dirty="0"/>
              <a:t>Gráficos de perfis (</a:t>
            </a:r>
            <a:r>
              <a:rPr lang="pt-BR" dirty="0" smtClean="0"/>
              <a:t>individuais)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288468"/>
            <a:ext cx="8520600" cy="2698510"/>
          </a:xfrm>
        </p:spPr>
        <p:txBody>
          <a:bodyPr>
            <a:noAutofit/>
          </a:bodyPr>
          <a:lstStyle/>
          <a:p>
            <a:pPr lvl="0" algn="just"/>
            <a:r>
              <a:rPr lang="pt-BR" sz="1900" dirty="0">
                <a:solidFill>
                  <a:schemeClr val="tx1"/>
                </a:solidFill>
              </a:rPr>
              <a:t>Ferramenta descritiva importante para a análise de dados </a:t>
            </a:r>
            <a:r>
              <a:rPr lang="pt-BR" sz="1900" dirty="0" smtClean="0">
                <a:solidFill>
                  <a:schemeClr val="tx1"/>
                </a:solidFill>
              </a:rPr>
              <a:t>longitudinais;</a:t>
            </a:r>
            <a:endParaRPr lang="pt-BR" sz="1900" dirty="0">
              <a:solidFill>
                <a:schemeClr val="tx1"/>
              </a:solidFill>
            </a:endParaRPr>
          </a:p>
          <a:p>
            <a:pPr lvl="0" algn="just"/>
            <a:endParaRPr lang="pt-BR" sz="1900" dirty="0">
              <a:solidFill>
                <a:schemeClr val="tx1"/>
              </a:solidFill>
            </a:endParaRPr>
          </a:p>
          <a:p>
            <a:pPr lvl="0" algn="just"/>
            <a:r>
              <a:rPr lang="pt-BR" sz="1900" dirty="0">
                <a:solidFill>
                  <a:schemeClr val="tx1"/>
                </a:solidFill>
              </a:rPr>
              <a:t>Eles são essencialmente gráficos de dispersão (com o tempo na abscissa e a resposta na ordenada) em que os pontos associados a uma mesma unidade amostral </a:t>
            </a:r>
            <a:r>
              <a:rPr lang="pt-BR" sz="1900" dirty="0" smtClean="0">
                <a:solidFill>
                  <a:schemeClr val="tx1"/>
                </a:solidFill>
              </a:rPr>
              <a:t>são </a:t>
            </a:r>
            <a:r>
              <a:rPr lang="pt-BR" sz="1900" dirty="0">
                <a:solidFill>
                  <a:schemeClr val="tx1"/>
                </a:solidFill>
              </a:rPr>
              <a:t>unidos por segmentos de </a:t>
            </a:r>
            <a:r>
              <a:rPr lang="pt-BR" sz="1900" dirty="0" smtClean="0">
                <a:solidFill>
                  <a:schemeClr val="tx1"/>
                </a:solidFill>
              </a:rPr>
              <a:t>reta;</a:t>
            </a:r>
            <a:endParaRPr lang="pt-BR" sz="1900" dirty="0">
              <a:solidFill>
                <a:schemeClr val="tx1"/>
              </a:solidFill>
            </a:endParaRPr>
          </a:p>
          <a:p>
            <a:pPr lvl="0" algn="just"/>
            <a:endParaRPr lang="pt-BR" sz="1900" dirty="0">
              <a:solidFill>
                <a:schemeClr val="tx1"/>
              </a:solidFill>
            </a:endParaRPr>
          </a:p>
          <a:p>
            <a:pPr lvl="0" algn="just"/>
            <a:r>
              <a:rPr lang="pt-BR" sz="1900" dirty="0">
                <a:solidFill>
                  <a:schemeClr val="tx1"/>
                </a:solidFill>
              </a:rPr>
              <a:t>Em geral, os perfis </a:t>
            </a:r>
            <a:r>
              <a:rPr lang="pt-BR" sz="1900" dirty="0" smtClean="0">
                <a:solidFill>
                  <a:schemeClr val="tx1"/>
                </a:solidFill>
              </a:rPr>
              <a:t>médios </a:t>
            </a:r>
            <a:r>
              <a:rPr lang="pt-BR" sz="1900" dirty="0">
                <a:solidFill>
                  <a:schemeClr val="tx1"/>
                </a:solidFill>
              </a:rPr>
              <a:t>são sobrepostos a eles.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40</a:t>
            </a:fld>
            <a:r>
              <a:rPr lang="pt-BR" dirty="0" smtClean="0"/>
              <a:t> / </a:t>
            </a:r>
            <a:r>
              <a:rPr lang="pt-BR" dirty="0" smtClean="0"/>
              <a:t>44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6605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41</a:t>
            </a:fld>
            <a:r>
              <a:rPr lang="pt-BR" dirty="0" smtClean="0"/>
              <a:t> / </a:t>
            </a:r>
            <a:r>
              <a:rPr lang="pt-BR" dirty="0" smtClean="0"/>
              <a:t>44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1815096" y="473857"/>
            <a:ext cx="5709293" cy="400462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96;p17"/>
          <p:cNvSpPr txBox="1">
            <a:spLocks noGrp="1"/>
          </p:cNvSpPr>
          <p:nvPr>
            <p:ph type="body" idx="1"/>
          </p:nvPr>
        </p:nvSpPr>
        <p:spPr>
          <a:xfrm>
            <a:off x="242100" y="4449977"/>
            <a:ext cx="8520600" cy="74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None/>
            </a:pPr>
            <a:r>
              <a:rPr lang="pt-BR" sz="1200" b="1" dirty="0">
                <a:solidFill>
                  <a:schemeClr val="dk1"/>
                </a:solidFill>
              </a:rPr>
              <a:t>Fonte: </a:t>
            </a:r>
            <a:r>
              <a:rPr lang="pt-BR" sz="1200" dirty="0">
                <a:solidFill>
                  <a:schemeClr val="dk1"/>
                </a:solidFill>
              </a:rPr>
              <a:t>https://www.ime.usp.br/~jmsinger/MAE0610/Singer&amp;Nobre&amp;Rocha2018jun.pdf</a:t>
            </a:r>
            <a:endParaRPr sz="1400" dirty="0">
              <a:solidFill>
                <a:schemeClr val="dk1"/>
              </a:solidFill>
            </a:endParaRPr>
          </a:p>
        </p:txBody>
      </p:sp>
      <p:sp>
        <p:nvSpPr>
          <p:cNvPr id="10" name="Google Shape;103;p18"/>
          <p:cNvSpPr txBox="1">
            <a:spLocks/>
          </p:cNvSpPr>
          <p:nvPr/>
        </p:nvSpPr>
        <p:spPr>
          <a:xfrm>
            <a:off x="325228" y="80256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pt-BR" sz="1600" b="1" dirty="0" smtClean="0">
                <a:solidFill>
                  <a:schemeClr val="accent1"/>
                </a:solidFill>
              </a:rPr>
              <a:t>Figura 2: </a:t>
            </a:r>
            <a:r>
              <a:rPr lang="pt-BR" sz="1600" dirty="0" smtClean="0">
                <a:solidFill>
                  <a:schemeClr val="tx1"/>
                </a:solidFill>
              </a:rPr>
              <a:t>Gráficos de perfis.</a:t>
            </a:r>
            <a:endParaRPr lang="pt-BR" sz="1600" dirty="0" smtClean="0">
              <a:solidFill>
                <a:schemeClr val="dk1"/>
              </a:solidFill>
            </a:endParaRPr>
          </a:p>
          <a:p>
            <a:pPr marL="0" indent="0" algn="ctr">
              <a:spcBef>
                <a:spcPts val="1200"/>
              </a:spcBef>
              <a:buFont typeface="Arial"/>
              <a:buNone/>
            </a:pPr>
            <a:endParaRPr lang="pt-BR" sz="1600" dirty="0" smtClean="0">
              <a:solidFill>
                <a:schemeClr val="dk1"/>
              </a:solidFill>
            </a:endParaRPr>
          </a:p>
          <a:p>
            <a:pPr marL="0" indent="0" algn="ctr">
              <a:spcBef>
                <a:spcPts val="1200"/>
              </a:spcBef>
              <a:spcAft>
                <a:spcPts val="1200"/>
              </a:spcAft>
              <a:buFont typeface="Arial"/>
              <a:buNone/>
            </a:pPr>
            <a:endParaRPr lang="pt-BR" sz="16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4760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05219" y="143686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dirty="0"/>
              <a:t>Gráficos de perfis (</a:t>
            </a:r>
            <a:r>
              <a:rPr lang="pt-BR" dirty="0" smtClean="0"/>
              <a:t>individuais)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893619"/>
            <a:ext cx="8520600" cy="3813464"/>
          </a:xfrm>
        </p:spPr>
        <p:txBody>
          <a:bodyPr>
            <a:normAutofit fontScale="92500" lnSpcReduction="20000"/>
          </a:bodyPr>
          <a:lstStyle/>
          <a:p>
            <a:pPr lvl="0" algn="just">
              <a:buNone/>
            </a:pPr>
            <a:r>
              <a:rPr lang="pt-BR" dirty="0">
                <a:solidFill>
                  <a:schemeClr val="tx1"/>
                </a:solidFill>
              </a:rPr>
              <a:t>Esse tipo de gráfico permite:</a:t>
            </a:r>
          </a:p>
          <a:p>
            <a:pPr lvl="0" algn="just">
              <a:buNone/>
            </a:pPr>
            <a:endParaRPr lang="pt-BR" dirty="0">
              <a:solidFill>
                <a:schemeClr val="tx1"/>
              </a:solidFill>
            </a:endParaRPr>
          </a:p>
          <a:p>
            <a:pPr algn="just"/>
            <a:r>
              <a:rPr lang="pt-BR" dirty="0">
                <a:solidFill>
                  <a:schemeClr val="tx1"/>
                </a:solidFill>
              </a:rPr>
              <a:t>I</a:t>
            </a:r>
            <a:r>
              <a:rPr lang="pt-BR" dirty="0" smtClean="0">
                <a:solidFill>
                  <a:schemeClr val="tx1"/>
                </a:solidFill>
              </a:rPr>
              <a:t>dentificar </a:t>
            </a:r>
            <a:r>
              <a:rPr lang="pt-BR" dirty="0">
                <a:solidFill>
                  <a:schemeClr val="tx1"/>
                </a:solidFill>
              </a:rPr>
              <a:t>possíveis correlações </a:t>
            </a:r>
            <a:r>
              <a:rPr lang="pt-BR" dirty="0" err="1">
                <a:solidFill>
                  <a:schemeClr val="tx1"/>
                </a:solidFill>
              </a:rPr>
              <a:t>intraunidades</a:t>
            </a:r>
            <a:r>
              <a:rPr lang="pt-BR" dirty="0">
                <a:solidFill>
                  <a:schemeClr val="tx1"/>
                </a:solidFill>
              </a:rPr>
              <a:t> amostrais por meio da observação de perfis dispostos acima ou abaixo do perfil médio (</a:t>
            </a:r>
            <a:r>
              <a:rPr lang="pt-BR" dirty="0" err="1">
                <a:solidFill>
                  <a:schemeClr val="tx1"/>
                </a:solidFill>
              </a:rPr>
              <a:t>trilhamento</a:t>
            </a:r>
            <a:r>
              <a:rPr lang="pt-BR" dirty="0" smtClean="0">
                <a:solidFill>
                  <a:schemeClr val="tx1"/>
                </a:solidFill>
              </a:rPr>
              <a:t>);</a:t>
            </a:r>
          </a:p>
          <a:p>
            <a:pPr algn="just"/>
            <a:endParaRPr lang="pt-BR" dirty="0">
              <a:solidFill>
                <a:schemeClr val="tx1"/>
              </a:solidFill>
            </a:endParaRPr>
          </a:p>
          <a:p>
            <a:pPr algn="just"/>
            <a:r>
              <a:rPr lang="pt-BR" dirty="0">
                <a:solidFill>
                  <a:schemeClr val="tx1"/>
                </a:solidFill>
              </a:rPr>
              <a:t>I</a:t>
            </a:r>
            <a:r>
              <a:rPr lang="pt-BR" dirty="0" smtClean="0">
                <a:solidFill>
                  <a:schemeClr val="tx1"/>
                </a:solidFill>
              </a:rPr>
              <a:t>dentificar </a:t>
            </a:r>
            <a:r>
              <a:rPr lang="pt-BR" dirty="0">
                <a:solidFill>
                  <a:schemeClr val="tx1"/>
                </a:solidFill>
              </a:rPr>
              <a:t>uma possível </a:t>
            </a:r>
            <a:r>
              <a:rPr lang="pt-BR" dirty="0" err="1">
                <a:solidFill>
                  <a:schemeClr val="tx1"/>
                </a:solidFill>
              </a:rPr>
              <a:t>heterocedasticidade</a:t>
            </a:r>
            <a:r>
              <a:rPr lang="pt-BR" dirty="0">
                <a:solidFill>
                  <a:schemeClr val="tx1"/>
                </a:solidFill>
              </a:rPr>
              <a:t> por intermédio da observação de diferentes variabilidades da resposta ao longo do tempo</a:t>
            </a:r>
            <a:r>
              <a:rPr lang="pt-BR" dirty="0" smtClean="0">
                <a:solidFill>
                  <a:schemeClr val="tx1"/>
                </a:solidFill>
              </a:rPr>
              <a:t>;</a:t>
            </a:r>
          </a:p>
          <a:p>
            <a:pPr algn="just"/>
            <a:endParaRPr lang="pt-BR" dirty="0">
              <a:solidFill>
                <a:schemeClr val="tx1"/>
              </a:solidFill>
            </a:endParaRPr>
          </a:p>
          <a:p>
            <a:pPr algn="just"/>
            <a:r>
              <a:rPr lang="pt-BR" dirty="0" smtClean="0">
                <a:solidFill>
                  <a:schemeClr val="tx1"/>
                </a:solidFill>
              </a:rPr>
              <a:t>Sugerir </a:t>
            </a:r>
            <a:r>
              <a:rPr lang="pt-BR" dirty="0">
                <a:solidFill>
                  <a:schemeClr val="tx1"/>
                </a:solidFill>
              </a:rPr>
              <a:t>possíveis formas para a curva a ser adotada para explicar a variação do perfil médio ao longo do tempo</a:t>
            </a:r>
            <a:r>
              <a:rPr lang="pt-BR" dirty="0" smtClean="0">
                <a:solidFill>
                  <a:schemeClr val="tx1"/>
                </a:solidFill>
              </a:rPr>
              <a:t>;</a:t>
            </a:r>
          </a:p>
          <a:p>
            <a:pPr algn="just"/>
            <a:endParaRPr lang="pt-BR" dirty="0">
              <a:solidFill>
                <a:schemeClr val="tx1"/>
              </a:solidFill>
            </a:endParaRPr>
          </a:p>
          <a:p>
            <a:pPr algn="just"/>
            <a:r>
              <a:rPr lang="pt-BR" dirty="0" smtClean="0">
                <a:solidFill>
                  <a:schemeClr val="tx1"/>
                </a:solidFill>
              </a:rPr>
              <a:t>Comparar </a:t>
            </a:r>
            <a:r>
              <a:rPr lang="pt-BR" dirty="0">
                <a:solidFill>
                  <a:schemeClr val="tx1"/>
                </a:solidFill>
              </a:rPr>
              <a:t>as variabilidades </a:t>
            </a:r>
            <a:r>
              <a:rPr lang="pt-BR" dirty="0" err="1">
                <a:solidFill>
                  <a:schemeClr val="tx1"/>
                </a:solidFill>
              </a:rPr>
              <a:t>inter</a:t>
            </a:r>
            <a:r>
              <a:rPr lang="pt-BR" dirty="0">
                <a:solidFill>
                  <a:schemeClr val="tx1"/>
                </a:solidFill>
              </a:rPr>
              <a:t> e </a:t>
            </a:r>
            <a:r>
              <a:rPr lang="pt-BR" dirty="0" err="1">
                <a:solidFill>
                  <a:schemeClr val="tx1"/>
                </a:solidFill>
              </a:rPr>
              <a:t>intraunidades</a:t>
            </a:r>
            <a:r>
              <a:rPr lang="pt-BR" dirty="0">
                <a:solidFill>
                  <a:schemeClr val="tx1"/>
                </a:solidFill>
              </a:rPr>
              <a:t> amostrais</a:t>
            </a:r>
            <a:r>
              <a:rPr lang="pt-BR" dirty="0" smtClean="0">
                <a:solidFill>
                  <a:schemeClr val="tx1"/>
                </a:solidFill>
              </a:rPr>
              <a:t>;</a:t>
            </a:r>
          </a:p>
          <a:p>
            <a:pPr algn="just"/>
            <a:endParaRPr lang="pt-BR" dirty="0">
              <a:solidFill>
                <a:schemeClr val="tx1"/>
              </a:solidFill>
            </a:endParaRPr>
          </a:p>
          <a:p>
            <a:pPr algn="just"/>
            <a:r>
              <a:rPr lang="pt-BR" dirty="0" smtClean="0">
                <a:solidFill>
                  <a:schemeClr val="tx1"/>
                </a:solidFill>
              </a:rPr>
              <a:t>Identificar </a:t>
            </a:r>
            <a:r>
              <a:rPr lang="pt-BR" dirty="0">
                <a:solidFill>
                  <a:schemeClr val="tx1"/>
                </a:solidFill>
              </a:rPr>
              <a:t>unidades amostrais e/ou observações discrepantes (</a:t>
            </a:r>
            <a:r>
              <a:rPr lang="pt-BR" i="1" dirty="0" err="1">
                <a:solidFill>
                  <a:schemeClr val="tx1"/>
                </a:solidFill>
              </a:rPr>
              <a:t>outliers</a:t>
            </a:r>
            <a:r>
              <a:rPr lang="pt-BR" dirty="0">
                <a:solidFill>
                  <a:schemeClr val="tx1"/>
                </a:solidFill>
              </a:rPr>
              <a:t>).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42</a:t>
            </a:fld>
            <a:r>
              <a:rPr lang="pt-BR" dirty="0" smtClean="0"/>
              <a:t> / </a:t>
            </a:r>
            <a:r>
              <a:rPr lang="pt-BR" dirty="0" smtClean="0"/>
              <a:t>44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0389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65" y="476198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Observações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1700" y="1620980"/>
            <a:ext cx="8520600" cy="2698510"/>
          </a:xfrm>
        </p:spPr>
        <p:txBody>
          <a:bodyPr>
            <a:normAutofit/>
          </a:bodyPr>
          <a:lstStyle/>
          <a:p>
            <a:pPr lvl="0" algn="just"/>
            <a:r>
              <a:rPr lang="pt-BR" dirty="0">
                <a:solidFill>
                  <a:schemeClr val="tx1"/>
                </a:solidFill>
              </a:rPr>
              <a:t>Há situações em que o interesse recai não nos perfis de resposta mas </a:t>
            </a:r>
            <a:r>
              <a:rPr lang="pt-BR" dirty="0" smtClean="0">
                <a:solidFill>
                  <a:schemeClr val="tx1"/>
                </a:solidFill>
              </a:rPr>
              <a:t>em </a:t>
            </a:r>
            <a:r>
              <a:rPr lang="pt-BR" dirty="0">
                <a:solidFill>
                  <a:schemeClr val="tx1"/>
                </a:solidFill>
              </a:rPr>
              <a:t>alguma característica </a:t>
            </a:r>
            <a:r>
              <a:rPr lang="pt-BR" dirty="0" smtClean="0">
                <a:solidFill>
                  <a:schemeClr val="tx1"/>
                </a:solidFill>
              </a:rPr>
              <a:t>deles</a:t>
            </a:r>
            <a:r>
              <a:rPr lang="pt-BR" dirty="0" smtClean="0">
                <a:solidFill>
                  <a:schemeClr val="tx1"/>
                </a:solidFill>
              </a:rPr>
              <a:t>;</a:t>
            </a:r>
          </a:p>
          <a:p>
            <a:pPr lvl="0" algn="just"/>
            <a:endParaRPr lang="pt-BR" dirty="0">
              <a:solidFill>
                <a:schemeClr val="tx1"/>
              </a:solidFill>
            </a:endParaRPr>
          </a:p>
          <a:p>
            <a:pPr lvl="0"/>
            <a:endParaRPr lang="pt-BR" dirty="0">
              <a:solidFill>
                <a:schemeClr val="tx1"/>
              </a:solidFill>
            </a:endParaRPr>
          </a:p>
          <a:p>
            <a:pPr lvl="0" algn="just"/>
            <a:r>
              <a:rPr lang="pt-BR" dirty="0">
                <a:solidFill>
                  <a:schemeClr val="tx1"/>
                </a:solidFill>
              </a:rPr>
              <a:t>Por exemplo, a resposta de interesse pode ser obtida como uma função dos perfis individuais.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43</a:t>
            </a:fld>
            <a:r>
              <a:rPr lang="pt-BR" dirty="0" smtClean="0"/>
              <a:t> / </a:t>
            </a:r>
            <a:r>
              <a:rPr lang="pt-BR" dirty="0" smtClean="0"/>
              <a:t>44</a:t>
            </a:r>
            <a:endParaRPr lang="pt-BR" dirty="0"/>
          </a:p>
        </p:txBody>
      </p:sp>
      <p:sp>
        <p:nvSpPr>
          <p:cNvPr id="5" name="Google Shape;66;p14"/>
          <p:cNvSpPr txBox="1"/>
          <p:nvPr/>
        </p:nvSpPr>
        <p:spPr>
          <a:xfrm>
            <a:off x="76200" y="4820400"/>
            <a:ext cx="8109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</a:rPr>
              <a:t>Especialização em </a:t>
            </a:r>
            <a:r>
              <a:rPr lang="pt-BR" sz="900" i="1" dirty="0">
                <a:solidFill>
                  <a:schemeClr val="dk2"/>
                </a:solidFill>
              </a:rPr>
              <a:t>Data Science</a:t>
            </a:r>
            <a:r>
              <a:rPr lang="pt-BR" sz="900" dirty="0">
                <a:solidFill>
                  <a:schemeClr val="dk2"/>
                </a:solidFill>
              </a:rPr>
              <a:t> e Estatística Aplicada, UFG, </a:t>
            </a:r>
            <a:r>
              <a:rPr lang="pt-BR" sz="900" dirty="0" smtClean="0">
                <a:solidFill>
                  <a:schemeClr val="dk2"/>
                </a:solidFill>
              </a:rPr>
              <a:t>2025   </a:t>
            </a:r>
            <a:r>
              <a:rPr lang="pt-BR" sz="900" dirty="0">
                <a:solidFill>
                  <a:schemeClr val="dk2"/>
                </a:solidFill>
              </a:rPr>
              <a:t>-   Módulo </a:t>
            </a:r>
            <a:r>
              <a:rPr lang="pt-BR" sz="900" dirty="0" smtClean="0">
                <a:solidFill>
                  <a:schemeClr val="dk2"/>
                </a:solidFill>
              </a:rPr>
              <a:t>IV </a:t>
            </a:r>
            <a:r>
              <a:rPr lang="pt-BR" sz="900" dirty="0">
                <a:solidFill>
                  <a:schemeClr val="dk2"/>
                </a:solidFill>
              </a:rPr>
              <a:t>- </a:t>
            </a:r>
            <a:r>
              <a:rPr lang="pt-BR" sz="900" dirty="0" smtClean="0">
                <a:solidFill>
                  <a:schemeClr val="dk2"/>
                </a:solidFill>
              </a:rPr>
              <a:t> Análise de Dados Longitudinais -   Prof. Dr. Márcio </a:t>
            </a:r>
            <a:r>
              <a:rPr lang="pt-BR" sz="900" dirty="0" err="1" smtClean="0">
                <a:solidFill>
                  <a:schemeClr val="dk2"/>
                </a:solidFill>
              </a:rPr>
              <a:t>Luis</a:t>
            </a:r>
            <a:r>
              <a:rPr lang="pt-BR" sz="900" dirty="0" smtClean="0">
                <a:solidFill>
                  <a:schemeClr val="dk2"/>
                </a:solidFill>
              </a:rPr>
              <a:t> </a:t>
            </a:r>
            <a:r>
              <a:rPr lang="pt-BR" sz="900" dirty="0" err="1" smtClean="0">
                <a:solidFill>
                  <a:schemeClr val="dk2"/>
                </a:solidFill>
              </a:rPr>
              <a:t>Lanfredi</a:t>
            </a:r>
            <a:r>
              <a:rPr lang="pt-BR" sz="900" dirty="0" smtClean="0">
                <a:solidFill>
                  <a:schemeClr val="dk2"/>
                </a:solidFill>
              </a:rPr>
              <a:t> Viola</a:t>
            </a:r>
            <a:endParaRPr sz="9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0815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900" y="4367050"/>
            <a:ext cx="2285675" cy="65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 txBox="1">
            <a:spLocks noGrp="1"/>
          </p:cNvSpPr>
          <p:nvPr>
            <p:ph type="ctrTitle"/>
          </p:nvPr>
        </p:nvSpPr>
        <p:spPr>
          <a:xfrm>
            <a:off x="1220100" y="592175"/>
            <a:ext cx="6703800" cy="9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1"/>
              <a:t>Especialização em </a:t>
            </a:r>
            <a:r>
              <a:rPr lang="pt-BR" sz="2600" b="1" i="1"/>
              <a:t>Data Science</a:t>
            </a:r>
            <a:r>
              <a:rPr lang="pt-BR" sz="2600" b="1"/>
              <a:t> </a:t>
            </a:r>
            <a:endParaRPr sz="26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1"/>
              <a:t>e Estatística Aplicada</a:t>
            </a:r>
            <a:endParaRPr sz="2600" b="1"/>
          </a:p>
        </p:txBody>
      </p:sp>
      <p:sp>
        <p:nvSpPr>
          <p:cNvPr id="131" name="Google Shape;131;p20"/>
          <p:cNvSpPr txBox="1">
            <a:spLocks noGrp="1"/>
          </p:cNvSpPr>
          <p:nvPr>
            <p:ph type="subTitle" idx="1"/>
          </p:nvPr>
        </p:nvSpPr>
        <p:spPr>
          <a:xfrm>
            <a:off x="1461704" y="3019400"/>
            <a:ext cx="5056800" cy="5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 smtClean="0">
                <a:solidFill>
                  <a:schemeClr val="dk1"/>
                </a:solidFill>
              </a:rPr>
              <a:t>Prof. Dr. Márcio </a:t>
            </a:r>
            <a:r>
              <a:rPr lang="pt-BR" sz="1800" b="1" dirty="0" err="1" smtClean="0">
                <a:solidFill>
                  <a:schemeClr val="dk1"/>
                </a:solidFill>
              </a:rPr>
              <a:t>Luis</a:t>
            </a:r>
            <a:r>
              <a:rPr lang="pt-BR" sz="1800" b="1" dirty="0" smtClean="0">
                <a:solidFill>
                  <a:schemeClr val="dk1"/>
                </a:solidFill>
              </a:rPr>
              <a:t> </a:t>
            </a:r>
            <a:r>
              <a:rPr lang="pt-BR" sz="1800" b="1" dirty="0" err="1" smtClean="0">
                <a:solidFill>
                  <a:schemeClr val="dk1"/>
                </a:solidFill>
              </a:rPr>
              <a:t>Lanfredi</a:t>
            </a:r>
            <a:r>
              <a:rPr lang="pt-BR" sz="1800" b="1" dirty="0" smtClean="0">
                <a:solidFill>
                  <a:schemeClr val="dk1"/>
                </a:solidFill>
              </a:rPr>
              <a:t> Viola</a:t>
            </a:r>
            <a:endParaRPr sz="1800" b="1" dirty="0">
              <a:solidFill>
                <a:schemeClr val="dk1"/>
              </a:solidFill>
            </a:endParaRPr>
          </a:p>
        </p:txBody>
      </p:sp>
      <p:sp>
        <p:nvSpPr>
          <p:cNvPr id="133" name="Google Shape;133;p20"/>
          <p:cNvSpPr txBox="1">
            <a:spLocks noGrp="1"/>
          </p:cNvSpPr>
          <p:nvPr>
            <p:ph type="subTitle" idx="1"/>
          </p:nvPr>
        </p:nvSpPr>
        <p:spPr>
          <a:xfrm>
            <a:off x="1648742" y="3350325"/>
            <a:ext cx="5056800" cy="5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chemeClr val="dk1"/>
                </a:solidFill>
              </a:rPr>
              <a:t>lanfredi@ufscar.br</a:t>
            </a:r>
            <a:endParaRPr sz="1600" b="1" dirty="0">
              <a:solidFill>
                <a:schemeClr val="dk1"/>
              </a:solidFill>
            </a:endParaRPr>
          </a:p>
        </p:txBody>
      </p:sp>
      <p:sp>
        <p:nvSpPr>
          <p:cNvPr id="8" name="Google Shape;57;p13"/>
          <p:cNvSpPr txBox="1">
            <a:spLocks/>
          </p:cNvSpPr>
          <p:nvPr/>
        </p:nvSpPr>
        <p:spPr>
          <a:xfrm>
            <a:off x="565467" y="1687724"/>
            <a:ext cx="6703800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2200" b="1" smtClean="0"/>
              <a:t>Módulo IV – Análise de Dados Longitudinais</a:t>
            </a:r>
            <a:endParaRPr lang="pt-BR" sz="2200" b="1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3267</Words>
  <Application>Microsoft Office PowerPoint</Application>
  <PresentationFormat>Apresentação na tela (16:9)</PresentationFormat>
  <Paragraphs>239</Paragraphs>
  <Slides>44</Slides>
  <Notes>7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44</vt:i4>
      </vt:variant>
    </vt:vector>
  </HeadingPairs>
  <TitlesOfParts>
    <vt:vector size="45" baseType="lpstr">
      <vt:lpstr>Simple Light</vt:lpstr>
      <vt:lpstr>Especialização em Data Science  e Estatística Aplicada</vt:lpstr>
      <vt:lpstr>Conteúdo Programático</vt:lpstr>
      <vt:lpstr>Conteúdo - Aula 1</vt:lpstr>
      <vt:lpstr>Objetivo</vt:lpstr>
      <vt:lpstr>Observação</vt:lpstr>
      <vt:lpstr>Apresentação do PowerPoint</vt:lpstr>
      <vt:lpstr>Abordagem 1</vt:lpstr>
      <vt:lpstr>Abordagem 2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Observações</vt:lpstr>
      <vt:lpstr>Apresentação do PowerPoint</vt:lpstr>
      <vt:lpstr>Perfil Individual de Resposta</vt:lpstr>
      <vt:lpstr>Apresentação do PowerPoint</vt:lpstr>
      <vt:lpstr>Apresentação do PowerPoint</vt:lpstr>
      <vt:lpstr>Exemplo 1</vt:lpstr>
      <vt:lpstr>Observação</vt:lpstr>
      <vt:lpstr>Apresentação do PowerPoint</vt:lpstr>
      <vt:lpstr>Apresentação do PowerPoint</vt:lpstr>
      <vt:lpstr>Apresentação do PowerPoint</vt:lpstr>
      <vt:lpstr>Exemplo 2</vt:lpstr>
      <vt:lpstr>Exemplo 3</vt:lpstr>
      <vt:lpstr>Apresentação do PowerPoint</vt:lpstr>
      <vt:lpstr>Apresentação do PowerPoint</vt:lpstr>
      <vt:lpstr>Apresentação do PowerPoint</vt:lpstr>
      <vt:lpstr>Exemplo 4</vt:lpstr>
      <vt:lpstr>Apresentação do PowerPoint</vt:lpstr>
      <vt:lpstr>Apresentação do PowerPoint</vt:lpstr>
      <vt:lpstr>Exemplo 5</vt:lpstr>
      <vt:lpstr>Apresentação do PowerPoint</vt:lpstr>
      <vt:lpstr>Apresentação do PowerPoint</vt:lpstr>
      <vt:lpstr>Apresentação do PowerPoint</vt:lpstr>
      <vt:lpstr>Análise descritiva e medidas resumo</vt:lpstr>
      <vt:lpstr>Apresentação do PowerPoint</vt:lpstr>
      <vt:lpstr>Apresentação do PowerPoint</vt:lpstr>
      <vt:lpstr>Gráficos de perfis (individuais)</vt:lpstr>
      <vt:lpstr>Apresentação do PowerPoint</vt:lpstr>
      <vt:lpstr>Gráficos de perfis (individuais)</vt:lpstr>
      <vt:lpstr>Observações</vt:lpstr>
      <vt:lpstr>Especialização em Data Science  e Estatística Aplicada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Especialização em Data Science  e Estatística Aplicada</dc:title>
  <cp:lastModifiedBy>Marcio</cp:lastModifiedBy>
  <cp:revision>25</cp:revision>
  <dcterms:modified xsi:type="dcterms:W3CDTF">2025-07-02T07:36:53Z</dcterms:modified>
</cp:coreProperties>
</file>